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0"/>
  </p:handoutMasterIdLst>
  <p:sldIdLst>
    <p:sldId id="2104" r:id="rId3"/>
    <p:sldId id="2773" r:id="rId5"/>
    <p:sldId id="2875" r:id="rId6"/>
    <p:sldId id="2819" r:id="rId7"/>
    <p:sldId id="2841" r:id="rId8"/>
    <p:sldId id="2876" r:id="rId9"/>
    <p:sldId id="2864" r:id="rId10"/>
    <p:sldId id="2877" r:id="rId11"/>
    <p:sldId id="2821" r:id="rId12"/>
    <p:sldId id="2842" r:id="rId13"/>
    <p:sldId id="2878" r:id="rId14"/>
    <p:sldId id="2846" r:id="rId15"/>
    <p:sldId id="2895" r:id="rId16"/>
    <p:sldId id="2790" r:id="rId17"/>
    <p:sldId id="2897" r:id="rId18"/>
    <p:sldId id="2858" r:id="rId19"/>
    <p:sldId id="2907" r:id="rId20"/>
    <p:sldId id="2810" r:id="rId21"/>
    <p:sldId id="2879" r:id="rId22"/>
    <p:sldId id="2880" r:id="rId23"/>
    <p:sldId id="2894" r:id="rId24"/>
    <p:sldId id="2857" r:id="rId25"/>
    <p:sldId id="2908" r:id="rId26"/>
    <p:sldId id="2804" r:id="rId27"/>
    <p:sldId id="2817" r:id="rId28"/>
    <p:sldId id="2764" r:id="rId29"/>
  </p:sldIdLst>
  <p:sldSz cx="12192000" cy="6858000"/>
  <p:notesSz cx="6797675" cy="9928225"/>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0CA467ED-3635-4436-95D6-3EE039873C16}">
          <p14:sldIdLst>
            <p14:sldId id="2104"/>
            <p14:sldId id="2773"/>
          </p14:sldIdLst>
        </p14:section>
        <p14:section name="论文选题介绍" id="{15754D15-4332-4121-8B00-3902D17DF8E7}">
          <p14:sldIdLst>
            <p14:sldId id="2875"/>
            <p14:sldId id="2819"/>
            <p14:sldId id="2841"/>
            <p14:sldId id="2876"/>
            <p14:sldId id="2864"/>
            <p14:sldId id="2877"/>
            <p14:sldId id="2821"/>
            <p14:sldId id="2842"/>
            <p14:sldId id="2878"/>
          </p14:sldIdLst>
        </p14:section>
        <p14:section name="总体工作进展" id="{DB4AD447-3AD8-413E-B009-74BB3AA15A1D}">
          <p14:sldIdLst>
            <p14:sldId id="2846"/>
            <p14:sldId id="2895"/>
            <p14:sldId id="2790"/>
            <p14:sldId id="2897"/>
          </p14:sldIdLst>
        </p14:section>
        <p14:section name="主要研究成果" id="{878BEB37-83F3-4748-AE9B-DB9E7CC04088}">
          <p14:sldIdLst>
            <p14:sldId id="2858"/>
            <p14:sldId id="2907"/>
            <p14:sldId id="2810"/>
            <p14:sldId id="2879"/>
            <p14:sldId id="2880"/>
            <p14:sldId id="2894"/>
          </p14:sldIdLst>
        </p14:section>
        <p14:section name="尚存待改问题" id="{0EA937C4-0437-43CD-973F-5503615A4A02}">
          <p14:sldIdLst>
            <p14:sldId id="2857"/>
            <p14:sldId id="2908"/>
            <p14:sldId id="2804"/>
          </p14:sldIdLst>
        </p14:section>
        <p14:section name="参考文献" id="{2948D8D7-1F73-4D9C-A125-B4A02439C1BA}">
          <p14:sldIdLst>
            <p14:sldId id="2817"/>
            <p14:sldId id="2764"/>
          </p14:sldIdLst>
        </p14:section>
      </p14:sectionLst>
    </p:ext>
    <p:ext uri="{EFAFB233-063F-42B5-8137-9DF3F51BA10A}">
      <p15:sldGuideLst xmlns:p15="http://schemas.microsoft.com/office/powerpoint/2012/main">
        <p15:guide id="1" orient="horz" pos="217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子琪 杨" initials="子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517C"/>
    <a:srgbClr val="183884"/>
    <a:srgbClr val="145396"/>
    <a:srgbClr val="F2B800"/>
    <a:srgbClr val="FF2121"/>
    <a:srgbClr val="D2DEEF"/>
    <a:srgbClr val="EAEFF7"/>
    <a:srgbClr val="00B0F0"/>
    <a:srgbClr val="F2F2F2"/>
    <a:srgbClr val="A6CD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42" autoAdjust="0"/>
    <p:restoredTop sz="95358" autoAdjust="0"/>
  </p:normalViewPr>
  <p:slideViewPr>
    <p:cSldViewPr snapToGrid="0" showGuides="1">
      <p:cViewPr varScale="1">
        <p:scale>
          <a:sx n="122" d="100"/>
          <a:sy n="122" d="100"/>
        </p:scale>
        <p:origin x="216" y="432"/>
      </p:cViewPr>
      <p:guideLst>
        <p:guide orient="horz" pos="2179"/>
        <p:guide pos="3840"/>
      </p:guideLst>
    </p:cSldViewPr>
  </p:slideViewPr>
  <p:notesTextViewPr>
    <p:cViewPr>
      <p:scale>
        <a:sx n="3" d="2"/>
        <a:sy n="3" d="2"/>
      </p:scale>
      <p:origin x="0" y="0"/>
    </p:cViewPr>
  </p:notesTextViewPr>
  <p:sorterViewPr>
    <p:cViewPr>
      <p:scale>
        <a:sx n="100" d="100"/>
        <a:sy n="100" d="100"/>
      </p:scale>
      <p:origin x="0" y="-783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57.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latin typeface="Times New Roman" panose="02020603050405020304" pitchFamily="18" charset="0"/>
              <a:ea typeface="微软雅黑" panose="020B0503020204020204" pitchFamily="34" charset="-122"/>
            </a:endParaRPr>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C601AA7F-3044-438C-8B03-54D0453B54BE}" type="datetimeFigureOut">
              <a:rPr lang="zh-CN" altLang="en-US" smtClean="0">
                <a:latin typeface="Times New Roman" panose="02020603050405020304" pitchFamily="18" charset="0"/>
                <a:ea typeface="微软雅黑" panose="020B0503020204020204" pitchFamily="34" charset="-122"/>
              </a:rPr>
            </a:fld>
            <a:endParaRPr lang="zh-CN" altLang="en-US">
              <a:latin typeface="Times New Roman" panose="02020603050405020304" pitchFamily="18" charset="0"/>
              <a:ea typeface="微软雅黑" panose="020B0503020204020204" pitchFamily="34" charset="-122"/>
            </a:endParaRPr>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latin typeface="Times New Roman" panose="02020603050405020304" pitchFamily="18" charset="0"/>
              <a:ea typeface="微软雅黑" panose="020B0503020204020204" pitchFamily="34" charset="-122"/>
            </a:endParaRPr>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855D26D2-B6DD-4384-AEA6-8068C7DC6915}" type="slidenum">
              <a:rPr lang="zh-CN" altLang="en-US" smtClean="0">
                <a:latin typeface="Times New Roman" panose="02020603050405020304" pitchFamily="18" charset="0"/>
                <a:ea typeface="微软雅黑" panose="020B0503020204020204" pitchFamily="34" charset="-122"/>
              </a:rPr>
            </a:fld>
            <a:endParaRPr lang="zh-CN" altLang="en-US">
              <a:latin typeface="Times New Roman" panose="02020603050405020304" pitchFamily="18" charset="0"/>
              <a:ea typeface="微软雅黑" panose="020B0503020204020204" pitchFamily="34" charset="-122"/>
            </a:endParaRPr>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9383A1F4-B63D-4184-A89D-2E46A94932A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3331A36F-42B4-4698-A17E-BC46F3BF5DD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基于</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一个很常见的例子就是，我们在生成图像通常需要很多次更改，每次都觉得细节和自己脑海中的不一样</a:t>
            </a:r>
            <a:endParaRPr lang="zh-CN" altLang="en-US"/>
          </a:p>
          <a:p>
            <a:endParaRPr lang="zh-CN" altLang="en-US"/>
          </a:p>
          <a:p>
            <a:r>
              <a:rPr lang="zh-CN" altLang="en-US"/>
              <a:t>我们语言很难一次性描述清楚，只能一遍一遍往上增加细节</a:t>
            </a:r>
            <a:endParaRPr lang="en-US" altLang="zh-CN"/>
          </a:p>
          <a:p>
            <a:endParaRPr lang="en-US" altLang="zh-CN"/>
          </a:p>
          <a:p>
            <a:r>
              <a:rPr lang="en-US" altLang="zh-CN"/>
              <a:t>“</a:t>
            </a:r>
            <a:r>
              <a:rPr lang="zh-CN" altLang="en-US"/>
              <a:t>想象一下，您想将照片中的宠物猫</a:t>
            </a:r>
            <a:r>
              <a:rPr lang="en-US" altLang="zh-CN"/>
              <a:t>P</a:t>
            </a:r>
            <a:r>
              <a:rPr lang="zh-CN" altLang="en-US"/>
              <a:t>成一只具有特定斑纹、眼神和姿态的老虎，或者想将自己设计的独特玩偶融入一张照片中</a:t>
            </a:r>
            <a:r>
              <a:rPr lang="en-US" altLang="zh-CN"/>
              <a:t>——</a:t>
            </a:r>
            <a:r>
              <a:rPr lang="zh-CN" altLang="en-US"/>
              <a:t>这些高度个性化的需求，仅靠几句文字描述是远远不够的。</a:t>
            </a:r>
            <a:r>
              <a:rPr lang="en-US" altLang="zh-CN"/>
              <a:t>”</a:t>
            </a:r>
            <a:endParaRPr lang="en-US" altLang="zh-CN"/>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预期输入</a:t>
            </a:r>
            <a:r>
              <a:rPr lang="zh-CN" altLang="en-US" dirty="0"/>
              <a:t>输出</a:t>
            </a:r>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TODO: P2</a:t>
            </a:r>
            <a:r>
              <a:rPr lang="zh-CN" altLang="en-US" dirty="0"/>
              <a:t>排版</a:t>
            </a:r>
            <a:r>
              <a:rPr lang="zh-CN" altLang="en-US" dirty="0"/>
              <a:t>修改</a:t>
            </a:r>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5A52B6F-99CE-4EFD-B27F-0E84E5832C71}" type="slidenum">
              <a:rPr lang="zh-CN" altLang="en-US" smtClean="0">
                <a:solidFill>
                  <a:prstClr val="black"/>
                </a:solidFill>
                <a:latin typeface="Times New Roman" panose="02020603050405020304" pitchFamily="18" charset="0"/>
                <a:ea typeface="微软雅黑" panose="020B0503020204020204" pitchFamily="34" charset="-122"/>
              </a:rPr>
            </a:fld>
            <a:endParaRPr lang="zh-CN" altLang="en-US">
              <a:solidFill>
                <a:prstClr val="black"/>
              </a:solidFill>
              <a:latin typeface="Times New Roman" panose="02020603050405020304" pitchFamily="18" charset="0"/>
              <a:ea typeface="微软雅黑" panose="020B0503020204020204" pitchFamily="34"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EFB52FF3-46D7-418A-B6FB-9F5E23702DBE}" type="slidenum">
              <a:rPr lang="zh-CN" altLang="en-US"/>
            </a:fld>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矩形 2"/>
          <p:cNvSpPr/>
          <p:nvPr userDrawn="1"/>
        </p:nvSpPr>
        <p:spPr>
          <a:xfrm>
            <a:off x="0" y="957263"/>
            <a:ext cx="3403600" cy="107950"/>
          </a:xfrm>
          <a:prstGeom prst="rect">
            <a:avLst/>
          </a:prstGeom>
          <a:solidFill>
            <a:srgbClr val="145396"/>
          </a:solidFill>
          <a:ln>
            <a:solidFill>
              <a:srgbClr val="14539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cxnSp>
        <p:nvCxnSpPr>
          <p:cNvPr id="4" name="直接连接符 3"/>
          <p:cNvCxnSpPr/>
          <p:nvPr userDrawn="1"/>
        </p:nvCxnSpPr>
        <p:spPr>
          <a:xfrm>
            <a:off x="3360738" y="1008063"/>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463137" y="174094"/>
            <a:ext cx="10187929" cy="736490"/>
          </a:xfrm>
        </p:spPr>
        <p:txBody>
          <a:bodyPr>
            <a:normAutofit/>
          </a:bodyPr>
          <a:lstStyle>
            <a:lvl1pPr>
              <a:defRPr sz="4000" b="1"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0" name="TextBox 9"/>
          <p:cNvSpPr txBox="1"/>
          <p:nvPr userDrawn="1"/>
        </p:nvSpPr>
        <p:spPr>
          <a:xfrm>
            <a:off x="890649" y="1543792"/>
            <a:ext cx="10569039" cy="369332"/>
          </a:xfrm>
          <a:prstGeom prst="rect">
            <a:avLst/>
          </a:prstGeom>
          <a:noFill/>
        </p:spPr>
        <p:txBody>
          <a:bodyPr wrap="square" rtlCol="0">
            <a:spAutoFit/>
          </a:bodyPr>
          <a:lstStyle/>
          <a:p>
            <a:pPr eaLnBrk="0" fontAlgn="base" hangingPunct="0">
              <a:spcBef>
                <a:spcPct val="0"/>
              </a:spcBef>
              <a:spcAft>
                <a:spcPct val="0"/>
              </a:spcAft>
            </a:pPr>
            <a:endParaRPr lang="zh-CN" altLang="en-US" dirty="0">
              <a:solidFill>
                <a:prstClr val="black"/>
              </a:solidFill>
              <a:ea typeface="微软雅黑" panose="020B0503020204020204" pitchFamily="34" charset="-122"/>
            </a:endParaRPr>
          </a:p>
        </p:txBody>
      </p:sp>
      <p:sp>
        <p:nvSpPr>
          <p:cNvPr id="13" name="文本占位符 2"/>
          <p:cNvSpPr>
            <a:spLocks noGrp="1"/>
          </p:cNvSpPr>
          <p:nvPr>
            <p:ph idx="1"/>
          </p:nvPr>
        </p:nvSpPr>
        <p:spPr bwMode="auto">
          <a:xfrm>
            <a:off x="838200" y="1318161"/>
            <a:ext cx="10515600" cy="4667003"/>
          </a:xfrm>
          <a:prstGeom prst="rect">
            <a:avLst/>
          </a:prstGeom>
          <a:noFill/>
          <a:ln>
            <a:noFill/>
          </a:ln>
        </p:spPr>
        <p:txBody>
          <a:bodyPr vert="horz" wrap="square" lIns="91440" tIns="45720" rIns="91440" bIns="45720" numCol="1" anchor="t" anchorCtr="0" compatLnSpc="1"/>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a:latin typeface="Times New Roman" panose="02020603050405020304" pitchFamily="18" charset="0"/>
                <a:ea typeface="微软雅黑" panose="020B0503020204020204" pitchFamily="3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a:latin typeface="Times New Roman" panose="02020603050405020304" pitchFamily="18" charset="0"/>
                <a:ea typeface="微软雅黑" panose="020B0503020204020204" pitchFamily="3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a:latin typeface="Times New Roman" panose="02020603050405020304" pitchFamily="18" charset="0"/>
                <a:ea typeface="微软雅黑" panose="020B0503020204020204" pitchFamily="3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latin typeface="Times New Roman" panose="02020603050405020304" pitchFamily="18" charset="0"/>
                <a:ea typeface="微软雅黑" panose="020B0503020204020204" pitchFamily="3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latin typeface="Times New Roman" panose="02020603050405020304" pitchFamily="18" charset="0"/>
                <a:ea typeface="微软雅黑" panose="020B0503020204020204" pitchFamily="34" charset="-122"/>
                <a:cs typeface="Times New Roman" panose="02020603050405020304" pitchFamily="18" charset="0"/>
              </a:defRPr>
            </a:lvl5pPr>
          </a:lstStyle>
          <a:p>
            <a:pPr marL="342900" marR="0" lvl="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a:pPr>
            <a:r>
              <a:rPr kumimoji="1" lang="zh-CN" altLang="en-US" sz="36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单击此处编辑母版文本样式</a:t>
            </a:r>
            <a:endParaRPr kumimoji="1" lang="zh-CN" altLang="en-US" sz="36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742950" marR="0" lvl="1"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a:pPr>
            <a:r>
              <a:rPr kumimoji="1" lang="zh-CN" altLang="en-US" sz="32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第二级</a:t>
            </a:r>
            <a:endParaRPr kumimoji="1" lang="zh-CN" altLang="en-US" sz="32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1143000" marR="0" lvl="2" indent="-228600" algn="l" defTabSz="914400" rtl="0" eaLnBrk="0" fontAlgn="base" latinLnBrk="0" hangingPunct="0">
              <a:lnSpc>
                <a:spcPct val="110000"/>
              </a:lnSpc>
              <a:spcBef>
                <a:spcPts val="600"/>
              </a:spcBef>
              <a:spcAft>
                <a:spcPct val="0"/>
              </a:spcAft>
              <a:buClr>
                <a:srgbClr val="0000CC"/>
              </a:buClr>
              <a:buSzTx/>
              <a:buFontTx/>
              <a:buChar char="•"/>
              <a:defRPr/>
            </a:pPr>
            <a:r>
              <a:rPr kumimoji="1" lang="zh-CN" altLang="en-US" sz="28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第三级</a:t>
            </a:r>
            <a:endParaRPr kumimoji="1" lang="zh-CN" altLang="en-US" sz="28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1600200" marR="0" lvl="3"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pPr>
            <a:r>
              <a:rPr kumimoji="1" lang="zh-CN" altLang="en-US" sz="24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第四级</a:t>
            </a:r>
            <a:endParaRPr kumimoji="1" lang="zh-CN" altLang="en-US" sz="24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2057400" marR="0" lvl="4"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第五级</a:t>
            </a:r>
            <a:endParaRPr kumimoji="1" lang="zh-CN" altLang="en-US" sz="20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p:txBody>
      </p:sp>
      <p:pic>
        <p:nvPicPr>
          <p:cNvPr id="9" name="图片 8" descr="C:\Users\len\Desktop\7-140129231040534.png"/>
          <p:cNvPicPr/>
          <p:nvPr userDrawn="1"/>
        </p:nvPicPr>
        <p:blipFill rotWithShape="1">
          <a:blip r:embed="rId2" cstate="email"/>
          <a:srcRect/>
          <a:stretch>
            <a:fillRect/>
          </a:stretch>
        </p:blipFill>
        <p:spPr bwMode="auto">
          <a:xfrm>
            <a:off x="9747838" y="6362638"/>
            <a:ext cx="2222475" cy="458828"/>
          </a:xfrm>
          <a:prstGeom prst="rect">
            <a:avLst/>
          </a:prstGeom>
          <a:noFill/>
          <a:ln>
            <a:noFill/>
          </a:ln>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2F3787FB-CA10-4AF5-BF0B-94849B09B066}" type="slidenum">
              <a:rPr lang="zh-CN" altLang="en-US"/>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a:defRPr/>
            </a:pPr>
            <a:fld id="{4883093C-1A27-4119-942E-E0EF3DB56BF3}" type="slidenum">
              <a:rPr lang="zh-CN" altLang="en-US"/>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a:defRPr/>
            </a:pPr>
            <a:fld id="{D2CC2F7C-2519-441F-953F-DCAD10EF44A1}" type="slidenum">
              <a:rPr lang="zh-CN" altLang="en-US"/>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1DE9026B-6DAF-4557-965D-1B383A60BDCB}" type="slidenum">
              <a:rPr lang="zh-CN" altLang="en-US"/>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2499740C-F9E2-47E7-A120-963DCF03B08C}" type="slidenum">
              <a:rPr lang="zh-CN" altLang="en-US"/>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F77C96ED-EB11-4802-8DEC-E0EACFA74771}" type="slidenum">
              <a:rPr lang="zh-CN" altLang="en-US"/>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a:defRPr/>
            </a:pPr>
            <a:fld id="{986F085E-1B69-42DD-8842-86297965624B}" type="slidenum">
              <a:rPr lang="zh-CN" altLang="en-US"/>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atin typeface="Times New Roman" panose="02020603050405020304" pitchFamily="18" charset="0"/>
                <a:ea typeface="黑体" panose="02010609060101010101" pitchFamily="2" charset="-122"/>
                <a:cs typeface="Times New Roman" panose="02020603050405020304" pitchFamily="18" charset="0"/>
              </a:defRPr>
            </a:lvl1pPr>
          </a:lstStyle>
          <a:p>
            <a:r>
              <a:rPr lang="zh-CN" altLang="en-US" dirty="0"/>
              <a:t>单击此处编辑母版标题样式</a:t>
            </a:r>
            <a:endParaRPr lang="zh-CN" altLang="en-US" dirty="0"/>
          </a:p>
        </p:txBody>
      </p:sp>
      <p:sp>
        <p:nvSpPr>
          <p:cNvPr id="6" name="内容占位符 2"/>
          <p:cNvSpPr>
            <a:spLocks noGrp="1"/>
          </p:cNvSpPr>
          <p:nvPr>
            <p:ph idx="1"/>
          </p:nvPr>
        </p:nvSpPr>
        <p:spPr>
          <a:xfrm>
            <a:off x="334434" y="1268414"/>
            <a:ext cx="11523133" cy="5184775"/>
          </a:xfrm>
          <a:prstGeom prst="rect">
            <a:avLst/>
          </a:prstGeom>
        </p:spPr>
        <p:txBody>
          <a:bodyPr/>
          <a:lstStyle>
            <a:lvl1pPr>
              <a:spcBef>
                <a:spcPts val="600"/>
              </a:spcBef>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1pPr>
            <a:lvl2pPr marL="998855" indent="-368300" algn="l" defTabSz="1057275" rtl="0" eaLnBrk="0" fontAlgn="base" hangingPunct="0">
              <a:spcBef>
                <a:spcPts val="600"/>
              </a:spcBef>
              <a:spcAft>
                <a:spcPts val="0"/>
              </a:spcAft>
              <a:buClr>
                <a:srgbClr val="3670D1"/>
              </a:buClr>
              <a:buSzPct val="80000"/>
              <a:buFont typeface="Wingdings" panose="05000000000000000000" pitchFamily="2" charset="2"/>
              <a:buChar char="q"/>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2pPr>
            <a:lvl3pPr marL="1259205" indent="-81280" algn="l" defTabSz="1057275" rtl="0" eaLnBrk="0" fontAlgn="base" hangingPunct="0">
              <a:spcBef>
                <a:spcPct val="0"/>
              </a:spcBef>
              <a:spcAft>
                <a:spcPct val="0"/>
              </a:spcAft>
              <a:buClr>
                <a:srgbClr val="3670D1"/>
              </a:buClr>
              <a:buFont typeface="Wingdings 2" panose="05020102010507070707" pitchFamily="18" charset="2"/>
              <a:buChar char="¡"/>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3pPr>
            <a:lvl4pPr>
              <a:defRPr>
                <a:latin typeface="黑体" panose="02010609060101010101" pitchFamily="2" charset="-122"/>
                <a:ea typeface="黑体" panose="02010609060101010101" pitchFamily="2" charset="-122"/>
              </a:defRPr>
            </a:lvl4pPr>
            <a:lvl5pPr>
              <a:defRPr>
                <a:latin typeface="黑体" panose="02010609060101010101" pitchFamily="2" charset="-122"/>
                <a:ea typeface="黑体" panose="0201060906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日期占位符 3"/>
          <p:cNvSpPr>
            <a:spLocks noGrp="1"/>
          </p:cNvSpPr>
          <p:nvPr>
            <p:ph type="dt" sz="half" idx="10"/>
          </p:nvPr>
        </p:nvSpPr>
        <p:spPr>
          <a:xfrm>
            <a:off x="8035640" y="6492449"/>
            <a:ext cx="2290617" cy="374074"/>
          </a:xfrm>
          <a:prstGeom prst="rect">
            <a:avLst/>
          </a:prstGeom>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245225"/>
            <a:ext cx="3860800" cy="476250"/>
          </a:xfrm>
          <a:prstGeom prst="rect">
            <a:avLst/>
          </a:prstGeom>
        </p:spPr>
        <p:txBody>
          <a:bodyPr/>
          <a:lstStyle>
            <a:lvl1pPr>
              <a:defRPr/>
            </a:lvl1pPr>
          </a:lstStyle>
          <a:p>
            <a:pPr>
              <a:defRPr/>
            </a:pPr>
            <a:endParaRPr lang="zh-CN" alt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88A51967-2D8B-40D3-B5B9-9AAB73B256E5}" type="slidenum">
              <a:rPr lang="zh-CN" altLang="en-US"/>
            </a:fld>
            <a:endParaRPr lang="zh-CN" altLang="en-US"/>
          </a:p>
        </p:txBody>
      </p:sp>
      <p:sp>
        <p:nvSpPr>
          <p:cNvPr id="8" name="矩形 7"/>
          <p:cNvSpPr/>
          <p:nvPr userDrawn="1"/>
        </p:nvSpPr>
        <p:spPr>
          <a:xfrm>
            <a:off x="0" y="957263"/>
            <a:ext cx="3403600" cy="107950"/>
          </a:xfrm>
          <a:prstGeom prst="rect">
            <a:avLst/>
          </a:prstGeom>
          <a:solidFill>
            <a:srgbClr val="0728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334434" y="44450"/>
            <a:ext cx="11523133" cy="1143000"/>
          </a:xfrm>
        </p:spPr>
        <p:txBody>
          <a:bodyPr/>
          <a:lstStyle>
            <a:lvl1pPr>
              <a:defRPr/>
            </a:lvl1pPr>
          </a:lstStyle>
          <a:p>
            <a:r>
              <a:rPr lang="zh-CN" altLang="en-US"/>
              <a:t>单击此处编辑母版标题样式</a:t>
            </a:r>
            <a:endParaRPr lang="zh-CN" altLang="en-US" dirty="0"/>
          </a:p>
        </p:txBody>
      </p:sp>
      <p:sp>
        <p:nvSpPr>
          <p:cNvPr id="3" name="矩形 2"/>
          <p:cNvSpPr/>
          <p:nvPr userDrawn="1"/>
        </p:nvSpPr>
        <p:spPr>
          <a:xfrm>
            <a:off x="0" y="957263"/>
            <a:ext cx="3403600" cy="107950"/>
          </a:xfrm>
          <a:prstGeom prst="rect">
            <a:avLst/>
          </a:prstGeom>
          <a:solidFill>
            <a:srgbClr val="0728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66233" y="76200"/>
            <a:ext cx="10668000" cy="9144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755651" y="1371600"/>
            <a:ext cx="10668000" cy="4648200"/>
          </a:xfrm>
        </p:spPr>
        <p:txBody>
          <a:bodyPr/>
          <a:lstStyle/>
          <a:p>
            <a:pPr lvl="0"/>
            <a:endParaRPr lang="zh-CN" altLang="en-US" noProof="0"/>
          </a:p>
        </p:txBody>
      </p:sp>
      <p:sp>
        <p:nvSpPr>
          <p:cNvPr id="4" name="Rectangle 6"/>
          <p:cNvSpPr>
            <a:spLocks noGrp="1" noChangeArrowheads="1"/>
          </p:cNvSpPr>
          <p:nvPr>
            <p:ph type="dt" sz="half" idx="10"/>
          </p:nvPr>
        </p:nvSpPr>
        <p:spPr/>
        <p:txBody>
          <a:bodyPr/>
          <a:lstStyle>
            <a:lvl1pPr>
              <a:defRPr/>
            </a:lvl1pPr>
          </a:lstStyle>
          <a:p>
            <a:pPr>
              <a:defRPr/>
            </a:pPr>
            <a:endParaRPr lang="en-US" altLang="zh-CN">
              <a:solidFill>
                <a:prstClr val="black">
                  <a:tint val="75000"/>
                </a:prstClr>
              </a:solidFill>
            </a:endParaRPr>
          </a:p>
        </p:txBody>
      </p:sp>
      <p:sp>
        <p:nvSpPr>
          <p:cNvPr id="5" name="Rectangle 7"/>
          <p:cNvSpPr>
            <a:spLocks noGrp="1" noChangeArrowheads="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Rectangle 8"/>
          <p:cNvSpPr>
            <a:spLocks noGrp="1" noChangeArrowheads="1"/>
          </p:cNvSpPr>
          <p:nvPr>
            <p:ph type="sldNum" sz="quarter" idx="12"/>
          </p:nvPr>
        </p:nvSpPr>
        <p:spPr/>
        <p:txBody>
          <a:bodyPr/>
          <a:lstStyle>
            <a:lvl1pPr>
              <a:defRPr/>
            </a:lvl1pPr>
          </a:lstStyle>
          <a:p>
            <a:pPr>
              <a:defRPr/>
            </a:pPr>
            <a:fld id="{7A7EA473-BD05-414E-9C77-747EA1689CC7}" type="slidenum">
              <a:rPr lang="en-US" altLang="zh-CN"/>
            </a:fld>
            <a:endParaRPr lang="en-US" altLang="zh-CN"/>
          </a:p>
        </p:txBody>
      </p:sp>
      <p:sp>
        <p:nvSpPr>
          <p:cNvPr id="7" name="矩形 6"/>
          <p:cNvSpPr/>
          <p:nvPr userDrawn="1"/>
        </p:nvSpPr>
        <p:spPr>
          <a:xfrm>
            <a:off x="0" y="957263"/>
            <a:ext cx="3403600" cy="107950"/>
          </a:xfrm>
          <a:prstGeom prst="rect">
            <a:avLst/>
          </a:prstGeom>
          <a:solidFill>
            <a:srgbClr val="0728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10200" y="452670"/>
            <a:ext cx="10971609" cy="5952661"/>
          </a:xfrm>
          <a:prstGeom prst="rect">
            <a:avLst/>
          </a:prstGeom>
        </p:spPr>
        <p:txBody>
          <a:bodyPr lIns="48212" tIns="24107" rIns="48212" bIns="24107"/>
          <a:lstStyle>
            <a:lvl1pPr marL="431800" indent="-647700">
              <a:spcBef>
                <a:spcPts val="720"/>
              </a:spcBef>
              <a:buSzPct val="100000"/>
              <a:buFont typeface="Wingdings" panose="05000000000000000000" pitchFamily="2" charset="2"/>
              <a:buChar char="l"/>
              <a:defRPr sz="3900" baseline="0">
                <a:latin typeface="微软雅黑" panose="020B0503020204020204" pitchFamily="34" charset="-122"/>
                <a:ea typeface="微软雅黑" panose="020B0503020204020204" pitchFamily="34" charset="-122"/>
              </a:defRPr>
            </a:lvl1pPr>
            <a:lvl2pPr marL="647700" indent="647700">
              <a:spcBef>
                <a:spcPts val="720"/>
              </a:spcBef>
              <a:buSzPct val="100000"/>
              <a:buFont typeface="Wingdings" panose="05000000000000000000" pitchFamily="2" charset="2"/>
              <a:buChar char="u"/>
              <a:defRPr sz="3300" baseline="0">
                <a:latin typeface="微软雅黑" panose="020B0503020204020204" pitchFamily="34" charset="-122"/>
                <a:ea typeface="微软雅黑" panose="020B0503020204020204" pitchFamily="34" charset="-122"/>
              </a:defRPr>
            </a:lvl2pPr>
            <a:lvl3pPr marL="864235" indent="647700">
              <a:spcBef>
                <a:spcPts val="720"/>
              </a:spcBef>
              <a:buSzPct val="100000"/>
              <a:buFont typeface="Wingdings" panose="05000000000000000000" pitchFamily="2" charset="2"/>
              <a:buChar char="Ø"/>
              <a:defRPr sz="2900" baseline="0">
                <a:latin typeface="微软雅黑" panose="020B0503020204020204" pitchFamily="34" charset="-122"/>
              </a:defRPr>
            </a:lvl3pPr>
            <a:lvl4pPr marL="1080135" indent="647700">
              <a:spcBef>
                <a:spcPts val="720"/>
              </a:spcBef>
              <a:buSzPct val="100000"/>
              <a:buFontTx/>
              <a:buChar char="-"/>
              <a:defRPr sz="2900" baseline="0">
                <a:latin typeface="微软雅黑" panose="020B0503020204020204" pitchFamily="34" charset="-122"/>
              </a:defRPr>
            </a:lvl4pPr>
            <a:lvl5pPr>
              <a:spcBef>
                <a:spcPts val="720"/>
              </a:spcBef>
              <a:defRPr sz="3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4" name="矩形 3"/>
          <p:cNvSpPr/>
          <p:nvPr userDrawn="1"/>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5" name="直接连接符 4"/>
          <p:cNvCxnSpPr/>
          <p:nvPr userDrawn="1"/>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6" name="图片 5" descr="C:\Users\len\Desktop\7-140129231040534.png"/>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
        <p:nvSpPr>
          <p:cNvPr id="2" name="日期占位符 1"/>
          <p:cNvSpPr>
            <a:spLocks noGrp="1"/>
          </p:cNvSpPr>
          <p:nvPr>
            <p:ph type="dt" sz="half" idx="10"/>
          </p:nvPr>
        </p:nvSpPr>
        <p:spPr/>
        <p:txBody>
          <a:bodyPr/>
          <a:lstStyle/>
          <a:p>
            <a:pPr>
              <a:defRPr/>
            </a:pPr>
            <a:endParaRPr lang="zh-CN" altLang="en-US" dirty="0">
              <a:solidFill>
                <a:prstClr val="black">
                  <a:tint val="75000"/>
                </a:prstClr>
              </a:solidFill>
            </a:endParaRPr>
          </a:p>
        </p:txBody>
      </p:sp>
      <p:sp>
        <p:nvSpPr>
          <p:cNvPr id="7" name="页脚占位符 6"/>
          <p:cNvSpPr>
            <a:spLocks noGrp="1"/>
          </p:cNvSpPr>
          <p:nvPr>
            <p:ph type="ftr" sz="quarter" idx="11"/>
          </p:nvPr>
        </p:nvSpPr>
        <p:spPr/>
        <p:txBody>
          <a:bodyPr/>
          <a:lstStyle/>
          <a:p>
            <a:pPr>
              <a:defRPr/>
            </a:pPr>
            <a:endParaRPr lang="zh-CN" altLang="en-US" dirty="0">
              <a:solidFill>
                <a:prstClr val="black">
                  <a:tint val="75000"/>
                </a:prstClr>
              </a:solidFill>
            </a:endParaRPr>
          </a:p>
        </p:txBody>
      </p:sp>
      <p:sp>
        <p:nvSpPr>
          <p:cNvPr id="8" name="灯片编号占位符 7"/>
          <p:cNvSpPr>
            <a:spLocks noGrp="1"/>
          </p:cNvSpPr>
          <p:nvPr>
            <p:ph type="sldNum" sz="quarter" idx="12"/>
          </p:nvPr>
        </p:nvSpPr>
        <p:spPr/>
        <p:txBody>
          <a:bodyPr/>
          <a:lstStyle/>
          <a:p>
            <a:pPr fontAlgn="base">
              <a:spcBef>
                <a:spcPct val="0"/>
              </a:spcBef>
              <a:spcAft>
                <a:spcPct val="0"/>
              </a:spcAft>
              <a:defRPr/>
            </a:pPr>
            <a:fld id="{A5313916-D2EA-41BA-B4EC-3997F5DB327F}" type="slidenum">
              <a:rPr lang="zh-CN" altLang="en-US" smtClean="0"/>
            </a:fld>
            <a:endParaRPr lang="zh-CN" altLang="en-US" dirty="0"/>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矩形 2"/>
          <p:cNvSpPr/>
          <p:nvPr userDrawn="1"/>
        </p:nvSpPr>
        <p:spPr>
          <a:xfrm>
            <a:off x="0" y="957263"/>
            <a:ext cx="3403600" cy="107950"/>
          </a:xfrm>
          <a:prstGeom prst="rect">
            <a:avLst/>
          </a:prstGeom>
          <a:solidFill>
            <a:srgbClr val="0728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cxnSp>
        <p:nvCxnSpPr>
          <p:cNvPr id="4" name="直接连接符 3"/>
          <p:cNvCxnSpPr/>
          <p:nvPr userDrawn="1"/>
        </p:nvCxnSpPr>
        <p:spPr>
          <a:xfrm>
            <a:off x="3360738" y="1008063"/>
            <a:ext cx="2692400" cy="0"/>
          </a:xfrm>
          <a:prstGeom prst="line">
            <a:avLst/>
          </a:prstGeom>
          <a:ln w="28575">
            <a:solidFill>
              <a:srgbClr val="0728CF"/>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463137" y="174094"/>
            <a:ext cx="10187929" cy="736490"/>
          </a:xfrm>
        </p:spPr>
        <p:txBody>
          <a:bodyPr>
            <a:normAutofit/>
          </a:bodyPr>
          <a:lstStyle>
            <a:lvl1pPr>
              <a:defRPr sz="4000" b="1"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0" name="TextBox 9"/>
          <p:cNvSpPr txBox="1"/>
          <p:nvPr userDrawn="1"/>
        </p:nvSpPr>
        <p:spPr>
          <a:xfrm>
            <a:off x="890649" y="1543792"/>
            <a:ext cx="10569039" cy="369332"/>
          </a:xfrm>
          <a:prstGeom prst="rect">
            <a:avLst/>
          </a:prstGeom>
          <a:noFill/>
        </p:spPr>
        <p:txBody>
          <a:bodyPr wrap="square" rtlCol="0">
            <a:spAutoFit/>
          </a:bodyPr>
          <a:lstStyle/>
          <a:p>
            <a:pPr eaLnBrk="0" fontAlgn="base" hangingPunct="0">
              <a:spcBef>
                <a:spcPct val="0"/>
              </a:spcBef>
              <a:spcAft>
                <a:spcPct val="0"/>
              </a:spcAft>
            </a:pPr>
            <a:endParaRPr lang="zh-CN" altLang="en-US" dirty="0">
              <a:solidFill>
                <a:prstClr val="black"/>
              </a:solidFill>
              <a:ea typeface="微软雅黑" panose="020B0503020204020204" pitchFamily="34" charset="-122"/>
            </a:endParaRPr>
          </a:p>
        </p:txBody>
      </p:sp>
      <p:sp>
        <p:nvSpPr>
          <p:cNvPr id="13" name="文本占位符 2"/>
          <p:cNvSpPr>
            <a:spLocks noGrp="1"/>
          </p:cNvSpPr>
          <p:nvPr>
            <p:ph idx="1"/>
          </p:nvPr>
        </p:nvSpPr>
        <p:spPr bwMode="auto">
          <a:xfrm>
            <a:off x="838200" y="1318161"/>
            <a:ext cx="10515600" cy="4667003"/>
          </a:xfrm>
          <a:prstGeom prst="rect">
            <a:avLst/>
          </a:prstGeom>
          <a:noFill/>
          <a:ln>
            <a:noFill/>
          </a:ln>
        </p:spPr>
        <p:txBody>
          <a:bodyPr vert="horz" wrap="square" lIns="91440" tIns="45720" rIns="91440" bIns="45720" numCol="1" anchor="t" anchorCtr="0" compatLnSpc="1"/>
          <a:lstStyle>
            <a:lvl1pPr marL="342900" marR="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sz="3600">
                <a:latin typeface="Times New Roman" panose="02020603050405020304" pitchFamily="18" charset="0"/>
                <a:ea typeface="微软雅黑" panose="020B0503020204020204" pitchFamily="34" charset="-122"/>
                <a:cs typeface="Times New Roman" panose="02020603050405020304" pitchFamily="18" charset="0"/>
              </a:defRPr>
            </a:lvl1pPr>
            <a:lvl2pPr marL="742950" marR="0"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a:latin typeface="Times New Roman" panose="02020603050405020304" pitchFamily="18" charset="0"/>
                <a:ea typeface="微软雅黑" panose="020B0503020204020204" pitchFamily="34" charset="-122"/>
                <a:cs typeface="Times New Roman" panose="02020603050405020304" pitchFamily="18" charset="0"/>
              </a:defRPr>
            </a:lvl2pPr>
            <a:lvl3pPr marL="1143000" marR="0" indent="-228600" algn="l" defTabSz="914400" rtl="0" eaLnBrk="0" fontAlgn="base" latinLnBrk="0" hangingPunct="0">
              <a:lnSpc>
                <a:spcPct val="110000"/>
              </a:lnSpc>
              <a:spcBef>
                <a:spcPts val="600"/>
              </a:spcBef>
              <a:spcAft>
                <a:spcPct val="0"/>
              </a:spcAft>
              <a:buClr>
                <a:srgbClr val="0000CC"/>
              </a:buClr>
              <a:buSzTx/>
              <a:buFontTx/>
              <a:buChar char="•"/>
              <a:defRPr>
                <a:latin typeface="Times New Roman" panose="02020603050405020304" pitchFamily="18" charset="0"/>
                <a:ea typeface="微软雅黑" panose="020B0503020204020204" pitchFamily="34" charset="-122"/>
                <a:cs typeface="Times New Roman" panose="02020603050405020304" pitchFamily="18" charset="0"/>
              </a:defRPr>
            </a:lvl3pPr>
            <a:lvl4pPr marL="16002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latin typeface="Times New Roman" panose="02020603050405020304" pitchFamily="18" charset="0"/>
                <a:ea typeface="微软雅黑" panose="020B0503020204020204" pitchFamily="34" charset="-122"/>
                <a:cs typeface="Times New Roman" panose="02020603050405020304" pitchFamily="18" charset="0"/>
              </a:defRPr>
            </a:lvl4pPr>
            <a:lvl5pPr marL="2057400" marR="0"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latin typeface="Times New Roman" panose="02020603050405020304" pitchFamily="18" charset="0"/>
                <a:ea typeface="微软雅黑" panose="020B0503020204020204" pitchFamily="34" charset="-122"/>
                <a:cs typeface="Times New Roman" panose="02020603050405020304" pitchFamily="18" charset="0"/>
              </a:defRPr>
            </a:lvl5pPr>
          </a:lstStyle>
          <a:p>
            <a:pPr marL="342900" marR="0" lvl="0" indent="-342900" algn="l" defTabSz="914400" rtl="0" eaLnBrk="0" fontAlgn="base" latinLnBrk="0" hangingPunct="0">
              <a:lnSpc>
                <a:spcPct val="110000"/>
              </a:lnSpc>
              <a:spcBef>
                <a:spcPts val="600"/>
              </a:spcBef>
              <a:spcAft>
                <a:spcPct val="0"/>
              </a:spcAft>
              <a:buClr>
                <a:srgbClr val="0000CC"/>
              </a:buClr>
              <a:buSzPct val="75000"/>
              <a:buFont typeface="Wingdings" panose="05000000000000000000" pitchFamily="2" charset="2"/>
              <a:buChar char="p"/>
              <a:defRPr/>
            </a:pPr>
            <a:r>
              <a:rPr kumimoji="1" lang="zh-CN" altLang="en-US" sz="36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单击此处编辑母版文本样式</a:t>
            </a:r>
            <a:endParaRPr kumimoji="1" lang="zh-CN" altLang="en-US" sz="36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742950" marR="0" lvl="1" indent="-285750" algn="l" defTabSz="914400" rtl="0" eaLnBrk="0" fontAlgn="base" latinLnBrk="0" hangingPunct="0">
              <a:lnSpc>
                <a:spcPct val="110000"/>
              </a:lnSpc>
              <a:spcBef>
                <a:spcPts val="600"/>
              </a:spcBef>
              <a:spcAft>
                <a:spcPct val="0"/>
              </a:spcAft>
              <a:buClr>
                <a:srgbClr val="0000CC"/>
              </a:buClr>
              <a:buSzPct val="60000"/>
              <a:buFont typeface="Wingdings" panose="05000000000000000000" pitchFamily="2" charset="2"/>
              <a:buChar char="Ø"/>
              <a:defRPr/>
            </a:pPr>
            <a:r>
              <a:rPr kumimoji="1" lang="zh-CN" altLang="en-US" sz="32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第二级</a:t>
            </a:r>
            <a:endParaRPr kumimoji="1" lang="zh-CN" altLang="en-US" sz="32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1143000" marR="0" lvl="2" indent="-228600" algn="l" defTabSz="914400" rtl="0" eaLnBrk="0" fontAlgn="base" latinLnBrk="0" hangingPunct="0">
              <a:lnSpc>
                <a:spcPct val="110000"/>
              </a:lnSpc>
              <a:spcBef>
                <a:spcPts val="600"/>
              </a:spcBef>
              <a:spcAft>
                <a:spcPct val="0"/>
              </a:spcAft>
              <a:buClr>
                <a:srgbClr val="0000CC"/>
              </a:buClr>
              <a:buSzTx/>
              <a:buFontTx/>
              <a:buChar char="•"/>
              <a:defRPr/>
            </a:pPr>
            <a:r>
              <a:rPr kumimoji="1" lang="zh-CN" altLang="en-US" sz="28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第三级</a:t>
            </a:r>
            <a:endParaRPr kumimoji="1" lang="zh-CN" altLang="en-US" sz="28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1600200" marR="0" lvl="3"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pPr>
            <a:r>
              <a:rPr kumimoji="1" lang="zh-CN" altLang="en-US" sz="24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第四级</a:t>
            </a:r>
            <a:endParaRPr kumimoji="1" lang="zh-CN" altLang="en-US" sz="24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a:p>
            <a:pPr marL="2057400" marR="0" lvl="4" indent="-228600" algn="l" defTabSz="914400" rtl="0" eaLnBrk="0" fontAlgn="base" latinLnBrk="0" hangingPunct="0">
              <a:lnSpc>
                <a:spcPct val="110000"/>
              </a:lnSpc>
              <a:spcBef>
                <a:spcPts val="600"/>
              </a:spcBef>
              <a:spcAft>
                <a:spcPct val="0"/>
              </a:spcAft>
              <a:buClr>
                <a:srgbClr val="0000FF"/>
              </a:buClr>
              <a:buSzTx/>
              <a:buFont typeface="Arial" panose="020B0604020202020204" pitchFamily="34" charset="0"/>
              <a:buChar char="»"/>
              <a:defRPr/>
            </a:pPr>
            <a:r>
              <a:rPr kumimoji="1" lang="zh-CN" altLang="en-US" sz="20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rPr>
              <a:t>第五级</a:t>
            </a:r>
            <a:endParaRPr kumimoji="1" lang="zh-CN" altLang="en-US" sz="2000" b="0" i="0" u="none" strike="noStrike" kern="0" cap="none" spc="0" normalizeH="0" baseline="0" noProof="0" dirty="0">
              <a:ln>
                <a:noFill/>
              </a:ln>
              <a:solidFill>
                <a:srgbClr val="000000"/>
              </a:solidFill>
              <a:effectLst/>
              <a:uLnTx/>
              <a:uFillTx/>
              <a:latin typeface="Arial" panose="020B0604020202020204"/>
              <a:ea typeface="黑体" panose="02010609060101010101" pitchFamily="2" charset="-122"/>
            </a:endParaRPr>
          </a:p>
        </p:txBody>
      </p:sp>
      <p:pic>
        <p:nvPicPr>
          <p:cNvPr id="9" name="图片 8" descr="C:\Users\len\Desktop\7-140129231040534.png"/>
          <p:cNvPicPr/>
          <p:nvPr userDrawn="1"/>
        </p:nvPicPr>
        <p:blipFill rotWithShape="1">
          <a:blip r:embed="rId2" cstate="email"/>
          <a:srcRect/>
          <a:stretch>
            <a:fillRect/>
          </a:stretch>
        </p:blipFill>
        <p:spPr bwMode="auto">
          <a:xfrm>
            <a:off x="9747838" y="6362638"/>
            <a:ext cx="2222475" cy="458828"/>
          </a:xfrm>
          <a:prstGeom prst="rect">
            <a:avLst/>
          </a:prstGeom>
          <a:noFill/>
          <a:ln>
            <a:noFill/>
          </a:ln>
        </p:spPr>
      </p:pic>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latin typeface="Times New Roman" panose="02020603050405020304" pitchFamily="18" charset="0"/>
                <a:ea typeface="黑体" panose="02010609060101010101" pitchFamily="2" charset="-122"/>
                <a:cs typeface="Times New Roman" panose="02020603050405020304" pitchFamily="18" charset="0"/>
              </a:defRPr>
            </a:lvl1pPr>
          </a:lstStyle>
          <a:p>
            <a:r>
              <a:rPr lang="zh-CN" altLang="en-US" dirty="0"/>
              <a:t>单击此处编辑母版标题样式</a:t>
            </a:r>
            <a:endParaRPr lang="zh-CN" altLang="en-US" dirty="0"/>
          </a:p>
        </p:txBody>
      </p:sp>
      <p:sp>
        <p:nvSpPr>
          <p:cNvPr id="6" name="内容占位符 2"/>
          <p:cNvSpPr>
            <a:spLocks noGrp="1"/>
          </p:cNvSpPr>
          <p:nvPr>
            <p:ph idx="1"/>
          </p:nvPr>
        </p:nvSpPr>
        <p:spPr>
          <a:xfrm>
            <a:off x="334434" y="1268414"/>
            <a:ext cx="11523133" cy="5184775"/>
          </a:xfrm>
          <a:prstGeom prst="rect">
            <a:avLst/>
          </a:prstGeom>
        </p:spPr>
        <p:txBody>
          <a:bodyPr/>
          <a:lstStyle>
            <a:lvl1pPr>
              <a:spcBef>
                <a:spcPts val="600"/>
              </a:spcBef>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1pPr>
            <a:lvl2pPr marL="998855" indent="-368300" algn="l" defTabSz="1057275" rtl="0" eaLnBrk="0" fontAlgn="base" hangingPunct="0">
              <a:spcBef>
                <a:spcPts val="600"/>
              </a:spcBef>
              <a:spcAft>
                <a:spcPts val="0"/>
              </a:spcAft>
              <a:buClr>
                <a:srgbClr val="3670D1"/>
              </a:buClr>
              <a:buSzPct val="80000"/>
              <a:buFont typeface="Wingdings" panose="05000000000000000000" pitchFamily="2" charset="2"/>
              <a:buChar char="q"/>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2pPr>
            <a:lvl3pPr marL="1259205" indent="-81280" algn="l" defTabSz="1057275" rtl="0" eaLnBrk="0" fontAlgn="base" hangingPunct="0">
              <a:spcBef>
                <a:spcPct val="0"/>
              </a:spcBef>
              <a:spcAft>
                <a:spcPct val="0"/>
              </a:spcAft>
              <a:buClr>
                <a:srgbClr val="3670D1"/>
              </a:buClr>
              <a:buFont typeface="Wingdings 2" panose="05020102010507070707" pitchFamily="18" charset="2"/>
              <a:buChar char="¡"/>
              <a:defRPr>
                <a:solidFill>
                  <a:schemeClr val="tx1"/>
                </a:solidFill>
                <a:latin typeface="Times New Roman" panose="02020603050405020304" pitchFamily="18" charset="0"/>
                <a:ea typeface="黑体" panose="02010609060101010101" pitchFamily="2" charset="-122"/>
                <a:cs typeface="Times New Roman" panose="02020603050405020304" pitchFamily="18" charset="0"/>
              </a:defRPr>
            </a:lvl3pPr>
            <a:lvl4pPr>
              <a:defRPr>
                <a:latin typeface="黑体" panose="02010609060101010101" pitchFamily="2" charset="-122"/>
                <a:ea typeface="黑体" panose="02010609060101010101" pitchFamily="2" charset="-122"/>
              </a:defRPr>
            </a:lvl4pPr>
            <a:lvl5pPr>
              <a:defRPr>
                <a:latin typeface="黑体" panose="02010609060101010101" pitchFamily="2" charset="-122"/>
                <a:ea typeface="黑体" panose="02010609060101010101"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日期占位符 3"/>
          <p:cNvSpPr>
            <a:spLocks noGrp="1"/>
          </p:cNvSpPr>
          <p:nvPr>
            <p:ph type="dt" sz="half" idx="10"/>
          </p:nvPr>
        </p:nvSpPr>
        <p:spPr>
          <a:xfrm>
            <a:off x="8035640" y="6492449"/>
            <a:ext cx="2290617" cy="374074"/>
          </a:xfrm>
          <a:prstGeom prst="rect">
            <a:avLst/>
          </a:prstGeom>
        </p:spPr>
        <p:txBody>
          <a:bodyPr/>
          <a:lstStyle>
            <a:lvl1pPr>
              <a:defRPr/>
            </a:lvl1pPr>
          </a:lstStyle>
          <a:p>
            <a:pPr>
              <a:defRPr/>
            </a:pPr>
            <a:endParaRPr lang="zh-CN" altLang="en-US">
              <a:solidFill>
                <a:prstClr val="black">
                  <a:tint val="75000"/>
                </a:prstClr>
              </a:solidFill>
            </a:endParaRPr>
          </a:p>
        </p:txBody>
      </p:sp>
      <p:sp>
        <p:nvSpPr>
          <p:cNvPr id="5" name="页脚占位符 4"/>
          <p:cNvSpPr>
            <a:spLocks noGrp="1"/>
          </p:cNvSpPr>
          <p:nvPr>
            <p:ph type="ftr" sz="quarter" idx="11"/>
          </p:nvPr>
        </p:nvSpPr>
        <p:spPr>
          <a:xfrm>
            <a:off x="4165600" y="6245225"/>
            <a:ext cx="3860800" cy="476250"/>
          </a:xfrm>
          <a:prstGeom prst="rect">
            <a:avLst/>
          </a:prstGeom>
        </p:spPr>
        <p:txBody>
          <a:bodyPr/>
          <a:lstStyle>
            <a:lvl1pPr>
              <a:defRPr/>
            </a:lvl1pPr>
          </a:lstStyle>
          <a:p>
            <a:pPr>
              <a:defRPr/>
            </a:pPr>
            <a:endParaRPr lang="zh-CN" altLang="en-US">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a:defRPr/>
            </a:pPr>
            <a:fld id="{88A51967-2D8B-40D3-B5B9-9AAB73B256E5}" type="slidenum">
              <a:rPr lang="zh-CN" altLang="en-US"/>
            </a:fld>
            <a:endParaRPr lang="zh-CN" altLang="en-US"/>
          </a:p>
        </p:txBody>
      </p:sp>
      <p:sp>
        <p:nvSpPr>
          <p:cNvPr id="8" name="矩形 7"/>
          <p:cNvSpPr/>
          <p:nvPr userDrawn="1"/>
        </p:nvSpPr>
        <p:spPr>
          <a:xfrm>
            <a:off x="0" y="957263"/>
            <a:ext cx="3403600" cy="107950"/>
          </a:xfrm>
          <a:prstGeom prst="rect">
            <a:avLst/>
          </a:prstGeom>
          <a:solidFill>
            <a:srgbClr val="0728C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solidFill>
                <a:prstClr val="white"/>
              </a:solidFill>
              <a:ea typeface="微软雅黑" panose="020B0503020204020204" pitchFamily="34" charset="-122"/>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10200" y="452670"/>
            <a:ext cx="10971609" cy="5952661"/>
          </a:xfrm>
          <a:prstGeom prst="rect">
            <a:avLst/>
          </a:prstGeom>
        </p:spPr>
        <p:txBody>
          <a:bodyPr lIns="48212" tIns="24107" rIns="48212" bIns="24107"/>
          <a:lstStyle>
            <a:lvl1pPr marL="431800" indent="-647700">
              <a:spcBef>
                <a:spcPts val="720"/>
              </a:spcBef>
              <a:buSzPct val="100000"/>
              <a:buFont typeface="Wingdings" panose="05000000000000000000" pitchFamily="2" charset="2"/>
              <a:buChar char="l"/>
              <a:defRPr sz="3900" baseline="0">
                <a:latin typeface="微软雅黑" panose="020B0503020204020204" pitchFamily="34" charset="-122"/>
                <a:ea typeface="微软雅黑" panose="020B0503020204020204" pitchFamily="34" charset="-122"/>
              </a:defRPr>
            </a:lvl1pPr>
            <a:lvl2pPr marL="647700" indent="647700">
              <a:spcBef>
                <a:spcPts val="720"/>
              </a:spcBef>
              <a:buSzPct val="100000"/>
              <a:buFont typeface="Wingdings" panose="05000000000000000000" pitchFamily="2" charset="2"/>
              <a:buChar char="u"/>
              <a:defRPr sz="3300" baseline="0">
                <a:latin typeface="微软雅黑" panose="020B0503020204020204" pitchFamily="34" charset="-122"/>
                <a:ea typeface="微软雅黑" panose="020B0503020204020204" pitchFamily="34" charset="-122"/>
              </a:defRPr>
            </a:lvl2pPr>
            <a:lvl3pPr marL="864235" indent="647700">
              <a:spcBef>
                <a:spcPts val="720"/>
              </a:spcBef>
              <a:buSzPct val="100000"/>
              <a:buFont typeface="Wingdings" panose="05000000000000000000" pitchFamily="2" charset="2"/>
              <a:buChar char="Ø"/>
              <a:defRPr sz="2900" baseline="0">
                <a:latin typeface="微软雅黑" panose="020B0503020204020204" pitchFamily="34" charset="-122"/>
              </a:defRPr>
            </a:lvl3pPr>
            <a:lvl4pPr marL="1080135" indent="647700">
              <a:spcBef>
                <a:spcPts val="720"/>
              </a:spcBef>
              <a:buSzPct val="100000"/>
              <a:buFontTx/>
              <a:buChar char="-"/>
              <a:defRPr sz="2900" baseline="0">
                <a:latin typeface="微软雅黑" panose="020B0503020204020204" pitchFamily="34" charset="-122"/>
              </a:defRPr>
            </a:lvl4pPr>
            <a:lvl5pPr>
              <a:spcBef>
                <a:spcPts val="720"/>
              </a:spcBef>
              <a:defRPr sz="3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p:txBody>
      </p:sp>
      <p:sp>
        <p:nvSpPr>
          <p:cNvPr id="4" name="矩形 3"/>
          <p:cNvSpPr/>
          <p:nvPr userDrawn="1"/>
        </p:nvSpPr>
        <p:spPr>
          <a:xfrm>
            <a:off x="0" y="883787"/>
            <a:ext cx="3403600" cy="107950"/>
          </a:xfrm>
          <a:prstGeom prst="rect">
            <a:avLst/>
          </a:prstGeom>
          <a:solidFill>
            <a:srgbClr val="1453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cxnSp>
        <p:nvCxnSpPr>
          <p:cNvPr id="5" name="直接连接符 4"/>
          <p:cNvCxnSpPr/>
          <p:nvPr userDrawn="1"/>
        </p:nvCxnSpPr>
        <p:spPr>
          <a:xfrm>
            <a:off x="3360738" y="934587"/>
            <a:ext cx="2692400" cy="0"/>
          </a:xfrm>
          <a:prstGeom prst="line">
            <a:avLst/>
          </a:prstGeom>
          <a:ln w="28575">
            <a:solidFill>
              <a:srgbClr val="145396"/>
            </a:solidFill>
          </a:ln>
        </p:spPr>
        <p:style>
          <a:lnRef idx="1">
            <a:schemeClr val="accent1"/>
          </a:lnRef>
          <a:fillRef idx="0">
            <a:schemeClr val="accent1"/>
          </a:fillRef>
          <a:effectRef idx="0">
            <a:schemeClr val="accent1"/>
          </a:effectRef>
          <a:fontRef idx="minor">
            <a:schemeClr val="tx1"/>
          </a:fontRef>
        </p:style>
      </p:cxnSp>
      <p:pic>
        <p:nvPicPr>
          <p:cNvPr id="6" name="图片 5" descr="C:\Users\len\Desktop\7-140129231040534.png"/>
          <p:cNvPicPr/>
          <p:nvPr userDrawn="1"/>
        </p:nvPicPr>
        <p:blipFill rotWithShape="1">
          <a:blip r:embed="rId2" cstate="print">
            <a:extLst>
              <a:ext uri="{28A0092B-C50C-407E-A947-70E740481C1C}">
                <a14:useLocalDpi xmlns:a14="http://schemas.microsoft.com/office/drawing/2010/main" val="0"/>
              </a:ext>
            </a:extLst>
          </a:blip>
          <a:srcRect/>
          <a:stretch>
            <a:fillRect/>
          </a:stretch>
        </p:blipFill>
        <p:spPr bwMode="auto">
          <a:xfrm>
            <a:off x="103306" y="142431"/>
            <a:ext cx="648000" cy="648000"/>
          </a:xfrm>
          <a:prstGeom prst="rect">
            <a:avLst/>
          </a:prstGeom>
          <a:noFill/>
          <a:ln>
            <a:noFill/>
          </a:ln>
        </p:spPr>
      </p:pic>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zh-CN" altLang="en-US" dirty="0">
              <a:solidFill>
                <a:prstClr val="black">
                  <a:tint val="75000"/>
                </a:prstClr>
              </a:solidFill>
            </a:endParaRPr>
          </a:p>
        </p:txBody>
      </p:sp>
      <p:sp>
        <p:nvSpPr>
          <p:cNvPr id="3" name="页脚占位符 2"/>
          <p:cNvSpPr>
            <a:spLocks noGrp="1"/>
          </p:cNvSpPr>
          <p:nvPr>
            <p:ph type="ftr" sz="quarter" idx="11"/>
          </p:nvPr>
        </p:nvSpPr>
        <p:spPr/>
        <p:txBody>
          <a:bodyPr/>
          <a:lstStyle/>
          <a:p>
            <a:pPr>
              <a:defRPr/>
            </a:pPr>
            <a:endParaRPr lang="zh-CN" altLang="en-US" dirty="0">
              <a:solidFill>
                <a:prstClr val="black">
                  <a:tint val="75000"/>
                </a:prstClr>
              </a:solidFill>
            </a:endParaRPr>
          </a:p>
        </p:txBody>
      </p:sp>
      <p:sp>
        <p:nvSpPr>
          <p:cNvPr id="4" name="灯片编号占位符 3"/>
          <p:cNvSpPr>
            <a:spLocks noGrp="1"/>
          </p:cNvSpPr>
          <p:nvPr>
            <p:ph type="sldNum" sz="quarter" idx="12"/>
          </p:nvPr>
        </p:nvSpPr>
        <p:spPr/>
        <p:txBody>
          <a:bodyPr/>
          <a:lstStyle/>
          <a:p>
            <a:pPr fontAlgn="base">
              <a:spcBef>
                <a:spcPct val="0"/>
              </a:spcBef>
              <a:spcAft>
                <a:spcPct val="0"/>
              </a:spcAft>
              <a:defRPr/>
            </a:pPr>
            <a:fld id="{A5313916-D2EA-41BA-B4EC-3997F5DB327F}" type="slidenum">
              <a:rPr lang="zh-CN" altLang="en-US" smtClean="0"/>
            </a:fld>
            <a:endParaRPr lang="zh-CN" alt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页3">
    <p:spTree>
      <p:nvGrpSpPr>
        <p:cNvPr id="1" name=""/>
        <p:cNvGrpSpPr/>
        <p:nvPr/>
      </p:nvGrpSpPr>
      <p:grpSpPr>
        <a:xfrm>
          <a:off x="0" y="0"/>
          <a:ext cx="0" cy="0"/>
          <a:chOff x="0" y="0"/>
          <a:chExt cx="0" cy="0"/>
        </a:xfrm>
      </p:grpSpPr>
      <p:sp>
        <p:nvSpPr>
          <p:cNvPr id="3" name="椭圆 2"/>
          <p:cNvSpPr/>
          <p:nvPr userDrawn="1"/>
        </p:nvSpPr>
        <p:spPr>
          <a:xfrm>
            <a:off x="5179328" y="1916832"/>
            <a:ext cx="1800200" cy="1800200"/>
          </a:xfrm>
          <a:prstGeom prst="ellipse">
            <a:avLst/>
          </a:prstGeom>
          <a:noFill/>
          <a:ln w="19050">
            <a:solidFill>
              <a:srgbClr val="20517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quarter" idx="10" hasCustomPrompt="1"/>
          </p:nvPr>
        </p:nvSpPr>
        <p:spPr>
          <a:xfrm>
            <a:off x="5612203" y="2421509"/>
            <a:ext cx="1044178" cy="1008063"/>
          </a:xfrm>
          <a:prstGeom prst="rect">
            <a:avLst/>
          </a:prstGeom>
        </p:spPr>
        <p:txBody>
          <a:bodyPr/>
          <a:lstStyle>
            <a:lvl1pPr marL="0" indent="0" algn="dist">
              <a:buNone/>
              <a:defRPr sz="60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smtClean="0"/>
              <a:t>01</a:t>
            </a:r>
            <a:endParaRPr lang="zh-CN" altLang="en-US" dirty="0" smtClean="0"/>
          </a:p>
        </p:txBody>
      </p:sp>
      <p:sp>
        <p:nvSpPr>
          <p:cNvPr id="55" name="文本占位符 6"/>
          <p:cNvSpPr>
            <a:spLocks noGrp="1"/>
          </p:cNvSpPr>
          <p:nvPr>
            <p:ph type="body" sz="quarter" idx="11" hasCustomPrompt="1"/>
          </p:nvPr>
        </p:nvSpPr>
        <p:spPr>
          <a:xfrm>
            <a:off x="5124013" y="3890952"/>
            <a:ext cx="1891640" cy="496824"/>
          </a:xfrm>
          <a:prstGeom prst="rect">
            <a:avLst/>
          </a:prstGeom>
        </p:spPr>
        <p:txBody>
          <a:bodyPr/>
          <a:lstStyle>
            <a:lvl1pPr marL="0" indent="0" algn="ctr">
              <a:buNone/>
              <a:defRPr sz="2400" baseline="0">
                <a:solidFill>
                  <a:srgbClr val="20517C"/>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smtClean="0"/>
              <a:t>PART ONE</a:t>
            </a:r>
            <a:endParaRPr lang="zh-CN" altLang="en-US" dirty="0" smtClean="0"/>
          </a:p>
        </p:txBody>
      </p:sp>
      <p:sp>
        <p:nvSpPr>
          <p:cNvPr id="56" name="文本占位符 6"/>
          <p:cNvSpPr>
            <a:spLocks noGrp="1"/>
          </p:cNvSpPr>
          <p:nvPr>
            <p:ph type="body" sz="quarter" idx="12" hasCustomPrompt="1"/>
          </p:nvPr>
        </p:nvSpPr>
        <p:spPr>
          <a:xfrm>
            <a:off x="3503712" y="4372336"/>
            <a:ext cx="5195640" cy="496824"/>
          </a:xfrm>
          <a:prstGeom prst="rect">
            <a:avLst/>
          </a:prstGeom>
        </p:spPr>
        <p:txBody>
          <a:bodyPr/>
          <a:lstStyle>
            <a:lvl1pPr marL="0" indent="0" algn="ctr">
              <a:buNone/>
              <a:defRPr sz="4000" baseline="0">
                <a:solidFill>
                  <a:srgbClr val="20517C"/>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smtClean="0"/>
              <a:t>绪论引言</a:t>
            </a:r>
            <a:endParaRPr lang="zh-CN" altLang="en-US" dirty="0" smtClean="0"/>
          </a:p>
        </p:txBody>
      </p:sp>
      <p:sp>
        <p:nvSpPr>
          <p:cNvPr id="57" name="矩形 56"/>
          <p:cNvSpPr/>
          <p:nvPr userDrawn="1"/>
        </p:nvSpPr>
        <p:spPr>
          <a:xfrm>
            <a:off x="-24680" y="0"/>
            <a:ext cx="12216680" cy="126876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userDrawn="1"/>
        </p:nvSpPr>
        <p:spPr>
          <a:xfrm>
            <a:off x="-24680" y="5661248"/>
            <a:ext cx="12216680" cy="1195648"/>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内容页3">
    <p:spTree>
      <p:nvGrpSpPr>
        <p:cNvPr id="1" name=""/>
        <p:cNvGrpSpPr/>
        <p:nvPr/>
      </p:nvGrpSpPr>
      <p:grpSpPr>
        <a:xfrm>
          <a:off x="0" y="0"/>
          <a:ext cx="0" cy="0"/>
          <a:chOff x="0" y="0"/>
          <a:chExt cx="0" cy="0"/>
        </a:xfrm>
      </p:grpSpPr>
      <p:sp>
        <p:nvSpPr>
          <p:cNvPr id="60" name="矩形 59"/>
          <p:cNvSpPr/>
          <p:nvPr userDrawn="1"/>
        </p:nvSpPr>
        <p:spPr>
          <a:xfrm>
            <a:off x="-24680" y="0"/>
            <a:ext cx="12216680" cy="1124744"/>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占位符 6"/>
          <p:cNvSpPr>
            <a:spLocks noGrp="1"/>
          </p:cNvSpPr>
          <p:nvPr>
            <p:ph type="body" sz="quarter" idx="10" hasCustomPrompt="1"/>
          </p:nvPr>
        </p:nvSpPr>
        <p:spPr>
          <a:xfrm>
            <a:off x="459944" y="278936"/>
            <a:ext cx="864096" cy="1008063"/>
          </a:xfrm>
          <a:prstGeom prst="rect">
            <a:avLst/>
          </a:prstGeom>
        </p:spPr>
        <p:txBody>
          <a:bodyPr/>
          <a:lstStyle>
            <a:lvl1pPr marL="0" indent="0" algn="dist">
              <a:buNone/>
              <a:defRPr sz="4800" b="1">
                <a:solidFill>
                  <a:schemeClr val="bg1"/>
                </a:solidFill>
                <a:latin typeface="华文细黑" panose="02010600040101010101" pitchFamily="2" charset="-122"/>
                <a:ea typeface="华文细黑" panose="02010600040101010101" pitchFamily="2" charset="-122"/>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dirty="0" smtClean="0"/>
              <a:t>01</a:t>
            </a:r>
            <a:endParaRPr lang="zh-CN" altLang="en-US" dirty="0" smtClean="0"/>
          </a:p>
        </p:txBody>
      </p:sp>
      <p:sp>
        <p:nvSpPr>
          <p:cNvPr id="63" name="文本占位符 6"/>
          <p:cNvSpPr>
            <a:spLocks noGrp="1"/>
          </p:cNvSpPr>
          <p:nvPr>
            <p:ph type="body" sz="quarter" idx="12" hasCustomPrompt="1"/>
          </p:nvPr>
        </p:nvSpPr>
        <p:spPr>
          <a:xfrm>
            <a:off x="1437592" y="348250"/>
            <a:ext cx="4586400" cy="496824"/>
          </a:xfrm>
          <a:prstGeom prst="rect">
            <a:avLst/>
          </a:prstGeom>
        </p:spPr>
        <p:txBody>
          <a:bodyPr/>
          <a:lstStyle>
            <a:lvl1pPr marL="0" indent="0" algn="l">
              <a:buNone/>
              <a:defRPr sz="4000" baseline="0">
                <a:solidFill>
                  <a:schemeClr val="bg1"/>
                </a:solidFill>
                <a:latin typeface="微软雅黑" panose="020B0503020204020204" pitchFamily="34" charset="-122"/>
                <a:ea typeface="微软雅黑" panose="020B0503020204020204"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smtClean="0"/>
              <a:t>绪论引言</a:t>
            </a:r>
            <a:endParaRPr lang="zh-CN" altLang="en-US" dirty="0" smtClean="0"/>
          </a:p>
        </p:txBody>
      </p:sp>
      <p:cxnSp>
        <p:nvCxnSpPr>
          <p:cNvPr id="64" name="直接连接符 63"/>
          <p:cNvCxnSpPr/>
          <p:nvPr userDrawn="1"/>
        </p:nvCxnSpPr>
        <p:spPr>
          <a:xfrm flipH="1">
            <a:off x="1102301" y="407372"/>
            <a:ext cx="307464" cy="48496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027" name="文本占位符 2"/>
          <p:cNvSpPr>
            <a:spLocks noGrp="1"/>
          </p:cNvSpPr>
          <p:nvPr>
            <p:ph type="body" idx="1"/>
          </p:nvPr>
        </p:nvSpPr>
        <p:spPr bwMode="auto">
          <a:xfrm>
            <a:off x="838200" y="1825625"/>
            <a:ext cx="10515600" cy="4351338"/>
          </a:xfrm>
          <a:prstGeom prst="rect">
            <a:avLst/>
          </a:prstGeom>
          <a:noFill/>
          <a:ln>
            <a:noFill/>
          </a:ln>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Times New Roman" panose="02020603050405020304" pitchFamily="18" charset="0"/>
                <a:ea typeface="微软雅黑" panose="020B0503020204020204" pitchFamily="34" charset="-122"/>
              </a:defRPr>
            </a:lvl1pPr>
          </a:lstStyle>
          <a:p>
            <a:pPr>
              <a:defRPr/>
            </a:pPr>
            <a:endParaRPr lang="zh-CN" altLang="en-US" dirty="0">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Times New Roman" panose="02020603050405020304" pitchFamily="18" charset="0"/>
                <a:ea typeface="微软雅黑" panose="020B0503020204020204" pitchFamily="34" charset="-122"/>
              </a:defRPr>
            </a:lvl1pPr>
          </a:lstStyle>
          <a:p>
            <a:pPr>
              <a:defRPr/>
            </a:pPr>
            <a:endParaRPr lang="zh-CN" altLang="en-US" dirty="0">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Times New Roman" panose="02020603050405020304" pitchFamily="18" charset="0"/>
                <a:ea typeface="微软雅黑" panose="020B0503020204020204" pitchFamily="34" charset="-122"/>
              </a:defRPr>
            </a:lvl1pPr>
          </a:lstStyle>
          <a:p>
            <a:pPr fontAlgn="base">
              <a:spcBef>
                <a:spcPct val="0"/>
              </a:spcBef>
              <a:spcAft>
                <a:spcPct val="0"/>
              </a:spcAft>
              <a:defRPr/>
            </a:pPr>
            <a:fld id="{A5313916-D2EA-41BA-B4EC-3997F5DB327F}"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ransition>
    <p:fade/>
  </p:transition>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Times New Roman" panose="02020603050405020304" pitchFamily="18" charset="0"/>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Times New Roman" panose="02020603050405020304" pitchFamily="18" charset="0"/>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Times New Roman" panose="02020603050405020304" pitchFamily="18" charset="0"/>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Times New Roman" panose="02020603050405020304" pitchFamily="18"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notesSlide" Target="../notesSlides/notesSlide2.xml"/><Relationship Id="rId17" Type="http://schemas.openxmlformats.org/officeDocument/2006/relationships/slideLayout" Target="../slideLayouts/slideLayout14.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tags" Target="../tags/tag17.xml"/><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13.jpe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4.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tags" Target="../tags/tag18.xml"/></Relationships>
</file>

<file path=ppt/slides/_rels/slide11.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7" Type="http://schemas.openxmlformats.org/officeDocument/2006/relationships/notesSlide" Target="../notesSlides/notesSlide11.xml"/><Relationship Id="rId16" Type="http://schemas.openxmlformats.org/officeDocument/2006/relationships/slideLayout" Target="../slideLayouts/slideLayout1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4.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4.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0.jpeg"/><Relationship Id="rId3" Type="http://schemas.openxmlformats.org/officeDocument/2006/relationships/image" Target="../media/image7.png"/><Relationship Id="rId2" Type="http://schemas.openxmlformats.org/officeDocument/2006/relationships/tags" Target="../tags/tag38.xml"/><Relationship Id="rId1" Type="http://schemas.openxmlformats.org/officeDocument/2006/relationships/tags" Target="../tags/tag37.xml"/></Relationships>
</file>

<file path=ppt/slides/_rels/slide16.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8" Type="http://schemas.openxmlformats.org/officeDocument/2006/relationships/notesSlide" Target="../notesSlides/notesSlide15.xml"/><Relationship Id="rId17" Type="http://schemas.openxmlformats.org/officeDocument/2006/relationships/slideLayout" Target="../slideLayouts/slideLayout14.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6.xml"/><Relationship Id="rId6" Type="http://schemas.openxmlformats.org/officeDocument/2006/relationships/slideLayout" Target="../slideLayouts/slideLayout14.xml"/><Relationship Id="rId5" Type="http://schemas.openxmlformats.org/officeDocument/2006/relationships/image" Target="../media/image21.png"/><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0.jpe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4.xml"/><Relationship Id="rId3" Type="http://schemas.openxmlformats.org/officeDocument/2006/relationships/image" Target="../media/image22.png"/><Relationship Id="rId2" Type="http://schemas.openxmlformats.org/officeDocument/2006/relationships/image" Target="../media/image20.png"/><Relationship Id="rId1" Type="http://schemas.openxmlformats.org/officeDocument/2006/relationships/tags" Target="../tags/tag55.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4.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tags" Target="../tags/tag56.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4.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4.xml"/><Relationship Id="rId2" Type="http://schemas.openxmlformats.org/officeDocument/2006/relationships/image" Target="../media/image30.jpeg"/><Relationship Id="rId1" Type="http://schemas.openxmlformats.org/officeDocument/2006/relationships/image" Target="../media/image29.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23.xml"/><Relationship Id="rId5" Type="http://schemas.openxmlformats.org/officeDocument/2006/relationships/slideLayout" Target="../slideLayouts/slideLayout1.xml"/><Relationship Id="rId4" Type="http://schemas.openxmlformats.org/officeDocument/2006/relationships/image" Target="../media/image6.pn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1" cstate="email"/>
          <a:stretch>
            <a:fillRect/>
          </a:stretch>
        </p:blipFill>
        <p:spPr>
          <a:xfrm>
            <a:off x="3089459" y="86414"/>
            <a:ext cx="2951997"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图片 9"/>
          <p:cNvPicPr/>
          <p:nvPr/>
        </p:nvPicPr>
        <p:blipFill rotWithShape="1">
          <a:blip r:embed="rId2" cstate="print">
            <a:extLst>
              <a:ext uri="{28A0092B-C50C-407E-A947-70E740481C1C}">
                <a14:useLocalDpi xmlns:a14="http://schemas.microsoft.com/office/drawing/2010/main" val="0"/>
              </a:ext>
            </a:extLst>
          </a:blip>
          <a:srcRect t="23121"/>
          <a:stretch>
            <a:fillRect/>
          </a:stretch>
        </p:blipFill>
        <p:spPr>
          <a:xfrm>
            <a:off x="76564" y="86414"/>
            <a:ext cx="2953592"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图片 10"/>
          <p:cNvPicPr/>
          <p:nvPr/>
        </p:nvPicPr>
        <p:blipFill rotWithShape="1">
          <a:blip r:embed="rId3" cstate="print">
            <a:extLst>
              <a:ext uri="{28A0092B-C50C-407E-A947-70E740481C1C}">
                <a14:useLocalDpi xmlns:a14="http://schemas.microsoft.com/office/drawing/2010/main" val="0"/>
              </a:ext>
            </a:extLst>
          </a:blip>
          <a:srcRect t="25149" b="7601"/>
          <a:stretch>
            <a:fillRect/>
          </a:stretch>
        </p:blipFill>
        <p:spPr>
          <a:xfrm>
            <a:off x="6121833" y="86414"/>
            <a:ext cx="2951994"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4"/>
          <p:cNvPicPr>
            <a:picLocks noChangeArrowheads="1"/>
          </p:cNvPicPr>
          <p:nvPr/>
        </p:nvPicPr>
        <p:blipFill rotWithShape="1">
          <a:blip r:embed="rId4" cstate="print">
            <a:extLst>
              <a:ext uri="{28A0092B-C50C-407E-A947-70E740481C1C}">
                <a14:useLocalDpi xmlns:a14="http://schemas.microsoft.com/office/drawing/2010/main" val="0"/>
              </a:ext>
            </a:extLst>
          </a:blip>
          <a:srcRect l="26550" t="26490" r="24100" b="33434"/>
          <a:stretch>
            <a:fillRect/>
          </a:stretch>
        </p:blipFill>
        <p:spPr bwMode="auto">
          <a:xfrm>
            <a:off x="9168759" y="86414"/>
            <a:ext cx="2952000"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矩形 13"/>
          <p:cNvSpPr/>
          <p:nvPr/>
        </p:nvSpPr>
        <p:spPr>
          <a:xfrm>
            <a:off x="1122459" y="4214507"/>
            <a:ext cx="9931394" cy="45719"/>
          </a:xfrm>
          <a:prstGeom prst="rect">
            <a:avLst/>
          </a:prstGeom>
          <a:solidFill>
            <a:srgbClr val="183884"/>
          </a:solidFill>
          <a:ln w="0">
            <a:solidFill>
              <a:srgbClr val="1838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dirty="0">
              <a:solidFill>
                <a:srgbClr val="183884"/>
              </a:solidFill>
              <a:ea typeface="微软雅黑" panose="020B0503020204020204" pitchFamily="34" charset="-122"/>
            </a:endParaRPr>
          </a:p>
        </p:txBody>
      </p:sp>
      <p:sp>
        <p:nvSpPr>
          <p:cNvPr id="17" name="矩形 16"/>
          <p:cNvSpPr/>
          <p:nvPr/>
        </p:nvSpPr>
        <p:spPr>
          <a:xfrm>
            <a:off x="1122459" y="4104163"/>
            <a:ext cx="9931394" cy="45719"/>
          </a:xfrm>
          <a:prstGeom prst="rect">
            <a:avLst/>
          </a:prstGeom>
          <a:solidFill>
            <a:srgbClr val="C00000"/>
          </a:solidFill>
          <a:ln w="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dirty="0">
              <a:solidFill>
                <a:srgbClr val="183884"/>
              </a:solidFill>
              <a:ea typeface="微软雅黑" panose="020B0503020204020204" pitchFamily="34" charset="-122"/>
            </a:endParaRPr>
          </a:p>
        </p:txBody>
      </p:sp>
      <p:pic>
        <p:nvPicPr>
          <p:cNvPr id="5" name="图片 4"/>
          <p:cNvPicPr/>
          <p:nvPr/>
        </p:nvPicPr>
        <p:blipFill>
          <a:blip r:embed="rId1" cstate="email"/>
          <a:stretch>
            <a:fillRect/>
          </a:stretch>
        </p:blipFill>
        <p:spPr>
          <a:xfrm>
            <a:off x="3089459" y="87049"/>
            <a:ext cx="2951997"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图片 5"/>
          <p:cNvPicPr/>
          <p:nvPr/>
        </p:nvPicPr>
        <p:blipFill rotWithShape="1">
          <a:blip r:embed="rId2" cstate="print">
            <a:extLst>
              <a:ext uri="{28A0092B-C50C-407E-A947-70E740481C1C}">
                <a14:useLocalDpi xmlns:a14="http://schemas.microsoft.com/office/drawing/2010/main" val="0"/>
              </a:ext>
            </a:extLst>
          </a:blip>
          <a:srcRect t="23121"/>
          <a:stretch>
            <a:fillRect/>
          </a:stretch>
        </p:blipFill>
        <p:spPr>
          <a:xfrm>
            <a:off x="76564" y="87049"/>
            <a:ext cx="2953592"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图片 6"/>
          <p:cNvPicPr/>
          <p:nvPr/>
        </p:nvPicPr>
        <p:blipFill rotWithShape="1">
          <a:blip r:embed="rId3" cstate="print">
            <a:extLst>
              <a:ext uri="{28A0092B-C50C-407E-A947-70E740481C1C}">
                <a14:useLocalDpi xmlns:a14="http://schemas.microsoft.com/office/drawing/2010/main" val="0"/>
              </a:ext>
            </a:extLst>
          </a:blip>
          <a:srcRect t="25149" b="7601"/>
          <a:stretch>
            <a:fillRect/>
          </a:stretch>
        </p:blipFill>
        <p:spPr>
          <a:xfrm>
            <a:off x="6121833" y="87049"/>
            <a:ext cx="2951994"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6" name="文本框 25"/>
          <p:cNvSpPr txBox="1"/>
          <p:nvPr/>
        </p:nvSpPr>
        <p:spPr>
          <a:xfrm>
            <a:off x="3204845" y="1972945"/>
            <a:ext cx="5782310" cy="1070421"/>
          </a:xfrm>
          <a:prstGeom prst="rect">
            <a:avLst/>
          </a:prstGeom>
          <a:noFill/>
        </p:spPr>
        <p:txBody>
          <a:bodyPr wrap="square">
            <a:spAutoFit/>
          </a:bodyPr>
          <a:lstStyle/>
          <a:p>
            <a:pPr marR="0" algn="ctr" defTabSz="685800" rtl="0" fontAlgn="auto">
              <a:lnSpc>
                <a:spcPct val="140000"/>
              </a:lnSpc>
              <a:spcBef>
                <a:spcPts val="0"/>
              </a:spcBef>
              <a:spcAft>
                <a:spcPts val="0"/>
              </a:spcAft>
              <a:buClrTx/>
              <a:buSzTx/>
              <a:buFontTx/>
              <a:defRPr/>
            </a:pPr>
            <a:r>
              <a:rPr lang="zh-CN" altLang="en-US" sz="2400" noProof="0" dirty="0">
                <a:solidFill>
                  <a:schemeClr val="tx1"/>
                </a:solidFill>
                <a:latin typeface="微软雅黑" panose="020B0503020204020204" pitchFamily="34" charset="-122"/>
                <a:ea typeface="微软雅黑" panose="020B0503020204020204" pitchFamily="34" charset="-122"/>
                <a:cs typeface="+mn-cs"/>
                <a:sym typeface="+mn-ea"/>
              </a:rPr>
              <a:t>北京航空航天大学 软件学院</a:t>
            </a:r>
            <a:endParaRPr lang="zh-CN" altLang="en-US" sz="2400" noProof="0" dirty="0">
              <a:solidFill>
                <a:schemeClr val="tx1"/>
              </a:solidFill>
              <a:latin typeface="微软雅黑" panose="020B0503020204020204" pitchFamily="34" charset="-122"/>
              <a:ea typeface="微软雅黑" panose="020B0503020204020204" pitchFamily="34" charset="-122"/>
              <a:cs typeface="+mn-cs"/>
              <a:sym typeface="+mn-ea"/>
            </a:endParaRPr>
          </a:p>
          <a:p>
            <a:pPr marR="0" algn="ctr" defTabSz="685800" rtl="0" fontAlgn="auto">
              <a:lnSpc>
                <a:spcPct val="140000"/>
              </a:lnSpc>
              <a:spcBef>
                <a:spcPts val="0"/>
              </a:spcBef>
              <a:spcAft>
                <a:spcPts val="0"/>
              </a:spcAft>
              <a:buClrTx/>
              <a:buSzTx/>
              <a:buFontTx/>
              <a:defRPr/>
            </a:pPr>
            <a:r>
              <a:rPr lang="zh-CN" altLang="en-US" sz="2400" noProof="0" dirty="0">
                <a:solidFill>
                  <a:schemeClr val="tx1"/>
                </a:solidFill>
                <a:latin typeface="微软雅黑" panose="020B0503020204020204" pitchFamily="34" charset="-122"/>
                <a:ea typeface="微软雅黑" panose="020B0503020204020204" pitchFamily="34" charset="-122"/>
                <a:cs typeface="+mn-cs"/>
                <a:sym typeface="+mn-ea"/>
              </a:rPr>
              <a:t>冯如杯答辩</a:t>
            </a:r>
            <a:endParaRPr lang="zh-CN" altLang="en-US" sz="2800" b="1" noProof="0" dirty="0">
              <a:solidFill>
                <a:schemeClr val="tx1"/>
              </a:solidFill>
              <a:latin typeface="微软雅黑" panose="020B0503020204020204" pitchFamily="34" charset="-122"/>
              <a:ea typeface="微软雅黑" panose="020B0503020204020204" pitchFamily="34" charset="-122"/>
              <a:cs typeface="+mn-cs"/>
              <a:sym typeface="+mn-ea"/>
            </a:endParaRPr>
          </a:p>
        </p:txBody>
      </p:sp>
      <p:sp>
        <p:nvSpPr>
          <p:cNvPr id="3" name="文本框 2"/>
          <p:cNvSpPr txBox="1"/>
          <p:nvPr/>
        </p:nvSpPr>
        <p:spPr>
          <a:xfrm>
            <a:off x="1841075" y="3140022"/>
            <a:ext cx="8494633" cy="825419"/>
          </a:xfrm>
          <a:prstGeom prst="rect">
            <a:avLst/>
          </a:prstGeom>
          <a:noFill/>
        </p:spPr>
        <p:txBody>
          <a:bodyPr wrap="none" rtlCol="0" anchor="t">
            <a:spAutoFit/>
          </a:bodyPr>
          <a:lstStyle/>
          <a:p>
            <a:pPr marR="0" algn="ctr" defTabSz="685800" rtl="0" fontAlgn="auto">
              <a:lnSpc>
                <a:spcPct val="150000"/>
              </a:lnSpc>
              <a:spcBef>
                <a:spcPts val="0"/>
              </a:spcBef>
              <a:spcAft>
                <a:spcPts val="0"/>
              </a:spcAft>
              <a:buClrTx/>
              <a:buSzTx/>
              <a:buFontTx/>
              <a:defRPr/>
            </a:pPr>
            <a:r>
              <a:rPr lang="zh-CN" altLang="en-US" sz="3600" b="1" noProof="0" dirty="0">
                <a:latin typeface="微软雅黑" panose="020B0503020204020204" pitchFamily="34" charset="-122"/>
                <a:ea typeface="微软雅黑" panose="020B0503020204020204" pitchFamily="34" charset="-122"/>
                <a:sym typeface="+mn-ea"/>
              </a:rPr>
              <a:t>基于扩散模型注意力图的个性化图像编辑</a:t>
            </a:r>
            <a:endParaRPr lang="zh-CN" altLang="en-US" sz="3600" b="1" noProof="0" dirty="0">
              <a:latin typeface="微软雅黑" panose="020B0503020204020204" pitchFamily="34" charset="-122"/>
              <a:ea typeface="微软雅黑" panose="020B0503020204020204" pitchFamily="34" charset="-122"/>
              <a:sym typeface="+mn-ea"/>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16957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组合 20"/>
          <p:cNvGrpSpPr/>
          <p:nvPr>
            <p:custDataLst>
              <p:tags r:id="rId1"/>
            </p:custDataLst>
          </p:nvPr>
        </p:nvGrpSpPr>
        <p:grpSpPr>
          <a:xfrm>
            <a:off x="1448984" y="1861333"/>
            <a:ext cx="4517957" cy="1033168"/>
            <a:chOff x="1896842" y="1618734"/>
            <a:chExt cx="4517957" cy="1033168"/>
          </a:xfrm>
        </p:grpSpPr>
        <p:sp>
          <p:nvSpPr>
            <p:cNvPr id="16" name="文本框 26"/>
            <p:cNvSpPr txBox="1"/>
            <p:nvPr>
              <p:custDataLst>
                <p:tags r:id="rId2"/>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论文选题介绍</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椭圆 6"/>
            <p:cNvSpPr>
              <a:spLocks noChangeArrowheads="1"/>
            </p:cNvSpPr>
            <p:nvPr>
              <p:custDataLst>
                <p:tags r:id="rId3"/>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8" name="TextBox 32"/>
            <p:cNvSpPr txBox="1">
              <a:spLocks noChangeArrowheads="1"/>
            </p:cNvSpPr>
            <p:nvPr>
              <p:custDataLst>
                <p:tags r:id="rId4"/>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01</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 name="组合 1"/>
          <p:cNvGrpSpPr/>
          <p:nvPr>
            <p:custDataLst>
              <p:tags r:id="rId5"/>
            </p:custDataLst>
          </p:nvPr>
        </p:nvGrpSpPr>
        <p:grpSpPr>
          <a:xfrm>
            <a:off x="1448984" y="3804306"/>
            <a:ext cx="4517957" cy="1033168"/>
            <a:chOff x="1896842" y="1618734"/>
            <a:chExt cx="4517957" cy="1033168"/>
          </a:xfrm>
        </p:grpSpPr>
        <p:sp>
          <p:nvSpPr>
            <p:cNvPr id="3" name="文本框 26"/>
            <p:cNvSpPr txBox="1"/>
            <p:nvPr>
              <p:custDataLst>
                <p:tags r:id="rId6"/>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主要实现方法</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椭圆 3"/>
            <p:cNvSpPr>
              <a:spLocks noChangeArrowheads="1"/>
            </p:cNvSpPr>
            <p:nvPr>
              <p:custDataLst>
                <p:tags r:id="rId7"/>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6" name="TextBox 32"/>
            <p:cNvSpPr txBox="1">
              <a:spLocks noChangeArrowheads="1"/>
            </p:cNvSpPr>
            <p:nvPr>
              <p:custDataLst>
                <p:tags r:id="rId8"/>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03</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15" name="组合 14"/>
          <p:cNvGrpSpPr/>
          <p:nvPr>
            <p:custDataLst>
              <p:tags r:id="rId9"/>
            </p:custDataLst>
          </p:nvPr>
        </p:nvGrpSpPr>
        <p:grpSpPr>
          <a:xfrm>
            <a:off x="6658053" y="1861333"/>
            <a:ext cx="4517957" cy="1033168"/>
            <a:chOff x="1896842" y="1618734"/>
            <a:chExt cx="4517957" cy="1033168"/>
          </a:xfrm>
        </p:grpSpPr>
        <p:sp>
          <p:nvSpPr>
            <p:cNvPr id="17" name="文本框 26"/>
            <p:cNvSpPr txBox="1"/>
            <p:nvPr>
              <p:custDataLst>
                <p:tags r:id="rId10"/>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主要研究内容</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a:spLocks noChangeArrowheads="1"/>
            </p:cNvSpPr>
            <p:nvPr>
              <p:custDataLst>
                <p:tags r:id="rId11"/>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26" name="TextBox 32"/>
            <p:cNvSpPr txBox="1">
              <a:spLocks noChangeArrowheads="1"/>
            </p:cNvSpPr>
            <p:nvPr>
              <p:custDataLst>
                <p:tags r:id="rId12"/>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02</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7" name="组合 26"/>
          <p:cNvGrpSpPr/>
          <p:nvPr>
            <p:custDataLst>
              <p:tags r:id="rId13"/>
            </p:custDataLst>
          </p:nvPr>
        </p:nvGrpSpPr>
        <p:grpSpPr>
          <a:xfrm>
            <a:off x="6675131" y="3804306"/>
            <a:ext cx="4517957" cy="1033168"/>
            <a:chOff x="1896842" y="1618734"/>
            <a:chExt cx="4517957" cy="1033168"/>
          </a:xfrm>
        </p:grpSpPr>
        <p:sp>
          <p:nvSpPr>
            <p:cNvPr id="28" name="文本框 26"/>
            <p:cNvSpPr txBox="1"/>
            <p:nvPr>
              <p:custDataLst>
                <p:tags r:id="rId14"/>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成果与展望</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椭圆 28"/>
            <p:cNvSpPr>
              <a:spLocks noChangeArrowheads="1"/>
            </p:cNvSpPr>
            <p:nvPr>
              <p:custDataLst>
                <p:tags r:id="rId15"/>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30" name="TextBox 32"/>
            <p:cNvSpPr txBox="1">
              <a:spLocks noChangeArrowheads="1"/>
            </p:cNvSpPr>
            <p:nvPr>
              <p:custDataLst>
                <p:tags r:id="rId16"/>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04</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en-US" altLang="zh-CN" dirty="0" smtClean="0"/>
              <a:t>PART  </a:t>
            </a:r>
            <a:r>
              <a:rPr lang="en-US" altLang="zh-CN" dirty="0"/>
              <a:t>O</a:t>
            </a:r>
            <a:r>
              <a:rPr lang="en-US" altLang="zh-CN" dirty="0" smtClean="0"/>
              <a:t>NE</a:t>
            </a:r>
            <a:endParaRPr lang="zh-CN" altLang="en-US" dirty="0"/>
          </a:p>
        </p:txBody>
      </p:sp>
      <p:sp>
        <p:nvSpPr>
          <p:cNvPr id="4" name="文本占位符 3"/>
          <p:cNvSpPr>
            <a:spLocks noGrp="1"/>
          </p:cNvSpPr>
          <p:nvPr>
            <p:ph type="body" sz="quarter" idx="12"/>
          </p:nvPr>
        </p:nvSpPr>
        <p:spPr/>
        <p:txBody>
          <a:bodyPr/>
          <a:lstStyle/>
          <a:p>
            <a:r>
              <a:rPr lang="zh-CN" altLang="en-US" kern="0" dirty="0">
                <a:cs typeface="Times New Roman" panose="02020603050405020304" pitchFamily="18" charset="0"/>
                <a:sym typeface="+mn-ea"/>
              </a:rPr>
              <a:t>论文选题介绍</a:t>
            </a:r>
            <a:endParaRPr lang="zh-CN" altLang="en-US" kern="0" dirty="0">
              <a:cs typeface="Times New Roman" panose="02020603050405020304" pitchFamily="18" charset="0"/>
              <a:sym typeface="+mn-ea"/>
            </a:endParaRPr>
          </a:p>
          <a:p>
            <a:r>
              <a:rPr lang="en-US" altLang="zh-CN" sz="2000"/>
              <a:t>AI</a:t>
            </a:r>
            <a:r>
              <a:rPr lang="zh-CN" altLang="en-US" sz="2000"/>
              <a:t>图像生成的浪潮与</a:t>
            </a:r>
            <a:r>
              <a:rPr lang="en-US" altLang="zh-CN" sz="2000"/>
              <a:t>“</a:t>
            </a:r>
            <a:r>
              <a:rPr lang="zh-CN" altLang="en-US" sz="2000"/>
              <a:t>众口难调</a:t>
            </a:r>
            <a:r>
              <a:rPr lang="en-US" altLang="zh-CN" sz="2000"/>
              <a:t>”</a:t>
            </a:r>
            <a:r>
              <a:rPr lang="zh-CN" altLang="en-US" sz="2000"/>
              <a:t>的挑战</a:t>
            </a:r>
            <a:endParaRPr lang="zh-CN" altLang="en-US" sz="2000"/>
          </a:p>
          <a:p>
            <a:endParaRPr lang="zh-CN" altLang="en-US" sz="2000" dirty="0"/>
          </a:p>
        </p:txBody>
      </p:sp>
      <p:sp>
        <p:nvSpPr>
          <p:cNvPr id="6" name="文本占位符 1"/>
          <p:cNvSpPr>
            <a:spLocks noGrp="1"/>
          </p:cNvSpPr>
          <p:nvPr/>
        </p:nvSpPr>
        <p:spPr>
          <a:xfrm>
            <a:off x="5612203" y="2421509"/>
            <a:ext cx="1044178" cy="1008063"/>
          </a:xfrm>
          <a:prstGeom prst="rect">
            <a:avLst/>
          </a:prstGeom>
        </p:spPr>
        <p:txBody>
          <a:bodyPr/>
          <a:lstStyle>
            <a:lvl1pPr marL="0" indent="0" algn="dist" defTabSz="914400" rtl="0" eaLnBrk="1" latinLnBrk="0" hangingPunct="1">
              <a:lnSpc>
                <a:spcPct val="90000"/>
              </a:lnSpc>
              <a:spcBef>
                <a:spcPts val="1000"/>
              </a:spcBef>
              <a:buFont typeface="Arial" panose="020B0604020202020204" pitchFamily="34" charset="0"/>
              <a:buNone/>
              <a:defRPr sz="6000" kern="1200">
                <a:solidFill>
                  <a:schemeClr val="tx1">
                    <a:lumMod val="85000"/>
                    <a:lumOff val="15000"/>
                  </a:schemeClr>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smtClean="0">
                <a:solidFill>
                  <a:srgbClr val="20517C"/>
                </a:solidFill>
              </a:rPr>
              <a:t>01</a:t>
            </a:r>
            <a:endParaRPr lang="en-US" altLang="zh-CN" dirty="0" smtClean="0">
              <a:solidFill>
                <a:srgbClr val="20517C"/>
              </a:solidFill>
            </a:endParaRP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16957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组合 20"/>
          <p:cNvGrpSpPr/>
          <p:nvPr/>
        </p:nvGrpSpPr>
        <p:grpSpPr>
          <a:xfrm>
            <a:off x="1448984" y="1861333"/>
            <a:ext cx="4517957" cy="1033168"/>
            <a:chOff x="1896842" y="1618734"/>
            <a:chExt cx="4517957" cy="1033168"/>
          </a:xfrm>
        </p:grpSpPr>
        <p:sp>
          <p:nvSpPr>
            <p:cNvPr id="16"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论文选题介绍</a:t>
              </a:r>
              <a:endParaRPr lang="en-US" altLang="zh-CN"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椭圆 6"/>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8"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01</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 name="组合 1"/>
          <p:cNvGrpSpPr/>
          <p:nvPr/>
        </p:nvGrpSpPr>
        <p:grpSpPr>
          <a:xfrm>
            <a:off x="1448984" y="3804306"/>
            <a:ext cx="4517957" cy="1033168"/>
            <a:chOff x="1896842" y="1618734"/>
            <a:chExt cx="4517957" cy="1033168"/>
          </a:xfrm>
        </p:grpSpPr>
        <p:sp>
          <p:nvSpPr>
            <p:cNvPr id="3"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主要实现方法</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椭圆 3"/>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03</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15" name="组合 14"/>
          <p:cNvGrpSpPr/>
          <p:nvPr/>
        </p:nvGrpSpPr>
        <p:grpSpPr>
          <a:xfrm>
            <a:off x="6658053" y="1861333"/>
            <a:ext cx="4517957" cy="1033168"/>
            <a:chOff x="1896842" y="1618734"/>
            <a:chExt cx="4517957" cy="1033168"/>
          </a:xfrm>
        </p:grpSpPr>
        <p:sp>
          <p:nvSpPr>
            <p:cNvPr id="17"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主要研究内容</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2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02</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7" name="组合 26"/>
          <p:cNvGrpSpPr/>
          <p:nvPr/>
        </p:nvGrpSpPr>
        <p:grpSpPr>
          <a:xfrm>
            <a:off x="6675131" y="3804306"/>
            <a:ext cx="4517957" cy="1033168"/>
            <a:chOff x="1896842" y="1618734"/>
            <a:chExt cx="4517957" cy="1033168"/>
          </a:xfrm>
        </p:grpSpPr>
        <p:sp>
          <p:nvSpPr>
            <p:cNvPr id="28"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成果与展望</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椭圆 28"/>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30"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04</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322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（一）课题背景介绍</a:t>
            </a:r>
            <a:endPar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latin typeface="Times New Roman" panose="02020603050405020304" pitchFamily="18" charset="0"/>
                <a:cs typeface="Times New Roman" panose="02020603050405020304" pitchFamily="18" charset="0"/>
              </a:rPr>
              <a:t>5</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628650" y="1847850"/>
            <a:ext cx="10841355" cy="2030095"/>
          </a:xfrm>
          <a:prstGeom prst="rect">
            <a:avLst/>
          </a:prstGeom>
          <a:noFill/>
        </p:spPr>
        <p:txBody>
          <a:bodyPr wrap="square" rtlCol="0">
            <a:noAutofit/>
          </a:bodyPr>
          <a:lstStyle/>
          <a:p>
            <a:pPr marL="285750" indent="-285750">
              <a:buFont typeface="Arial" panose="020B0604020202020204" pitchFamily="34" charset="0"/>
              <a:buChar char="•"/>
            </a:pPr>
            <a:r>
              <a:rPr lang="zh-CN" altLang="en-US" dirty="0"/>
              <a:t>近年来，伴随着</a:t>
            </a:r>
            <a:r>
              <a:rPr lang="en-US" altLang="zh-CN" dirty="0"/>
              <a:t>ChatGPT</a:t>
            </a:r>
            <a:r>
              <a:rPr lang="zh-CN" altLang="en-US" dirty="0"/>
              <a:t>等大型预训练模型的突破性进展，人工智能生成内容（</a:t>
            </a:r>
            <a:r>
              <a:rPr lang="en-US" altLang="zh-CN" dirty="0"/>
              <a:t>AIGC</a:t>
            </a:r>
            <a:r>
              <a:rPr lang="zh-CN" altLang="en-US" dirty="0"/>
              <a:t>）的浪潮席卷而来，尤其在图像生成领域，</a:t>
            </a:r>
            <a:r>
              <a:rPr lang="en-US" altLang="zh-CN" dirty="0"/>
              <a:t>AI</a:t>
            </a:r>
            <a:r>
              <a:rPr lang="zh-CN" altLang="en-US" dirty="0"/>
              <a:t>为我们展现了前所未有的创作潜力，使得一键生成精美图像逐渐走入大众视野。</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然而，当前主流的</a:t>
            </a:r>
            <a:r>
              <a:rPr lang="en-US" altLang="zh-CN" dirty="0"/>
              <a:t>AI</a:t>
            </a:r>
            <a:r>
              <a:rPr lang="zh-CN" altLang="en-US" dirty="0"/>
              <a:t>图像生成模型，尽管能力强大，但它们多是基于海量通用数据训练的</a:t>
            </a:r>
            <a:r>
              <a:rPr lang="en-US" altLang="zh-CN" dirty="0"/>
              <a:t>“</a:t>
            </a:r>
            <a:r>
              <a:rPr lang="zh-CN" altLang="en-US" dirty="0">
                <a:solidFill>
                  <a:srgbClr val="FF0000"/>
                </a:solidFill>
              </a:rPr>
              <a:t>标准模型</a:t>
            </a:r>
            <a:r>
              <a:rPr lang="en-US" altLang="zh-CN" dirty="0"/>
              <a:t>”</a:t>
            </a:r>
            <a:r>
              <a:rPr lang="zh-CN" altLang="en-US" dirty="0"/>
              <a:t>。这使得它们在满足用户个性化、精细化的创作需求时，常常显得力不从心，容易出现生成图像风格趋同、细节失真，甚至</a:t>
            </a:r>
            <a:r>
              <a:rPr lang="en-US" altLang="zh-CN" dirty="0"/>
              <a:t>“</a:t>
            </a:r>
            <a:r>
              <a:rPr lang="zh-CN" altLang="en-US" dirty="0">
                <a:solidFill>
                  <a:srgbClr val="FF0000"/>
                </a:solidFill>
              </a:rPr>
              <a:t>图不达意</a:t>
            </a:r>
            <a:r>
              <a:rPr lang="en-US" altLang="zh-CN" dirty="0"/>
              <a:t>”——</a:t>
            </a:r>
            <a:r>
              <a:rPr lang="zh-CN" altLang="en-US" dirty="0"/>
              <a:t>即无法准确捕捉和表达用户内心真正想要的效果。</a:t>
            </a:r>
            <a:endParaRPr lang="zh-CN" altLang="en-US" dirty="0"/>
          </a:p>
          <a:p>
            <a:pPr marL="285750" indent="-285750">
              <a:buFont typeface="Arial" panose="020B0604020202020204" pitchFamily="34" charset="0"/>
              <a:buChar char="•"/>
            </a:pPr>
            <a:endParaRPr lang="zh-CN"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95647" y="3970282"/>
            <a:ext cx="2428458" cy="2461611"/>
          </a:xfrm>
          <a:prstGeom prst="rect">
            <a:avLst/>
          </a:prstGeom>
        </p:spPr>
      </p:pic>
      <p:sp>
        <p:nvSpPr>
          <p:cNvPr id="6" name="TextBox 5"/>
          <p:cNvSpPr txBox="1"/>
          <p:nvPr/>
        </p:nvSpPr>
        <p:spPr>
          <a:xfrm>
            <a:off x="1223667" y="6494915"/>
            <a:ext cx="2972417" cy="369332"/>
          </a:xfrm>
          <a:prstGeom prst="rect">
            <a:avLst/>
          </a:prstGeom>
          <a:noFill/>
        </p:spPr>
        <p:txBody>
          <a:bodyPr wrap="none" rtlCol="0">
            <a:spAutoFit/>
          </a:bodyPr>
          <a:lstStyle/>
          <a:p>
            <a:r>
              <a:rPr lang="en-US" dirty="0"/>
              <a:t>prompt</a:t>
            </a:r>
            <a:r>
              <a:rPr lang="en-US" altLang="zh-CN" dirty="0"/>
              <a:t>:</a:t>
            </a:r>
            <a:r>
              <a:rPr lang="zh-CN" altLang="en-US" dirty="0"/>
              <a:t> </a:t>
            </a:r>
            <a:r>
              <a:rPr lang="en-US" altLang="zh-CN" dirty="0"/>
              <a:t>a</a:t>
            </a:r>
            <a:r>
              <a:rPr lang="zh-CN" altLang="en-US" dirty="0"/>
              <a:t> </a:t>
            </a:r>
            <a:r>
              <a:rPr lang="en-US" altLang="zh-CN" dirty="0"/>
              <a:t>cat</a:t>
            </a:r>
            <a:r>
              <a:rPr lang="zh-CN" altLang="en-US" dirty="0"/>
              <a:t> </a:t>
            </a:r>
            <a:r>
              <a:rPr lang="en-US" altLang="zh-CN" dirty="0"/>
              <a:t>next</a:t>
            </a:r>
            <a:r>
              <a:rPr lang="zh-CN" altLang="en-US" dirty="0"/>
              <a:t> </a:t>
            </a:r>
            <a:r>
              <a:rPr lang="en-US" altLang="zh-CN" dirty="0"/>
              <a:t>to</a:t>
            </a:r>
            <a:r>
              <a:rPr lang="zh-CN" altLang="en-US" dirty="0"/>
              <a:t> </a:t>
            </a:r>
            <a:r>
              <a:rPr lang="en-US" altLang="zh-CN" dirty="0"/>
              <a:t>a</a:t>
            </a:r>
            <a:r>
              <a:rPr lang="zh-CN" altLang="en-US" dirty="0"/>
              <a:t> </a:t>
            </a:r>
            <a:r>
              <a:rPr lang="en-US" altLang="zh-CN" dirty="0"/>
              <a:t>mirror</a:t>
            </a:r>
            <a:endParaRPr lang="en-US" dirty="0"/>
          </a:p>
        </p:txBody>
      </p:sp>
      <p:sp>
        <p:nvSpPr>
          <p:cNvPr id="7" name="TextBox 6"/>
          <p:cNvSpPr txBox="1"/>
          <p:nvPr/>
        </p:nvSpPr>
        <p:spPr>
          <a:xfrm>
            <a:off x="5459333" y="6431696"/>
            <a:ext cx="2280920" cy="645160"/>
          </a:xfrm>
          <a:prstGeom prst="rect">
            <a:avLst/>
          </a:prstGeom>
          <a:noFill/>
        </p:spPr>
        <p:txBody>
          <a:bodyPr wrap="none" rtlCol="0">
            <a:spAutoFit/>
          </a:bodyPr>
          <a:lstStyle/>
          <a:p>
            <a:pPr algn="ctr"/>
            <a:r>
              <a:rPr lang="en-US" altLang="zh-CN" dirty="0"/>
              <a:t>a</a:t>
            </a:r>
            <a:r>
              <a:rPr lang="zh-CN" altLang="en-US" dirty="0"/>
              <a:t> </a:t>
            </a:r>
            <a:r>
              <a:rPr lang="en-US" altLang="zh-CN" dirty="0"/>
              <a:t>tiger</a:t>
            </a:r>
            <a:r>
              <a:rPr lang="zh-CN" altLang="en-US" dirty="0"/>
              <a:t> </a:t>
            </a:r>
            <a:r>
              <a:rPr lang="en-US" altLang="zh-CN" dirty="0"/>
              <a:t>next</a:t>
            </a:r>
            <a:r>
              <a:rPr lang="zh-CN" altLang="en-US" dirty="0"/>
              <a:t> </a:t>
            </a:r>
            <a:r>
              <a:rPr lang="en-US" altLang="zh-CN" dirty="0"/>
              <a:t>to</a:t>
            </a:r>
            <a:r>
              <a:rPr lang="zh-CN" altLang="en-US" dirty="0"/>
              <a:t> </a:t>
            </a:r>
            <a:r>
              <a:rPr lang="en-US" altLang="zh-CN" dirty="0"/>
              <a:t>a</a:t>
            </a:r>
            <a:r>
              <a:rPr lang="zh-CN" altLang="en-US" dirty="0"/>
              <a:t> </a:t>
            </a:r>
            <a:r>
              <a:rPr lang="en-US" altLang="zh-CN" dirty="0"/>
              <a:t>mirror</a:t>
            </a:r>
            <a:endParaRPr lang="en-US" altLang="zh-CN" dirty="0"/>
          </a:p>
          <a:p>
            <a:pPr algn="ctr"/>
            <a:endParaRPr lang="en-US"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8480" y="4078982"/>
            <a:ext cx="1863297" cy="1890833"/>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1480" y="4079240"/>
            <a:ext cx="1900555" cy="1900555"/>
          </a:xfrm>
          <a:prstGeom prst="rect">
            <a:avLst/>
          </a:prstGeom>
        </p:spPr>
      </p:pic>
      <p:sp>
        <p:nvSpPr>
          <p:cNvPr id="8" name="文本框 7"/>
          <p:cNvSpPr txBox="1"/>
          <p:nvPr/>
        </p:nvSpPr>
        <p:spPr>
          <a:xfrm>
            <a:off x="9319895" y="4645660"/>
            <a:ext cx="4064000" cy="953135"/>
          </a:xfrm>
          <a:prstGeom prst="rect">
            <a:avLst/>
          </a:prstGeom>
          <a:noFill/>
        </p:spPr>
        <p:txBody>
          <a:bodyPr wrap="square" rtlCol="0">
            <a:spAutoFit/>
          </a:bodyPr>
          <a:p>
            <a:r>
              <a:rPr lang="zh-CN" altLang="en-US" sz="2800">
                <a:solidFill>
                  <a:srgbClr val="FF0000"/>
                </a:solidFill>
              </a:rPr>
              <a:t>通用性较强</a:t>
            </a:r>
            <a:endParaRPr lang="zh-CN" altLang="en-US" sz="2800">
              <a:solidFill>
                <a:srgbClr val="FF0000"/>
              </a:solidFill>
            </a:endParaRPr>
          </a:p>
          <a:p>
            <a:r>
              <a:rPr lang="zh-CN" altLang="en-US" sz="2800">
                <a:solidFill>
                  <a:srgbClr val="FF0000"/>
                </a:solidFill>
              </a:rPr>
              <a:t>个性化不足！</a:t>
            </a:r>
            <a:endParaRPr lang="zh-CN" altLang="en-US" sz="2800">
              <a:solidFill>
                <a:srgbClr val="FF0000"/>
              </a:solidFil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322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（一）课题背景介绍</a:t>
            </a:r>
            <a:endPar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latin typeface="Times New Roman" panose="02020603050405020304" pitchFamily="18" charset="0"/>
                <a:cs typeface="Times New Roman" panose="02020603050405020304" pitchFamily="18" charset="0"/>
              </a:rPr>
              <a:t>5</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628650" y="1645285"/>
            <a:ext cx="10841355" cy="2365375"/>
          </a:xfrm>
          <a:prstGeom prst="rect">
            <a:avLst/>
          </a:prstGeom>
          <a:noFill/>
        </p:spPr>
        <p:txBody>
          <a:bodyPr wrap="square" rtlCol="0">
            <a:noAutofit/>
          </a:bodyPr>
          <a:lstStyle/>
          <a:p>
            <a:pPr marL="285750" indent="-285750">
              <a:buFont typeface="Arial" panose="020B0604020202020204" pitchFamily="34" charset="0"/>
              <a:buChar char="•"/>
            </a:pPr>
            <a:r>
              <a:rPr lang="zh-CN" altLang="en-US" dirty="0"/>
              <a:t>为何会出现</a:t>
            </a:r>
            <a:r>
              <a:rPr lang="en-US" altLang="zh-CN" dirty="0"/>
              <a:t>“</a:t>
            </a:r>
            <a:r>
              <a:rPr lang="zh-CN" altLang="en-US" dirty="0"/>
              <a:t>图不达意</a:t>
            </a:r>
            <a:r>
              <a:rPr lang="en-US" altLang="zh-CN" dirty="0"/>
              <a:t>”</a:t>
            </a:r>
            <a:r>
              <a:rPr lang="zh-CN" altLang="en-US" dirty="0"/>
              <a:t>？因为现有图片</a:t>
            </a:r>
            <a:r>
              <a:rPr lang="zh-CN" altLang="en-US" dirty="0"/>
              <a:t>生成主要依赖</a:t>
            </a:r>
            <a:r>
              <a:rPr lang="zh-CN" altLang="en-US" b="1" dirty="0"/>
              <a:t>文本提示（</a:t>
            </a:r>
            <a:r>
              <a:rPr lang="en-US" altLang="zh-CN" b="1" dirty="0"/>
              <a:t>Text Prompt</a:t>
            </a:r>
            <a:r>
              <a:rPr lang="zh-CN" altLang="en-US" b="1" dirty="0"/>
              <a:t>）</a:t>
            </a:r>
            <a:r>
              <a:rPr lang="zh-CN" altLang="en-US" dirty="0"/>
              <a:t>作为输入。但语言本身在描述复杂视觉概念时存在天然的</a:t>
            </a:r>
            <a:r>
              <a:rPr lang="zh-CN" altLang="en-US" dirty="0">
                <a:solidFill>
                  <a:srgbClr val="FF0000"/>
                </a:solidFill>
              </a:rPr>
              <a:t>模糊性和局限性</a:t>
            </a:r>
            <a:r>
              <a:rPr lang="zh-CN" altLang="en-US" dirty="0"/>
              <a:t>。用户往往难以用纯粹的文字准确、详尽地勾勒出特定对象的精细结构、独特光影、微妙的艺术风格，或是复杂的场景关系。</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因此，本项目着眼于此，旨在探索一种基于扩散模型注意力图的个性化图像编辑方法，通过引入用户提供的</a:t>
            </a:r>
            <a:r>
              <a:rPr lang="zh-CN" altLang="en-US" dirty="0">
                <a:highlight>
                  <a:srgbClr val="FFFF00"/>
                </a:highlight>
              </a:rPr>
              <a:t>参考图像作为视觉引导</a:t>
            </a:r>
            <a:r>
              <a:rPr lang="zh-CN" altLang="en-US" dirty="0"/>
              <a:t>，实现对目标图像的</a:t>
            </a:r>
            <a:r>
              <a:rPr lang="zh-CN" altLang="en-US" dirty="0">
                <a:solidFill>
                  <a:schemeClr val="tx1"/>
                </a:solidFill>
                <a:highlight>
                  <a:srgbClr val="FFFF00"/>
                </a:highlight>
              </a:rPr>
              <a:t>精细化、个性化编辑</a:t>
            </a:r>
            <a:r>
              <a:rPr lang="zh-CN" altLang="en-US" dirty="0"/>
              <a:t>，例如</a:t>
            </a:r>
            <a:r>
              <a:rPr lang="zh-CN" altLang="en-US" dirty="0">
                <a:solidFill>
                  <a:srgbClr val="FF0000"/>
                </a:solidFill>
              </a:rPr>
              <a:t>保留特定背景</a:t>
            </a:r>
            <a:r>
              <a:rPr lang="zh-CN" altLang="en-US" dirty="0"/>
              <a:t>、</a:t>
            </a:r>
            <a:r>
              <a:rPr lang="zh-CN" altLang="en-US" dirty="0">
                <a:solidFill>
                  <a:srgbClr val="FF0000"/>
                </a:solidFill>
              </a:rPr>
              <a:t>提取并迁移具有独特风格的主体</a:t>
            </a:r>
            <a:r>
              <a:rPr lang="zh-CN" altLang="en-US" dirty="0"/>
              <a:t>，从而让图像编辑更加直观、真实。用户需要的不仅仅是</a:t>
            </a:r>
            <a:r>
              <a:rPr lang="en-US" altLang="zh-CN" dirty="0"/>
              <a:t>“</a:t>
            </a:r>
            <a:r>
              <a:rPr lang="zh-CN" altLang="en-US" dirty="0"/>
              <a:t>生成</a:t>
            </a:r>
            <a:r>
              <a:rPr lang="en-US" altLang="zh-CN" dirty="0"/>
              <a:t>”</a:t>
            </a:r>
            <a:r>
              <a:rPr lang="zh-CN" altLang="en-US" dirty="0"/>
              <a:t>，更是</a:t>
            </a:r>
            <a:r>
              <a:rPr lang="en-US" altLang="zh-CN" dirty="0"/>
              <a:t>“</a:t>
            </a:r>
            <a:r>
              <a:rPr lang="zh-CN" altLang="en-US" dirty="0"/>
              <a:t>随心所欲地编辑和创造</a:t>
            </a:r>
            <a:r>
              <a:rPr lang="en-US" altLang="zh-CN" dirty="0"/>
              <a:t>”</a:t>
            </a:r>
            <a:r>
              <a:rPr lang="zh-CN" altLang="en-US" dirty="0"/>
              <a:t>。</a:t>
            </a:r>
            <a:endParaRPr lang="zh-CN" altLang="en-US" dirty="0"/>
          </a:p>
        </p:txBody>
      </p:sp>
      <p:sp>
        <p:nvSpPr>
          <p:cNvPr id="7" name="TextBox 6"/>
          <p:cNvSpPr txBox="1"/>
          <p:nvPr/>
        </p:nvSpPr>
        <p:spPr>
          <a:xfrm>
            <a:off x="5446785" y="6029106"/>
            <a:ext cx="2306016" cy="646331"/>
          </a:xfrm>
          <a:prstGeom prst="rect">
            <a:avLst/>
          </a:prstGeom>
          <a:noFill/>
        </p:spPr>
        <p:txBody>
          <a:bodyPr wrap="none" rtlCol="0">
            <a:spAutoFit/>
          </a:bodyPr>
          <a:lstStyle/>
          <a:p>
            <a:pPr algn="ctr"/>
            <a:r>
              <a:rPr lang="en-US" altLang="zh-CN" dirty="0"/>
              <a:t>a</a:t>
            </a:r>
            <a:r>
              <a:rPr lang="zh-CN" altLang="en-US" dirty="0"/>
              <a:t> </a:t>
            </a:r>
            <a:r>
              <a:rPr lang="en-US" altLang="zh-CN" dirty="0"/>
              <a:t>tiger</a:t>
            </a:r>
            <a:r>
              <a:rPr lang="zh-CN" altLang="en-US" dirty="0"/>
              <a:t> </a:t>
            </a:r>
            <a:r>
              <a:rPr lang="en-US" altLang="zh-CN" dirty="0"/>
              <a:t>next</a:t>
            </a:r>
            <a:r>
              <a:rPr lang="zh-CN" altLang="en-US" dirty="0"/>
              <a:t> </a:t>
            </a:r>
            <a:r>
              <a:rPr lang="en-US" altLang="zh-CN" dirty="0"/>
              <a:t>to</a:t>
            </a:r>
            <a:r>
              <a:rPr lang="zh-CN" altLang="en-US" dirty="0"/>
              <a:t> </a:t>
            </a:r>
            <a:r>
              <a:rPr lang="en-US" altLang="zh-CN" dirty="0"/>
              <a:t>a</a:t>
            </a:r>
            <a:r>
              <a:rPr lang="zh-CN" altLang="en-US" dirty="0"/>
              <a:t> </a:t>
            </a:r>
            <a:r>
              <a:rPr lang="en-US" altLang="zh-CN" dirty="0"/>
              <a:t>mirror</a:t>
            </a:r>
            <a:endParaRPr lang="en-US" altLang="zh-CN" dirty="0"/>
          </a:p>
          <a:p>
            <a:pPr algn="ctr"/>
            <a:r>
              <a:rPr lang="en-US" altLang="zh-CN" dirty="0"/>
              <a:t>stable</a:t>
            </a:r>
            <a:r>
              <a:rPr lang="zh-CN" altLang="en-US" dirty="0"/>
              <a:t> </a:t>
            </a:r>
            <a:r>
              <a:rPr lang="en-US" altLang="zh-CN" dirty="0"/>
              <a:t>diffusion</a:t>
            </a:r>
            <a:r>
              <a:rPr lang="zh-CN" altLang="en-US" dirty="0"/>
              <a:t> </a:t>
            </a:r>
            <a:endParaRPr lang="en-US" dirty="0"/>
          </a:p>
        </p:txBody>
      </p:sp>
      <p:pic>
        <p:nvPicPr>
          <p:cNvPr id="9" name="Picture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898480" y="4078982"/>
            <a:ext cx="1863297" cy="1890833"/>
          </a:xfrm>
          <a:prstGeom prst="rect">
            <a:avLst/>
          </a:prstGeom>
        </p:spPr>
      </p:pic>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1480" y="4079240"/>
            <a:ext cx="1900555" cy="1900555"/>
          </a:xfrm>
          <a:prstGeom prst="rect">
            <a:avLst/>
          </a:prstGeom>
        </p:spPr>
      </p:pic>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50474"/>
          <a:stretch>
            <a:fillRect/>
          </a:stretch>
        </p:blipFill>
        <p:spPr>
          <a:xfrm>
            <a:off x="9355455" y="4078605"/>
            <a:ext cx="1901190" cy="1900555"/>
          </a:xfrm>
          <a:prstGeom prst="rect">
            <a:avLst/>
          </a:prstGeom>
        </p:spPr>
      </p:pic>
      <p:sp>
        <p:nvSpPr>
          <p:cNvPr id="15" name="TextBox 14"/>
          <p:cNvSpPr txBox="1"/>
          <p:nvPr/>
        </p:nvSpPr>
        <p:spPr>
          <a:xfrm>
            <a:off x="9003594" y="6045616"/>
            <a:ext cx="2306016" cy="646331"/>
          </a:xfrm>
          <a:prstGeom prst="rect">
            <a:avLst/>
          </a:prstGeom>
          <a:noFill/>
        </p:spPr>
        <p:txBody>
          <a:bodyPr wrap="none" rtlCol="0">
            <a:spAutoFit/>
          </a:bodyPr>
          <a:lstStyle/>
          <a:p>
            <a:pPr algn="ctr"/>
            <a:r>
              <a:rPr lang="en-US" altLang="zh-CN" dirty="0"/>
              <a:t>a</a:t>
            </a:r>
            <a:r>
              <a:rPr lang="zh-CN" altLang="en-US" dirty="0"/>
              <a:t> </a:t>
            </a:r>
            <a:r>
              <a:rPr lang="en-US" altLang="zh-CN" dirty="0"/>
              <a:t>tiger</a:t>
            </a:r>
            <a:r>
              <a:rPr lang="zh-CN" altLang="en-US" dirty="0"/>
              <a:t> </a:t>
            </a:r>
            <a:r>
              <a:rPr lang="en-US" altLang="zh-CN" dirty="0"/>
              <a:t>next</a:t>
            </a:r>
            <a:r>
              <a:rPr lang="zh-CN" altLang="en-US" dirty="0"/>
              <a:t> </a:t>
            </a:r>
            <a:r>
              <a:rPr lang="en-US" altLang="zh-CN" dirty="0"/>
              <a:t>to</a:t>
            </a:r>
            <a:r>
              <a:rPr lang="zh-CN" altLang="en-US" dirty="0"/>
              <a:t> </a:t>
            </a:r>
            <a:r>
              <a:rPr lang="en-US" altLang="zh-CN" dirty="0"/>
              <a:t>a</a:t>
            </a:r>
            <a:r>
              <a:rPr lang="zh-CN" altLang="en-US" dirty="0"/>
              <a:t> </a:t>
            </a:r>
            <a:r>
              <a:rPr lang="en-US" altLang="zh-CN" dirty="0"/>
              <a:t>mirror</a:t>
            </a:r>
            <a:endParaRPr lang="en-US" altLang="zh-CN" dirty="0"/>
          </a:p>
          <a:p>
            <a:pPr algn="ctr"/>
            <a:r>
              <a:rPr lang="en-US" altLang="zh-CN" dirty="0"/>
              <a:t>ours</a:t>
            </a:r>
            <a:endParaRPr lang="en-US" dirty="0"/>
          </a:p>
        </p:txBody>
      </p:sp>
      <p:graphicFrame>
        <p:nvGraphicFramePr>
          <p:cNvPr id="2" name="表格 1"/>
          <p:cNvGraphicFramePr/>
          <p:nvPr>
            <p:custDataLst>
              <p:tags r:id="rId4"/>
            </p:custDataLst>
          </p:nvPr>
        </p:nvGraphicFramePr>
        <p:xfrm>
          <a:off x="4196080" y="6057900"/>
          <a:ext cx="7654925" cy="731520"/>
        </p:xfrm>
        <a:graphic>
          <a:graphicData uri="http://schemas.openxmlformats.org/drawingml/2006/table">
            <a:tbl>
              <a:tblPr firstRow="1" bandRow="1">
                <a:tableStyleId>{5C22544A-7EE6-4342-B048-85BDC9FD1C3A}</a:tableStyleId>
              </a:tblPr>
              <a:tblGrid>
                <a:gridCol w="1110615"/>
                <a:gridCol w="3538220"/>
                <a:gridCol w="3006090"/>
              </a:tblGrid>
              <a:tr h="365760">
                <a:tc>
                  <a:txBody>
                    <a:bodyPr/>
                    <a:p>
                      <a:pPr>
                        <a:buNone/>
                      </a:pPr>
                      <a:r>
                        <a:rPr lang="en-US" altLang="zh-CN"/>
                        <a:t>prompt</a:t>
                      </a:r>
                      <a:endParaRPr lang="en-US" altLang="zh-CN"/>
                    </a:p>
                  </a:txBody>
                  <a:tcPr/>
                </a:tc>
                <a:tc gridSpan="2">
                  <a:txBody>
                    <a:bodyPr/>
                    <a:p>
                      <a:pPr algn="ctr">
                        <a:buNone/>
                      </a:pPr>
                      <a:r>
                        <a:rPr lang="en-US" altLang="zh-CN"/>
                        <a:t>a tiger next to a mirror</a:t>
                      </a:r>
                      <a:endParaRPr lang="en-US" altLang="zh-CN"/>
                    </a:p>
                  </a:txBody>
                  <a:tcPr/>
                </a:tc>
                <a:tc hMerge="1">
                  <a:tcPr/>
                </a:tc>
              </a:tr>
              <a:tr h="365760">
                <a:tc>
                  <a:txBody>
                    <a:bodyPr/>
                    <a:p>
                      <a:pPr>
                        <a:buNone/>
                      </a:pPr>
                      <a:r>
                        <a:rPr lang="en-US" altLang="zh-CN"/>
                        <a:t>method</a:t>
                      </a:r>
                      <a:endParaRPr lang="en-US" altLang="zh-CN"/>
                    </a:p>
                  </a:txBody>
                  <a:tcPr/>
                </a:tc>
                <a:tc>
                  <a:txBody>
                    <a:bodyPr/>
                    <a:p>
                      <a:pPr algn="ctr">
                        <a:buNone/>
                      </a:pPr>
                      <a:r>
                        <a:rPr lang="en-US" altLang="zh-CN"/>
                        <a:t>stable diffusion</a:t>
                      </a:r>
                      <a:endParaRPr lang="en-US" altLang="zh-CN"/>
                    </a:p>
                  </a:txBody>
                  <a:tcPr/>
                </a:tc>
                <a:tc>
                  <a:txBody>
                    <a:bodyPr/>
                    <a:p>
                      <a:pPr algn="ctr">
                        <a:buNone/>
                      </a:pPr>
                      <a:r>
                        <a:rPr lang="en-US" altLang="zh-CN"/>
                        <a:t>ours</a:t>
                      </a:r>
                      <a:endParaRPr lang="en-US" altLang="zh-CN"/>
                    </a:p>
                  </a:txBody>
                  <a:tcPr/>
                </a:tc>
              </a:tr>
            </a:tbl>
          </a:graphicData>
        </a:graphic>
      </p:graphicFrame>
      <p:sp>
        <p:nvSpPr>
          <p:cNvPr id="8" name="文本框 7"/>
          <p:cNvSpPr txBox="1"/>
          <p:nvPr/>
        </p:nvSpPr>
        <p:spPr>
          <a:xfrm>
            <a:off x="8482965" y="167005"/>
            <a:ext cx="2247265" cy="1383665"/>
          </a:xfrm>
          <a:prstGeom prst="rect">
            <a:avLst/>
          </a:prstGeom>
          <a:noFill/>
        </p:spPr>
        <p:txBody>
          <a:bodyPr wrap="square" rtlCol="0">
            <a:spAutoFit/>
          </a:bodyPr>
          <a:p>
            <a:pPr algn="ctr"/>
            <a:r>
              <a:rPr lang="zh-CN" altLang="en-US" sz="2800">
                <a:solidFill>
                  <a:srgbClr val="FF0000"/>
                </a:solidFill>
              </a:rPr>
              <a:t>更直观</a:t>
            </a:r>
            <a:endParaRPr lang="zh-CN" altLang="en-US" sz="2800">
              <a:solidFill>
                <a:srgbClr val="FF0000"/>
              </a:solidFill>
            </a:endParaRPr>
          </a:p>
          <a:p>
            <a:pPr algn="ctr"/>
            <a:r>
              <a:rPr lang="zh-CN" altLang="en-US" sz="2800">
                <a:solidFill>
                  <a:srgbClr val="FF0000"/>
                </a:solidFill>
              </a:rPr>
              <a:t>更精准</a:t>
            </a:r>
            <a:endParaRPr lang="zh-CN" altLang="en-US" sz="2800">
              <a:solidFill>
                <a:srgbClr val="FF0000"/>
              </a:solidFill>
            </a:endParaRPr>
          </a:p>
          <a:p>
            <a:pPr algn="ctr"/>
            <a:r>
              <a:rPr lang="zh-CN" altLang="en-US" sz="2800">
                <a:solidFill>
                  <a:srgbClr val="FF0000"/>
                </a:solidFill>
              </a:rPr>
              <a:t>更个性化</a:t>
            </a:r>
            <a:endParaRPr lang="zh-CN" altLang="en-US" sz="2800">
              <a:solidFill>
                <a:srgbClr val="FF0000"/>
              </a:solidFill>
            </a:endParaRPr>
          </a:p>
        </p:txBody>
      </p:sp>
      <p:pic>
        <p:nvPicPr>
          <p:cNvPr id="11" name="Picture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5647" y="3970282"/>
            <a:ext cx="2428458" cy="2461611"/>
          </a:xfrm>
          <a:prstGeom prst="rect">
            <a:avLst/>
          </a:prstGeom>
        </p:spPr>
      </p:pic>
      <p:sp>
        <p:nvSpPr>
          <p:cNvPr id="13" name="TextBox 5"/>
          <p:cNvSpPr txBox="1"/>
          <p:nvPr/>
        </p:nvSpPr>
        <p:spPr>
          <a:xfrm>
            <a:off x="1223667" y="6494915"/>
            <a:ext cx="2972417" cy="369332"/>
          </a:xfrm>
          <a:prstGeom prst="rect">
            <a:avLst/>
          </a:prstGeom>
          <a:noFill/>
        </p:spPr>
        <p:txBody>
          <a:bodyPr wrap="none" rtlCol="0">
            <a:spAutoFit/>
          </a:bodyPr>
          <a:p>
            <a:r>
              <a:rPr lang="en-US" dirty="0"/>
              <a:t>prompt</a:t>
            </a:r>
            <a:r>
              <a:rPr lang="en-US" altLang="zh-CN" dirty="0"/>
              <a:t>:</a:t>
            </a:r>
            <a:r>
              <a:rPr lang="zh-CN" altLang="en-US" dirty="0"/>
              <a:t> </a:t>
            </a:r>
            <a:r>
              <a:rPr lang="en-US" altLang="zh-CN" dirty="0"/>
              <a:t>a</a:t>
            </a:r>
            <a:r>
              <a:rPr lang="zh-CN" altLang="en-US" dirty="0"/>
              <a:t> </a:t>
            </a:r>
            <a:r>
              <a:rPr lang="en-US" altLang="zh-CN" dirty="0"/>
              <a:t>cat</a:t>
            </a:r>
            <a:r>
              <a:rPr lang="zh-CN" altLang="en-US" dirty="0"/>
              <a:t> </a:t>
            </a:r>
            <a:r>
              <a:rPr lang="en-US" altLang="zh-CN" dirty="0"/>
              <a:t>next</a:t>
            </a:r>
            <a:r>
              <a:rPr lang="zh-CN" altLang="en-US" dirty="0"/>
              <a:t> </a:t>
            </a:r>
            <a:r>
              <a:rPr lang="en-US" altLang="zh-CN" dirty="0"/>
              <a:t>to</a:t>
            </a:r>
            <a:r>
              <a:rPr lang="zh-CN" altLang="en-US" dirty="0"/>
              <a:t> </a:t>
            </a:r>
            <a:r>
              <a:rPr lang="en-US" altLang="zh-CN" dirty="0"/>
              <a:t>a</a:t>
            </a:r>
            <a:r>
              <a:rPr lang="zh-CN" altLang="en-US" dirty="0"/>
              <a:t> </a:t>
            </a:r>
            <a:r>
              <a:rPr lang="en-US" altLang="zh-CN" dirty="0"/>
              <a:t>mirror</a:t>
            </a:r>
            <a:endParaRPr lang="en-US"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（二）相关</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工作</a:t>
            </a:r>
            <a:endPar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latin typeface="Times New Roman" panose="02020603050405020304" pitchFamily="18" charset="0"/>
                <a:cs typeface="Times New Roman" panose="02020603050405020304" pitchFamily="18" charset="0"/>
              </a:rPr>
              <a:t>5</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628452" y="1749966"/>
            <a:ext cx="10067901" cy="286131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为了实现更精细的图像控制，前人的</a:t>
            </a:r>
            <a:r>
              <a:rPr lang="zh-CN" altLang="en-US" dirty="0"/>
              <a:t>工作已经进行了诸多探索。例如，传统的风格迁移方法侧重于将参考图的</a:t>
            </a:r>
            <a:r>
              <a:rPr lang="zh-CN" altLang="en-US" dirty="0">
                <a:solidFill>
                  <a:srgbClr val="FF0000"/>
                </a:solidFill>
              </a:rPr>
              <a:t>整体艺术风格</a:t>
            </a:r>
            <a:r>
              <a:rPr lang="zh-CN" altLang="en-US" dirty="0"/>
              <a:t>赋予目标图；一些外观迁移技术则尝试通过</a:t>
            </a:r>
            <a:r>
              <a:rPr lang="zh-CN" altLang="en-US" dirty="0">
                <a:solidFill>
                  <a:srgbClr val="FF0000"/>
                </a:solidFill>
              </a:rPr>
              <a:t>匹配语义区域</a:t>
            </a:r>
            <a:r>
              <a:rPr lang="zh-CN" altLang="en-US" dirty="0"/>
              <a:t>来传递纹理。</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dirty="0"/>
              <a:t>然而，这些方法在实现深度个性化和处理复杂几何、语义关系时，仍存在瓶颈：</a:t>
            </a:r>
            <a:endParaRPr lang="zh-CN" altLang="en-US" dirty="0"/>
          </a:p>
          <a:p>
            <a:pPr marL="742950" lvl="1" indent="-285750">
              <a:buFont typeface="Arial" panose="020B0604020202020204" pitchFamily="34" charset="0"/>
              <a:buChar char="•"/>
            </a:pPr>
            <a:r>
              <a:rPr lang="zh-CN" altLang="en-US" dirty="0"/>
              <a:t>外观迁移的</a:t>
            </a:r>
            <a:r>
              <a:rPr lang="en-US" altLang="zh-CN" dirty="0"/>
              <a:t>“</a:t>
            </a:r>
            <a:r>
              <a:rPr lang="zh-CN" altLang="en-US" dirty="0"/>
              <a:t>浅尝辄止</a:t>
            </a:r>
            <a:r>
              <a:rPr lang="en-US" altLang="zh-CN" dirty="0"/>
              <a:t>”</a:t>
            </a:r>
            <a:r>
              <a:rPr lang="zh-CN" altLang="en-US" dirty="0"/>
              <a:t>：</a:t>
            </a:r>
            <a:r>
              <a:rPr lang="en-US" altLang="zh-CN" dirty="0"/>
              <a:t> </a:t>
            </a:r>
            <a:r>
              <a:rPr lang="zh-CN" altLang="en-US" dirty="0"/>
              <a:t>大多技术仍局限于相对表层的纹理或风格复制，难以捕捉和迁移主体对象更深层次的</a:t>
            </a:r>
            <a:r>
              <a:rPr lang="zh-CN" altLang="en-US" dirty="0">
                <a:highlight>
                  <a:srgbClr val="FFFF00"/>
                </a:highlight>
              </a:rPr>
              <a:t>复杂几何结构</a:t>
            </a:r>
            <a:r>
              <a:rPr lang="zh-CN" altLang="en-US" dirty="0"/>
              <a:t>（如镜像关系，阴影</a:t>
            </a:r>
            <a:r>
              <a:rPr lang="zh-CN" altLang="en-US" dirty="0"/>
              <a:t>关系）。</a:t>
            </a:r>
            <a:endParaRPr lang="zh-CN" altLang="en-US" dirty="0"/>
          </a:p>
          <a:p>
            <a:pPr marL="742950" lvl="1" indent="-285750">
              <a:buFont typeface="Arial" panose="020B0604020202020204" pitchFamily="34" charset="0"/>
              <a:buChar char="•"/>
            </a:pPr>
            <a:r>
              <a:rPr lang="zh-CN" altLang="en-US" dirty="0"/>
              <a:t>扩散模型的</a:t>
            </a:r>
            <a:r>
              <a:rPr lang="en-US" altLang="zh-CN" dirty="0"/>
              <a:t>“</a:t>
            </a:r>
            <a:r>
              <a:rPr lang="zh-CN" altLang="en-US" dirty="0"/>
              <a:t>个性化难题</a:t>
            </a:r>
            <a:r>
              <a:rPr lang="en-US" altLang="zh-CN" dirty="0"/>
              <a:t>”</a:t>
            </a:r>
            <a:r>
              <a:rPr lang="zh-CN" altLang="en-US" dirty="0"/>
              <a:t>：</a:t>
            </a:r>
            <a:r>
              <a:rPr lang="en-US" altLang="zh-CN" dirty="0"/>
              <a:t> </a:t>
            </a:r>
            <a:r>
              <a:rPr lang="zh-CN" altLang="en-US" dirty="0"/>
              <a:t>在编辑真实图像、引入新主体时，若</a:t>
            </a:r>
            <a:r>
              <a:rPr lang="zh-CN" altLang="en-US" dirty="0">
                <a:highlight>
                  <a:srgbClr val="FFFF00"/>
                </a:highlight>
              </a:rPr>
              <a:t>新主体概念</a:t>
            </a:r>
            <a:r>
              <a:rPr lang="zh-CN" altLang="en-US" dirty="0"/>
              <a:t>未在其预训练的庞大知识库中充分体现，其个性化程度依然受限，难以生成用户提供的、具有独特性的全新概念。</a:t>
            </a:r>
            <a:endParaRPr lang="zh-CN" altLang="en-US" dirty="0"/>
          </a:p>
        </p:txBody>
      </p:sp>
      <p:pic>
        <p:nvPicPr>
          <p:cNvPr id="6" name="图片 5" descr="pic2"/>
          <p:cNvPicPr>
            <a:picLocks noChangeAspect="1"/>
          </p:cNvPicPr>
          <p:nvPr/>
        </p:nvPicPr>
        <p:blipFill>
          <a:blip r:embed="rId1"/>
          <a:stretch>
            <a:fillRect/>
          </a:stretch>
        </p:blipFill>
        <p:spPr>
          <a:xfrm>
            <a:off x="1169035" y="4611370"/>
            <a:ext cx="8987790" cy="204660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二）研究</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意义</a:t>
            </a:r>
            <a:endPar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latin typeface="Times New Roman" panose="02020603050405020304" pitchFamily="18" charset="0"/>
                <a:cs typeface="Times New Roman" panose="02020603050405020304" pitchFamily="18" charset="0"/>
              </a:rPr>
              <a:t>5</a:t>
            </a:r>
            <a:endParaRPr lang="zh-CN" altLang="en-US" dirty="0">
              <a:solidFill>
                <a:schemeClr val="bg1"/>
              </a:solidFill>
              <a:latin typeface="Times New Roman" panose="02020603050405020304" pitchFamily="18" charset="0"/>
              <a:cs typeface="Times New Roman" panose="02020603050405020304" pitchFamily="18" charset="0"/>
            </a:endParaRPr>
          </a:p>
        </p:txBody>
      </p:sp>
      <p:sp>
        <p:nvSpPr>
          <p:cNvPr id="3" name="文本框 2"/>
          <p:cNvSpPr txBox="1"/>
          <p:nvPr/>
        </p:nvSpPr>
        <p:spPr>
          <a:xfrm>
            <a:off x="628452" y="1749966"/>
            <a:ext cx="10067901" cy="3876675"/>
          </a:xfrm>
          <a:prstGeom prst="rect">
            <a:avLst/>
          </a:prstGeom>
          <a:noFill/>
        </p:spPr>
        <p:txBody>
          <a:bodyPr wrap="square" rtlCol="0">
            <a:spAutoFit/>
          </a:bodyPr>
          <a:lstStyle/>
          <a:p>
            <a:pPr marL="285750" indent="-285750">
              <a:buFont typeface="Arial" panose="020B0604020202020204" pitchFamily="34" charset="0"/>
              <a:buChar char="•"/>
            </a:pPr>
            <a:r>
              <a:rPr lang="zh-CN" altLang="en-US" sz="2400" b="1" dirty="0"/>
              <a:t>相关工作</a:t>
            </a:r>
            <a:endParaRPr lang="zh-CN" altLang="en-US" sz="2400" b="1" dirty="0"/>
          </a:p>
          <a:p>
            <a:pPr marL="285750" indent="-285750">
              <a:buFont typeface="Arial" panose="020B0604020202020204" pitchFamily="34" charset="0"/>
              <a:buChar char="•"/>
            </a:pPr>
            <a:r>
              <a:rPr lang="zh-CN" altLang="en-US" dirty="0"/>
              <a:t>相关的风格迁移方法主要关注将参考图像的</a:t>
            </a:r>
            <a:r>
              <a:rPr lang="zh-CN" altLang="en-US" b="1" dirty="0">
                <a:solidFill>
                  <a:srgbClr val="FF0000"/>
                </a:solidFill>
              </a:rPr>
              <a:t>全局艺术风格</a:t>
            </a:r>
            <a:r>
              <a:rPr lang="zh-CN" altLang="en-US" dirty="0"/>
              <a:t>转移到目标图像上。其他方法则通过匹配语义对齐区域实现外观迁移，例如在对应物体之间传递纹理。为了实现更精细的控制，近期的方法致力于传递特定局部区域的外观。尽管取得了这些进展，但此类技术仍局限于低级外观迁移，通常难以</a:t>
            </a:r>
            <a:r>
              <a:rPr lang="zh-CN" altLang="en-US" b="1" dirty="0">
                <a:solidFill>
                  <a:srgbClr val="FF0000"/>
                </a:solidFill>
              </a:rPr>
              <a:t>捕捉复杂的几何关系</a:t>
            </a:r>
            <a:r>
              <a:rPr lang="zh-CN" altLang="en-US" dirty="0"/>
              <a:t>，如镜像关系等</a:t>
            </a:r>
            <a:endParaRPr lang="zh-CN" altLang="en-US" dirty="0"/>
          </a:p>
          <a:p>
            <a:pPr marL="285750" indent="-285750">
              <a:buFont typeface="Arial" panose="020B0604020202020204" pitchFamily="34" charset="0"/>
              <a:buChar char="•"/>
            </a:pPr>
            <a:endParaRPr lang="zh-CN" altLang="en-US" dirty="0"/>
          </a:p>
          <a:p>
            <a:pPr marL="285750" indent="-285750">
              <a:buFont typeface="Arial" panose="020B0604020202020204" pitchFamily="34" charset="0"/>
              <a:buChar char="•"/>
            </a:pPr>
            <a:r>
              <a:rPr lang="zh-CN" altLang="en-US" sz="2400" b="1" dirty="0"/>
              <a:t>项目创新点</a:t>
            </a:r>
            <a:endParaRPr lang="zh-CN" altLang="en-US" sz="2400" b="1" dirty="0"/>
          </a:p>
          <a:p>
            <a:pPr marL="285750" indent="-285750">
              <a:buFont typeface="Arial" panose="020B0604020202020204" pitchFamily="34" charset="0"/>
              <a:buChar char="•"/>
            </a:pPr>
            <a:r>
              <a:rPr lang="zh-CN" altLang="en-US" b="1" dirty="0"/>
              <a:t>少量样本学习</a:t>
            </a:r>
            <a:r>
              <a:rPr lang="zh-CN" altLang="en-US" dirty="0"/>
              <a:t>：仅需三张包含同一主体的图片即可学习到新的主题，显著降低了样本需求，提高了个性化编辑的效率和灵活性。</a:t>
            </a:r>
            <a:endParaRPr lang="zh-CN" altLang="en-US" dirty="0"/>
          </a:p>
          <a:p>
            <a:pPr marL="285750" indent="-285750">
              <a:buFont typeface="Arial" panose="020B0604020202020204" pitchFamily="34" charset="0"/>
              <a:buChar char="•"/>
            </a:pPr>
            <a:r>
              <a:rPr lang="zh-CN" altLang="en-US" b="1" dirty="0"/>
              <a:t>高效背景替换与合成</a:t>
            </a:r>
            <a:r>
              <a:rPr lang="zh-CN" altLang="en-US" dirty="0"/>
              <a:t>：通过优化背景替换和前景提取技术，实现了自然的过渡效果，确保编辑区域与背景的和谐融合。</a:t>
            </a:r>
            <a:endParaRPr lang="zh-CN" altLang="en-US" dirty="0"/>
          </a:p>
          <a:p>
            <a:pPr marL="285750" indent="-285750">
              <a:buFont typeface="Arial" panose="020B0604020202020204" pitchFamily="34" charset="0"/>
              <a:buChar char="•"/>
            </a:pPr>
            <a:r>
              <a:rPr lang="zh-CN" altLang="en-US" b="1" dirty="0"/>
              <a:t>多样化应用场景</a:t>
            </a:r>
            <a:r>
              <a:rPr lang="zh-CN" altLang="en-US" dirty="0"/>
              <a:t>：支持多种图像编辑操作，包括背景保留、前景提取和主体转移，适用于广告制作、虚拟现实等场景，展现了广泛的适用性。</a:t>
            </a:r>
            <a:endParaRPr lang="zh-CN" altLang="en-US"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三）技术</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背景</a:t>
            </a:r>
            <a:endPar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9"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6</a:t>
            </a:r>
            <a:endParaRPr lang="zh-CN" altLang="en-US" dirty="0">
              <a:latin typeface="Times New Roman" panose="02020603050405020304" pitchFamily="18" charset="0"/>
              <a:cs typeface="Times New Roman" panose="02020603050405020304" pitchFamily="18" charset="0"/>
            </a:endParaRPr>
          </a:p>
        </p:txBody>
      </p:sp>
      <p:sp>
        <p:nvSpPr>
          <p:cNvPr id="9" name="文本框 8"/>
          <p:cNvSpPr txBox="1"/>
          <p:nvPr/>
        </p:nvSpPr>
        <p:spPr>
          <a:xfrm>
            <a:off x="2077085" y="1788071"/>
            <a:ext cx="8037830" cy="461665"/>
          </a:xfrm>
          <a:prstGeom prst="rect">
            <a:avLst/>
          </a:prstGeom>
          <a:noFill/>
          <a:ln w="9525">
            <a:noFill/>
          </a:ln>
        </p:spPr>
        <p:txBody>
          <a:bodyPr wrap="square">
            <a:spAutoFit/>
          </a:bodyPr>
          <a:lstStyle/>
          <a:p>
            <a:pPr indent="0" algn="ctr"/>
            <a:r>
              <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基本扩散模型</a:t>
            </a:r>
            <a:endPar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99380" y="2249736"/>
            <a:ext cx="5393240" cy="1530514"/>
          </a:xfrm>
          <a:prstGeom prst="rect">
            <a:avLst/>
          </a:prstGeom>
        </p:spPr>
      </p:pic>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9800" y="2249736"/>
            <a:ext cx="7772400" cy="4369790"/>
          </a:xfrm>
          <a:prstGeom prst="rect">
            <a:avLst/>
          </a:prstGeom>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三）技术</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背景</a:t>
            </a:r>
            <a:endPar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文本框 1"/>
          <p:cNvSpPr txBox="1"/>
          <p:nvPr>
            <p:custDataLst>
              <p:tags r:id="rId1"/>
            </p:custDataLst>
          </p:nvPr>
        </p:nvSpPr>
        <p:spPr>
          <a:xfrm>
            <a:off x="405221" y="2487099"/>
            <a:ext cx="5361098" cy="460570"/>
          </a:xfrm>
          <a:prstGeom prst="rect">
            <a:avLst/>
          </a:prstGeom>
          <a:solidFill>
            <a:srgbClr val="145396"/>
          </a:solidFill>
        </p:spPr>
        <p:txBody>
          <a:bodyPr wrap="square" rtlCol="0" anchor="t">
            <a:noAutofit/>
          </a:bodyPr>
          <a:lstStyle/>
          <a:p>
            <a:pPr indent="0" algn="ctr">
              <a:buFont typeface="Arial" panose="020B0604020202020204" pitchFamily="34" charset="0"/>
              <a:buNone/>
            </a:pPr>
            <a:r>
              <a:rPr lang="en-US" altLang="zh-CN" sz="2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null-text</a:t>
            </a:r>
            <a:r>
              <a:rPr lang="zh-CN" altLang="en-US" sz="2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 </a:t>
            </a:r>
            <a:r>
              <a:rPr lang="en-US" altLang="zh-CN" sz="2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rPr>
              <a:t>inversion</a:t>
            </a:r>
            <a:endParaRPr lang="en-US" altLang="zh-CN" sz="2200" b="1" kern="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
        <p:nvSpPr>
          <p:cNvPr id="9" name="文本框 8"/>
          <p:cNvSpPr txBox="1"/>
          <p:nvPr/>
        </p:nvSpPr>
        <p:spPr>
          <a:xfrm>
            <a:off x="2077085" y="1788071"/>
            <a:ext cx="8037830" cy="461665"/>
          </a:xfrm>
          <a:prstGeom prst="rect">
            <a:avLst/>
          </a:prstGeom>
          <a:noFill/>
          <a:ln w="9525">
            <a:noFill/>
          </a:ln>
        </p:spPr>
        <p:txBody>
          <a:bodyPr wrap="square">
            <a:spAutoFit/>
          </a:bodyPr>
          <a:lstStyle/>
          <a:p>
            <a:pPr indent="0" algn="ctr"/>
            <a:r>
              <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基于扩散模型的研究工作</a:t>
            </a:r>
            <a:endParaRPr lang="zh-CN" altLang="en-US" sz="24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灯片编号占位符 11"/>
          <p:cNvSpPr txBox="1"/>
          <p:nvPr/>
        </p:nvSpPr>
        <p:spPr>
          <a:xfrm>
            <a:off x="11850137" y="649287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solidFill>
                  <a:schemeClr val="bg1"/>
                </a:solidFill>
                <a:latin typeface="Times New Roman" panose="02020603050405020304" pitchFamily="18" charset="0"/>
                <a:cs typeface="Times New Roman" panose="02020603050405020304" pitchFamily="18" charset="0"/>
              </a:rPr>
              <a:t>6</a:t>
            </a:r>
            <a:endParaRPr lang="zh-CN" altLang="en-US" dirty="0">
              <a:solidFill>
                <a:schemeClr val="bg1"/>
              </a:solidFill>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67" y="3089400"/>
            <a:ext cx="6147329" cy="1631456"/>
          </a:xfrm>
          <a:prstGeom prst="rect">
            <a:avLst/>
          </a:prstGeom>
        </p:spPr>
      </p:pic>
      <p:sp>
        <p:nvSpPr>
          <p:cNvPr id="15" name="TextBox 14"/>
          <p:cNvSpPr txBox="1"/>
          <p:nvPr/>
        </p:nvSpPr>
        <p:spPr>
          <a:xfrm>
            <a:off x="674992" y="4868022"/>
            <a:ext cx="7309882" cy="1569660"/>
          </a:xfrm>
          <a:prstGeom prst="rect">
            <a:avLst/>
          </a:prstGeom>
          <a:noFill/>
        </p:spPr>
        <p:txBody>
          <a:bodyPr wrap="square">
            <a:spAutoFit/>
          </a:bodyPr>
          <a:lstStyle/>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扩散模型对于区别</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维持前后景有很好效果</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但对修改所引入的</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新主体</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仍依赖             </a:t>
            </a:r>
            <a:r>
              <a:rPr lang="en-US" altLang="zh-CN" sz="2400" dirty="0">
                <a:latin typeface="微软雅黑" panose="020B0503020204020204" pitchFamily="34" charset="-122"/>
                <a:ea typeface="微软雅黑" panose="020B0503020204020204" pitchFamily="34" charset="-122"/>
              </a:rPr>
              <a:t>stable</a:t>
            </a:r>
            <a:r>
              <a:rPr lang="zh-CN" altLang="en-US" sz="2400" dirty="0">
                <a:latin typeface="微软雅黑" panose="020B0503020204020204" pitchFamily="34" charset="-122"/>
                <a:ea typeface="微软雅黑" panose="020B0503020204020204" pitchFamily="34" charset="-122"/>
              </a:rPr>
              <a:t> </a:t>
            </a:r>
            <a:r>
              <a:rPr lang="en-US" altLang="zh-CN" sz="2400" dirty="0">
                <a:latin typeface="微软雅黑" panose="020B0503020204020204" pitchFamily="34" charset="-122"/>
                <a:ea typeface="微软雅黑" panose="020B0503020204020204" pitchFamily="34" charset="-122"/>
              </a:rPr>
              <a:t>diffusion</a:t>
            </a:r>
            <a:r>
              <a:rPr lang="zh-CN" altLang="en-US" sz="2400" dirty="0">
                <a:latin typeface="微软雅黑" panose="020B0503020204020204" pitchFamily="34" charset="-122"/>
                <a:ea typeface="微软雅黑" panose="020B0503020204020204" pitchFamily="34" charset="-122"/>
              </a:rPr>
              <a:t>库中概念</a:t>
            </a:r>
            <a:endParaRPr lang="en-US" altLang="zh-CN" sz="2400" dirty="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个性化程度仍不够</a:t>
            </a:r>
            <a:endParaRPr lang="en-US" sz="2400" dirty="0"/>
          </a:p>
        </p:txBody>
      </p:sp>
      <p:pic>
        <p:nvPicPr>
          <p:cNvPr id="3" name="图片 2" descr="屏幕截图 2025-04-16 013026"/>
          <p:cNvPicPr>
            <a:picLocks noChangeAspect="1"/>
          </p:cNvPicPr>
          <p:nvPr/>
        </p:nvPicPr>
        <p:blipFill>
          <a:blip r:embed="rId3"/>
          <a:srcRect l="3408"/>
          <a:stretch>
            <a:fillRect/>
          </a:stretch>
        </p:blipFill>
        <p:spPr>
          <a:xfrm>
            <a:off x="6791960" y="2496185"/>
            <a:ext cx="5400040" cy="3718560"/>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论文选题介绍</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四）项目创新</a:t>
            </a:r>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点</a:t>
            </a:r>
            <a:endPar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7" name="组合 16"/>
          <p:cNvGrpSpPr/>
          <p:nvPr/>
        </p:nvGrpSpPr>
        <p:grpSpPr>
          <a:xfrm>
            <a:off x="719880" y="1931353"/>
            <a:ext cx="974725" cy="1009650"/>
            <a:chOff x="1138982" y="2290763"/>
            <a:chExt cx="974725" cy="1009650"/>
          </a:xfrm>
        </p:grpSpPr>
        <p:sp>
          <p:nvSpPr>
            <p:cNvPr id="4" name="MH_Other_1"/>
            <p:cNvSpPr/>
            <p:nvPr>
              <p:custDataLst>
                <p:tags r:id="rId1"/>
              </p:custDataLst>
            </p:nvPr>
          </p:nvSpPr>
          <p:spPr>
            <a:xfrm>
              <a:off x="1273919" y="2430463"/>
              <a:ext cx="704850" cy="73025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FFFF"/>
                </a:solidFill>
              </a:endParaRPr>
            </a:p>
          </p:txBody>
        </p:sp>
        <p:sp>
          <p:nvSpPr>
            <p:cNvPr id="2" name="MH_Other_2"/>
            <p:cNvSpPr/>
            <p:nvPr>
              <p:custDataLst>
                <p:tags r:id="rId2"/>
              </p:custDataLst>
            </p:nvPr>
          </p:nvSpPr>
          <p:spPr>
            <a:xfrm>
              <a:off x="1138982" y="2290763"/>
              <a:ext cx="974725" cy="1009650"/>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sp>
          <p:nvSpPr>
            <p:cNvPr id="12" name="MH_Other_5"/>
            <p:cNvSpPr/>
            <p:nvPr>
              <p:custDataLst>
                <p:tags r:id="rId3"/>
              </p:custDataLst>
            </p:nvPr>
          </p:nvSpPr>
          <p:spPr bwMode="auto">
            <a:xfrm>
              <a:off x="1421557" y="2600326"/>
              <a:ext cx="398463" cy="396875"/>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chemeClr val="accent2"/>
            </a:solidFill>
            <a:ln>
              <a:noFill/>
            </a:ln>
          </p:spPr>
          <p:txBody>
            <a:bodyPr anchor="ctr">
              <a:scene3d>
                <a:camera prst="orthographicFront"/>
                <a:lightRig rig="threePt" dir="t"/>
              </a:scene3d>
              <a:sp3d>
                <a:contourClr>
                  <a:srgbClr val="FFFFFF"/>
                </a:contourClr>
              </a:sp3d>
            </a:bodyPr>
            <a:p>
              <a:pPr algn="ctr">
                <a:defRPr/>
              </a:pPr>
              <a:endParaRPr lang="zh-CN" altLang="en-US">
                <a:solidFill>
                  <a:srgbClr val="FFFFFF"/>
                </a:solidFill>
              </a:endParaRPr>
            </a:p>
          </p:txBody>
        </p:sp>
      </p:grpSp>
      <p:grpSp>
        <p:nvGrpSpPr>
          <p:cNvPr id="16" name="组合 15"/>
          <p:cNvGrpSpPr/>
          <p:nvPr/>
        </p:nvGrpSpPr>
        <p:grpSpPr>
          <a:xfrm>
            <a:off x="719880" y="3427194"/>
            <a:ext cx="974725" cy="1009650"/>
            <a:chOff x="1138982" y="4435574"/>
            <a:chExt cx="974725" cy="1009650"/>
          </a:xfrm>
        </p:grpSpPr>
        <p:sp>
          <p:nvSpPr>
            <p:cNvPr id="8" name="MH_Other_3"/>
            <p:cNvSpPr/>
            <p:nvPr>
              <p:custDataLst>
                <p:tags r:id="rId4"/>
              </p:custDataLst>
            </p:nvPr>
          </p:nvSpPr>
          <p:spPr>
            <a:xfrm>
              <a:off x="1273919" y="4575274"/>
              <a:ext cx="704850" cy="73025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solidFill>
                  <a:srgbClr val="FFFFFF"/>
                </a:solidFill>
              </a:endParaRPr>
            </a:p>
          </p:txBody>
        </p:sp>
        <p:sp>
          <p:nvSpPr>
            <p:cNvPr id="9" name="MH_Other_4"/>
            <p:cNvSpPr/>
            <p:nvPr>
              <p:custDataLst>
                <p:tags r:id="rId5"/>
              </p:custDataLst>
            </p:nvPr>
          </p:nvSpPr>
          <p:spPr>
            <a:xfrm>
              <a:off x="1138982" y="4435574"/>
              <a:ext cx="974725" cy="1009650"/>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sp>
          <p:nvSpPr>
            <p:cNvPr id="13" name="MH_Other_6"/>
            <p:cNvSpPr>
              <a:spLocks noChangeAspect="1"/>
            </p:cNvSpPr>
            <p:nvPr>
              <p:custDataLst>
                <p:tags r:id="rId6"/>
              </p:custDataLst>
            </p:nvPr>
          </p:nvSpPr>
          <p:spPr bwMode="auto">
            <a:xfrm>
              <a:off x="1439020" y="4743549"/>
              <a:ext cx="396875" cy="393700"/>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rgbClr val="FFFFFF"/>
            </a:solidFill>
            <a:ln>
              <a:noFill/>
            </a:ln>
          </p:spPr>
          <p:txBody>
            <a:bodyPr anchor="ctr">
              <a:scene3d>
                <a:camera prst="orthographicFront"/>
                <a:lightRig rig="threePt" dir="t"/>
              </a:scene3d>
              <a:sp3d>
                <a:contourClr>
                  <a:srgbClr val="FFFFFF"/>
                </a:contourClr>
              </a:sp3d>
            </a:bodyPr>
            <a:p>
              <a:pPr algn="ctr">
                <a:defRPr/>
              </a:pPr>
              <a:endParaRPr lang="zh-CN" altLang="en-US">
                <a:solidFill>
                  <a:srgbClr val="FFFFFF"/>
                </a:solidFill>
              </a:endParaRPr>
            </a:p>
          </p:txBody>
        </p:sp>
      </p:grpSp>
      <p:sp>
        <p:nvSpPr>
          <p:cNvPr id="18" name="文本框 17"/>
          <p:cNvSpPr txBox="1"/>
          <p:nvPr>
            <p:custDataLst>
              <p:tags r:id="rId7"/>
            </p:custDataLst>
          </p:nvPr>
        </p:nvSpPr>
        <p:spPr>
          <a:xfrm>
            <a:off x="1872951" y="1845454"/>
            <a:ext cx="2358652" cy="460375"/>
          </a:xfrm>
          <a:prstGeom prst="rect">
            <a:avLst/>
          </a:prstGeom>
          <a:noFill/>
        </p:spPr>
        <p:txBody>
          <a:bodyPr wrap="square" rtlCol="0">
            <a:spAutoFit/>
          </a:bodyPr>
          <a:p>
            <a:r>
              <a:rPr lang="zh-CN" altLang="en-US" sz="2400" dirty="0">
                <a:latin typeface="微软雅黑" panose="020B0503020204020204" pitchFamily="34" charset="-122"/>
                <a:ea typeface="微软雅黑" panose="020B0503020204020204" pitchFamily="34" charset="-122"/>
                <a:sym typeface="+mn-ea"/>
              </a:rPr>
              <a:t>少量样本学习</a:t>
            </a:r>
            <a:endParaRPr lang="zh-CN" altLang="en-US" sz="2400" dirty="0">
              <a:latin typeface="微软雅黑" panose="020B0503020204020204" pitchFamily="34" charset="-122"/>
              <a:ea typeface="微软雅黑" panose="020B0503020204020204" pitchFamily="34" charset="-122"/>
              <a:sym typeface="+mn-ea"/>
            </a:endParaRPr>
          </a:p>
        </p:txBody>
      </p:sp>
      <p:sp>
        <p:nvSpPr>
          <p:cNvPr id="19" name="矩形 18"/>
          <p:cNvSpPr/>
          <p:nvPr>
            <p:custDataLst>
              <p:tags r:id="rId8"/>
            </p:custDataLst>
          </p:nvPr>
        </p:nvSpPr>
        <p:spPr>
          <a:xfrm>
            <a:off x="1842135" y="2294890"/>
            <a:ext cx="9051925" cy="755650"/>
          </a:xfrm>
          <a:prstGeom prst="rect">
            <a:avLst/>
          </a:prstGeom>
        </p:spPr>
        <p:txBody>
          <a:bodyPr wrap="square">
            <a:spAutoFit/>
          </a:bodyPr>
          <a:p>
            <a:pPr algn="l">
              <a:lnSpc>
                <a:spcPct val="120000"/>
              </a:lnSpc>
            </a:pPr>
            <a:r>
              <a:rPr lang="zh-CN" altLang="en-US" dirty="0">
                <a:latin typeface="微软雅黑" panose="020B0503020204020204" pitchFamily="34" charset="-122"/>
                <a:ea typeface="微软雅黑" panose="020B0503020204020204" pitchFamily="34" charset="-122"/>
              </a:rPr>
              <a:t>不再仅仅依赖模糊的文本，而是允许用户提供少量（例如仅三张）包含同一主体或风格的参考图像。模型通过学习这些少量样本，就能掌握新的、高度个性化的视觉概念。</a:t>
            </a:r>
            <a:endParaRPr lang="zh-CN" altLang="en-US" dirty="0">
              <a:latin typeface="微软雅黑" panose="020B0503020204020204" pitchFamily="34" charset="-122"/>
              <a:ea typeface="微软雅黑" panose="020B0503020204020204" pitchFamily="34" charset="-122"/>
            </a:endParaRPr>
          </a:p>
        </p:txBody>
      </p:sp>
      <p:sp>
        <p:nvSpPr>
          <p:cNvPr id="22" name="文本框 21"/>
          <p:cNvSpPr txBox="1"/>
          <p:nvPr>
            <p:custDataLst>
              <p:tags r:id="rId9"/>
            </p:custDataLst>
          </p:nvPr>
        </p:nvSpPr>
        <p:spPr>
          <a:xfrm>
            <a:off x="1873250" y="3347085"/>
            <a:ext cx="3675380" cy="460375"/>
          </a:xfrm>
          <a:prstGeom prst="rect">
            <a:avLst/>
          </a:prstGeom>
          <a:noFill/>
        </p:spPr>
        <p:txBody>
          <a:bodyPr wrap="square" rtlCol="0">
            <a:spAutoFit/>
          </a:bodyPr>
          <a:p>
            <a:r>
              <a:rPr lang="zh-CN" altLang="en-US" sz="2400" dirty="0">
                <a:latin typeface="微软雅黑" panose="020B0503020204020204" pitchFamily="34" charset="-122"/>
                <a:ea typeface="微软雅黑" panose="020B0503020204020204" pitchFamily="34" charset="-122"/>
              </a:rPr>
              <a:t>基于注意力图的精准</a:t>
            </a:r>
            <a:r>
              <a:rPr lang="zh-CN" altLang="en-US" sz="2400" dirty="0">
                <a:latin typeface="微软雅黑" panose="020B0503020204020204" pitchFamily="34" charset="-122"/>
                <a:ea typeface="微软雅黑" panose="020B0503020204020204" pitchFamily="34" charset="-122"/>
              </a:rPr>
              <a:t>控制</a:t>
            </a:r>
            <a:endParaRPr lang="zh-CN" altLang="en-US" sz="2400" dirty="0">
              <a:latin typeface="微软雅黑" panose="020B0503020204020204" pitchFamily="34" charset="-122"/>
              <a:ea typeface="微软雅黑" panose="020B0503020204020204" pitchFamily="34" charset="-122"/>
            </a:endParaRPr>
          </a:p>
        </p:txBody>
      </p:sp>
      <p:sp>
        <p:nvSpPr>
          <p:cNvPr id="23" name="矩形 22"/>
          <p:cNvSpPr/>
          <p:nvPr>
            <p:custDataLst>
              <p:tags r:id="rId10"/>
            </p:custDataLst>
          </p:nvPr>
        </p:nvSpPr>
        <p:spPr>
          <a:xfrm>
            <a:off x="1842243" y="3796265"/>
            <a:ext cx="9127380" cy="755650"/>
          </a:xfrm>
          <a:prstGeom prst="rect">
            <a:avLst/>
          </a:prstGeom>
        </p:spPr>
        <p:txBody>
          <a:bodyPr wrap="square">
            <a:spAutoFit/>
          </a:bodyPr>
          <a:p>
            <a:pPr algn="l">
              <a:lnSpc>
                <a:spcPct val="120000"/>
              </a:lnSpc>
            </a:pPr>
            <a:r>
              <a:rPr lang="zh-CN" altLang="en-US" dirty="0">
                <a:latin typeface="微软雅黑" panose="020B0503020204020204" pitchFamily="34" charset="-122"/>
                <a:ea typeface="微软雅黑" panose="020B0503020204020204" pitchFamily="34" charset="-122"/>
              </a:rPr>
              <a:t>通过精细调控扩散模型内部的交叉注意力图，更准确地理解用户意图，控制编辑过程中的特定区域保留或修改。并且可以将新主体精准地应用到目标图像的指定区域。</a:t>
            </a:r>
            <a:endParaRPr lang="zh-CN" altLang="en-US"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719880" y="5091113"/>
            <a:ext cx="974725" cy="1009650"/>
            <a:chOff x="1138982" y="2290763"/>
            <a:chExt cx="974725" cy="1009650"/>
          </a:xfrm>
        </p:grpSpPr>
        <p:sp>
          <p:nvSpPr>
            <p:cNvPr id="11" name="MH_Other_1"/>
            <p:cNvSpPr/>
            <p:nvPr>
              <p:custDataLst>
                <p:tags r:id="rId11"/>
              </p:custDataLst>
            </p:nvPr>
          </p:nvSpPr>
          <p:spPr>
            <a:xfrm>
              <a:off x="1273919" y="2430463"/>
              <a:ext cx="704850" cy="730250"/>
            </a:xfrm>
            <a:prstGeom prst="rect">
              <a:avLst/>
            </a:pr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 name="MH_Other_2"/>
            <p:cNvSpPr/>
            <p:nvPr>
              <p:custDataLst>
                <p:tags r:id="rId12"/>
              </p:custDataLst>
            </p:nvPr>
          </p:nvSpPr>
          <p:spPr>
            <a:xfrm>
              <a:off x="1138982" y="2290763"/>
              <a:ext cx="974725" cy="1009650"/>
            </a:xfrm>
            <a:custGeom>
              <a:avLst/>
              <a:gdLst>
                <a:gd name="connsiteX0" fmla="*/ 743029 w 757237"/>
                <a:gd name="connsiteY0" fmla="*/ 463225 h 783577"/>
                <a:gd name="connsiteX1" fmla="*/ 757237 w 757237"/>
                <a:gd name="connsiteY1" fmla="*/ 463225 h 783577"/>
                <a:gd name="connsiteX2" fmla="*/ 757237 w 757237"/>
                <a:gd name="connsiteY2" fmla="*/ 783577 h 783577"/>
                <a:gd name="connsiteX3" fmla="*/ 450056 w 757237"/>
                <a:gd name="connsiteY3" fmla="*/ 783577 h 783577"/>
                <a:gd name="connsiteX4" fmla="*/ 450056 w 757237"/>
                <a:gd name="connsiteY4" fmla="*/ 768874 h 783577"/>
                <a:gd name="connsiteX5" fmla="*/ 743029 w 757237"/>
                <a:gd name="connsiteY5" fmla="*/ 768874 h 783577"/>
                <a:gd name="connsiteX6" fmla="*/ 0 w 757237"/>
                <a:gd name="connsiteY6" fmla="*/ 463225 h 783577"/>
                <a:gd name="connsiteX7" fmla="*/ 14207 w 757237"/>
                <a:gd name="connsiteY7" fmla="*/ 463225 h 783577"/>
                <a:gd name="connsiteX8" fmla="*/ 14207 w 757237"/>
                <a:gd name="connsiteY8" fmla="*/ 768874 h 783577"/>
                <a:gd name="connsiteX9" fmla="*/ 307181 w 757237"/>
                <a:gd name="connsiteY9" fmla="*/ 768874 h 783577"/>
                <a:gd name="connsiteX10" fmla="*/ 307181 w 757237"/>
                <a:gd name="connsiteY10" fmla="*/ 783577 h 783577"/>
                <a:gd name="connsiteX11" fmla="*/ 0 w 757237"/>
                <a:gd name="connsiteY11" fmla="*/ 783577 h 783577"/>
                <a:gd name="connsiteX12" fmla="*/ 450056 w 757237"/>
                <a:gd name="connsiteY12" fmla="*/ 0 h 783577"/>
                <a:gd name="connsiteX13" fmla="*/ 757237 w 757237"/>
                <a:gd name="connsiteY13" fmla="*/ 0 h 783577"/>
                <a:gd name="connsiteX14" fmla="*/ 757237 w 757237"/>
                <a:gd name="connsiteY14" fmla="*/ 320350 h 783577"/>
                <a:gd name="connsiteX15" fmla="*/ 743029 w 757237"/>
                <a:gd name="connsiteY15" fmla="*/ 320350 h 783577"/>
                <a:gd name="connsiteX16" fmla="*/ 743029 w 757237"/>
                <a:gd name="connsiteY16" fmla="*/ 14702 h 783577"/>
                <a:gd name="connsiteX17" fmla="*/ 450056 w 757237"/>
                <a:gd name="connsiteY17" fmla="*/ 14702 h 783577"/>
                <a:gd name="connsiteX18" fmla="*/ 0 w 757237"/>
                <a:gd name="connsiteY18" fmla="*/ 0 h 783577"/>
                <a:gd name="connsiteX19" fmla="*/ 307181 w 757237"/>
                <a:gd name="connsiteY19" fmla="*/ 0 h 783577"/>
                <a:gd name="connsiteX20" fmla="*/ 307181 w 757237"/>
                <a:gd name="connsiteY20" fmla="*/ 14702 h 783577"/>
                <a:gd name="connsiteX21" fmla="*/ 14207 w 757237"/>
                <a:gd name="connsiteY21" fmla="*/ 14702 h 783577"/>
                <a:gd name="connsiteX22" fmla="*/ 14207 w 757237"/>
                <a:gd name="connsiteY22" fmla="*/ 320350 h 783577"/>
                <a:gd name="connsiteX23" fmla="*/ 0 w 757237"/>
                <a:gd name="connsiteY23" fmla="*/ 320350 h 783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57237" h="783577">
                  <a:moveTo>
                    <a:pt x="743029" y="463225"/>
                  </a:moveTo>
                  <a:lnTo>
                    <a:pt x="757237" y="463225"/>
                  </a:lnTo>
                  <a:lnTo>
                    <a:pt x="757237" y="783577"/>
                  </a:lnTo>
                  <a:lnTo>
                    <a:pt x="450056" y="783577"/>
                  </a:lnTo>
                  <a:lnTo>
                    <a:pt x="450056" y="768874"/>
                  </a:lnTo>
                  <a:lnTo>
                    <a:pt x="743029" y="768874"/>
                  </a:lnTo>
                  <a:close/>
                  <a:moveTo>
                    <a:pt x="0" y="463225"/>
                  </a:moveTo>
                  <a:lnTo>
                    <a:pt x="14207" y="463225"/>
                  </a:lnTo>
                  <a:lnTo>
                    <a:pt x="14207" y="768874"/>
                  </a:lnTo>
                  <a:lnTo>
                    <a:pt x="307181" y="768874"/>
                  </a:lnTo>
                  <a:lnTo>
                    <a:pt x="307181" y="783577"/>
                  </a:lnTo>
                  <a:lnTo>
                    <a:pt x="0" y="783577"/>
                  </a:lnTo>
                  <a:close/>
                  <a:moveTo>
                    <a:pt x="450056" y="0"/>
                  </a:moveTo>
                  <a:lnTo>
                    <a:pt x="757237" y="0"/>
                  </a:lnTo>
                  <a:lnTo>
                    <a:pt x="757237" y="320350"/>
                  </a:lnTo>
                  <a:lnTo>
                    <a:pt x="743029" y="320350"/>
                  </a:lnTo>
                  <a:lnTo>
                    <a:pt x="743029" y="14702"/>
                  </a:lnTo>
                  <a:lnTo>
                    <a:pt x="450056" y="14702"/>
                  </a:lnTo>
                  <a:close/>
                  <a:moveTo>
                    <a:pt x="0" y="0"/>
                  </a:moveTo>
                  <a:lnTo>
                    <a:pt x="307181" y="0"/>
                  </a:lnTo>
                  <a:lnTo>
                    <a:pt x="307181" y="14702"/>
                  </a:lnTo>
                  <a:lnTo>
                    <a:pt x="14207" y="14702"/>
                  </a:lnTo>
                  <a:lnTo>
                    <a:pt x="14207" y="320350"/>
                  </a:lnTo>
                  <a:lnTo>
                    <a:pt x="0" y="320350"/>
                  </a:lnTo>
                  <a:close/>
                </a:path>
              </a:pathLst>
            </a:custGeom>
            <a:solidFill>
              <a:srgbClr val="2051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MH_Other_5"/>
            <p:cNvSpPr/>
            <p:nvPr>
              <p:custDataLst>
                <p:tags r:id="rId13"/>
              </p:custDataLst>
            </p:nvPr>
          </p:nvSpPr>
          <p:spPr bwMode="auto">
            <a:xfrm>
              <a:off x="1421557" y="2600326"/>
              <a:ext cx="398463" cy="396875"/>
            </a:xfrm>
            <a:custGeom>
              <a:avLst/>
              <a:gdLst>
                <a:gd name="T0" fmla="*/ 984018 w 1589088"/>
                <a:gd name="T1" fmla="*/ 589506 h 1589088"/>
                <a:gd name="T2" fmla="*/ 955171 w 1589088"/>
                <a:gd name="T3" fmla="*/ 645802 h 1589088"/>
                <a:gd name="T4" fmla="*/ 898294 w 1589088"/>
                <a:gd name="T5" fmla="*/ 673272 h 1589088"/>
                <a:gd name="T6" fmla="*/ 881422 w 1589088"/>
                <a:gd name="T7" fmla="*/ 964824 h 1589088"/>
                <a:gd name="T8" fmla="*/ 873530 w 1589088"/>
                <a:gd name="T9" fmla="*/ 1040159 h 1589088"/>
                <a:gd name="T10" fmla="*/ 824817 w 1589088"/>
                <a:gd name="T11" fmla="*/ 1084490 h 1589088"/>
                <a:gd name="T12" fmla="*/ 756238 w 1589088"/>
                <a:gd name="T13" fmla="*/ 1088026 h 1589088"/>
                <a:gd name="T14" fmla="*/ 703444 w 1589088"/>
                <a:gd name="T15" fmla="*/ 1048590 h 1589088"/>
                <a:gd name="T16" fmla="*/ 686571 w 1589088"/>
                <a:gd name="T17" fmla="*/ 985493 h 1589088"/>
                <a:gd name="T18" fmla="*/ 486007 w 1589088"/>
                <a:gd name="T19" fmla="*/ 893024 h 1589088"/>
                <a:gd name="T20" fmla="*/ 398106 w 1589088"/>
                <a:gd name="T21" fmla="*/ 820680 h 1589088"/>
                <a:gd name="T22" fmla="*/ 402189 w 1589088"/>
                <a:gd name="T23" fmla="*/ 755134 h 1589088"/>
                <a:gd name="T24" fmla="*/ 446547 w 1589088"/>
                <a:gd name="T25" fmla="*/ 706452 h 1589088"/>
                <a:gd name="T26" fmla="*/ 514037 w 1589088"/>
                <a:gd name="T27" fmla="*/ 696389 h 1589088"/>
                <a:gd name="T28" fmla="*/ 570641 w 1589088"/>
                <a:gd name="T29" fmla="*/ 730385 h 1589088"/>
                <a:gd name="T30" fmla="*/ 593501 w 1589088"/>
                <a:gd name="T31" fmla="*/ 794027 h 1589088"/>
                <a:gd name="T32" fmla="*/ 818558 w 1589088"/>
                <a:gd name="T33" fmla="*/ 648522 h 1589088"/>
                <a:gd name="T34" fmla="*/ 785901 w 1589088"/>
                <a:gd name="T35" fmla="*/ 575091 h 1589088"/>
                <a:gd name="T36" fmla="*/ 808761 w 1589088"/>
                <a:gd name="T37" fmla="*/ 511721 h 1589088"/>
                <a:gd name="T38" fmla="*/ 865365 w 1589088"/>
                <a:gd name="T39" fmla="*/ 477726 h 1589088"/>
                <a:gd name="T40" fmla="*/ 728574 w 1589088"/>
                <a:gd name="T41" fmla="*/ 144010 h 1589088"/>
                <a:gd name="T42" fmla="*/ 531280 w 1589088"/>
                <a:gd name="T43" fmla="*/ 182593 h 1589088"/>
                <a:gd name="T44" fmla="*/ 353281 w 1589088"/>
                <a:gd name="T45" fmla="*/ 288291 h 1589088"/>
                <a:gd name="T46" fmla="*/ 219577 w 1589088"/>
                <a:gd name="T47" fmla="*/ 451592 h 1589088"/>
                <a:gd name="T48" fmla="*/ 152454 w 1589088"/>
                <a:gd name="T49" fmla="*/ 642880 h 1589088"/>
                <a:gd name="T50" fmla="*/ 152454 w 1589088"/>
                <a:gd name="T51" fmla="*/ 843135 h 1589088"/>
                <a:gd name="T52" fmla="*/ 219577 w 1589088"/>
                <a:gd name="T53" fmla="*/ 1034422 h 1589088"/>
                <a:gd name="T54" fmla="*/ 353281 w 1589088"/>
                <a:gd name="T55" fmla="*/ 1197724 h 1589088"/>
                <a:gd name="T56" fmla="*/ 531280 w 1589088"/>
                <a:gd name="T57" fmla="*/ 1303421 h 1589088"/>
                <a:gd name="T58" fmla="*/ 728574 w 1589088"/>
                <a:gd name="T59" fmla="*/ 1341734 h 1589088"/>
                <a:gd name="T60" fmla="*/ 927227 w 1589088"/>
                <a:gd name="T61" fmla="*/ 1312931 h 1589088"/>
                <a:gd name="T62" fmla="*/ 1109302 w 1589088"/>
                <a:gd name="T63" fmla="*/ 1217015 h 1589088"/>
                <a:gd name="T64" fmla="*/ 1251431 w 1589088"/>
                <a:gd name="T65" fmla="*/ 1059964 h 1589088"/>
                <a:gd name="T66" fmla="*/ 1328065 w 1589088"/>
                <a:gd name="T67" fmla="*/ 871393 h 1589088"/>
                <a:gd name="T68" fmla="*/ 1337576 w 1589088"/>
                <a:gd name="T69" fmla="*/ 671410 h 1589088"/>
                <a:gd name="T70" fmla="*/ 1280237 w 1589088"/>
                <a:gd name="T71" fmla="*/ 477677 h 1589088"/>
                <a:gd name="T72" fmla="*/ 1155500 w 1589088"/>
                <a:gd name="T73" fmla="*/ 308670 h 1589088"/>
                <a:gd name="T74" fmla="*/ 981849 w 1589088"/>
                <a:gd name="T75" fmla="*/ 193462 h 1589088"/>
                <a:gd name="T76" fmla="*/ 785915 w 1589088"/>
                <a:gd name="T77" fmla="*/ 145640 h 1589088"/>
                <a:gd name="T78" fmla="*/ 902226 w 1589088"/>
                <a:gd name="T79" fmla="*/ 17390 h 1589088"/>
                <a:gd name="T80" fmla="*/ 1136207 w 1589088"/>
                <a:gd name="T81" fmla="*/ 112491 h 1589088"/>
                <a:gd name="T82" fmla="*/ 1320999 w 1589088"/>
                <a:gd name="T83" fmla="*/ 276063 h 1589088"/>
                <a:gd name="T84" fmla="*/ 1429702 w 1589088"/>
                <a:gd name="T85" fmla="*/ 459201 h 1589088"/>
                <a:gd name="T86" fmla="*/ 1481334 w 1589088"/>
                <a:gd name="T87" fmla="*/ 660270 h 1589088"/>
                <a:gd name="T88" fmla="*/ 1475356 w 1589088"/>
                <a:gd name="T89" fmla="*/ 866502 h 1589088"/>
                <a:gd name="T90" fmla="*/ 1412581 w 1589088"/>
                <a:gd name="T91" fmla="*/ 1064855 h 1589088"/>
                <a:gd name="T92" fmla="*/ 1892771 w 1589088"/>
                <a:gd name="T93" fmla="*/ 1636001 h 1589088"/>
                <a:gd name="T94" fmla="*/ 1896304 w 1589088"/>
                <a:gd name="T95" fmla="*/ 1759632 h 1589088"/>
                <a:gd name="T96" fmla="*/ 1783798 w 1589088"/>
                <a:gd name="T97" fmla="*/ 1885980 h 1589088"/>
                <a:gd name="T98" fmla="*/ 1662866 w 1589088"/>
                <a:gd name="T99" fmla="*/ 1900381 h 1589088"/>
                <a:gd name="T100" fmla="*/ 1104954 w 1589088"/>
                <a:gd name="T101" fmla="*/ 1391458 h 1589088"/>
                <a:gd name="T102" fmla="*/ 909835 w 1589088"/>
                <a:gd name="T103" fmla="*/ 1466451 h 1589088"/>
                <a:gd name="T104" fmla="*/ 704388 w 1589088"/>
                <a:gd name="T105" fmla="*/ 1484656 h 1589088"/>
                <a:gd name="T106" fmla="*/ 501116 w 1589088"/>
                <a:gd name="T107" fmla="*/ 1445528 h 1589088"/>
                <a:gd name="T108" fmla="*/ 313061 w 1589088"/>
                <a:gd name="T109" fmla="*/ 1349069 h 1589088"/>
                <a:gd name="T110" fmla="*/ 143758 w 1589088"/>
                <a:gd name="T111" fmla="*/ 1181965 h 1589088"/>
                <a:gd name="T112" fmla="*/ 30708 w 1589088"/>
                <a:gd name="T113" fmla="*/ 954538 h 1589088"/>
                <a:gd name="T114" fmla="*/ 815 w 1589088"/>
                <a:gd name="T115" fmla="*/ 707277 h 1589088"/>
                <a:gd name="T116" fmla="*/ 54351 w 1589088"/>
                <a:gd name="T117" fmla="*/ 463275 h 1589088"/>
                <a:gd name="T118" fmla="*/ 191315 w 1589088"/>
                <a:gd name="T119" fmla="*/ 245360 h 1589088"/>
                <a:gd name="T120" fmla="*/ 397577 w 1589088"/>
                <a:gd name="T121" fmla="*/ 85319 h 1589088"/>
                <a:gd name="T122" fmla="*/ 636177 w 1589088"/>
                <a:gd name="T123" fmla="*/ 7880 h 158908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589088" h="1589088">
                  <a:moveTo>
                    <a:pt x="916859" y="288925"/>
                  </a:moveTo>
                  <a:lnTo>
                    <a:pt x="954088" y="332030"/>
                  </a:lnTo>
                  <a:lnTo>
                    <a:pt x="816067" y="450682"/>
                  </a:lnTo>
                  <a:lnTo>
                    <a:pt x="817430" y="454085"/>
                  </a:lnTo>
                  <a:lnTo>
                    <a:pt x="818338" y="457488"/>
                  </a:lnTo>
                  <a:lnTo>
                    <a:pt x="819246" y="461118"/>
                  </a:lnTo>
                  <a:lnTo>
                    <a:pt x="820381" y="464748"/>
                  </a:lnTo>
                  <a:lnTo>
                    <a:pt x="820835" y="468378"/>
                  </a:lnTo>
                  <a:lnTo>
                    <a:pt x="821289" y="472008"/>
                  </a:lnTo>
                  <a:lnTo>
                    <a:pt x="821743" y="475865"/>
                  </a:lnTo>
                  <a:lnTo>
                    <a:pt x="821743" y="479722"/>
                  </a:lnTo>
                  <a:lnTo>
                    <a:pt x="821743" y="483805"/>
                  </a:lnTo>
                  <a:lnTo>
                    <a:pt x="821289" y="487662"/>
                  </a:lnTo>
                  <a:lnTo>
                    <a:pt x="820835" y="491746"/>
                  </a:lnTo>
                  <a:lnTo>
                    <a:pt x="820154" y="495602"/>
                  </a:lnTo>
                  <a:lnTo>
                    <a:pt x="819246" y="499459"/>
                  </a:lnTo>
                  <a:lnTo>
                    <a:pt x="818338" y="503089"/>
                  </a:lnTo>
                  <a:lnTo>
                    <a:pt x="816976" y="506946"/>
                  </a:lnTo>
                  <a:lnTo>
                    <a:pt x="815840" y="510349"/>
                  </a:lnTo>
                  <a:lnTo>
                    <a:pt x="814251" y="513979"/>
                  </a:lnTo>
                  <a:lnTo>
                    <a:pt x="812662" y="517382"/>
                  </a:lnTo>
                  <a:lnTo>
                    <a:pt x="810619" y="520785"/>
                  </a:lnTo>
                  <a:lnTo>
                    <a:pt x="808803" y="523961"/>
                  </a:lnTo>
                  <a:lnTo>
                    <a:pt x="806760" y="527137"/>
                  </a:lnTo>
                  <a:lnTo>
                    <a:pt x="804263" y="530313"/>
                  </a:lnTo>
                  <a:lnTo>
                    <a:pt x="801993" y="533036"/>
                  </a:lnTo>
                  <a:lnTo>
                    <a:pt x="799496" y="535985"/>
                  </a:lnTo>
                  <a:lnTo>
                    <a:pt x="796772" y="538707"/>
                  </a:lnTo>
                  <a:lnTo>
                    <a:pt x="794048" y="541203"/>
                  </a:lnTo>
                  <a:lnTo>
                    <a:pt x="791324" y="543698"/>
                  </a:lnTo>
                  <a:lnTo>
                    <a:pt x="788146" y="545967"/>
                  </a:lnTo>
                  <a:lnTo>
                    <a:pt x="785194" y="548009"/>
                  </a:lnTo>
                  <a:lnTo>
                    <a:pt x="781789" y="550051"/>
                  </a:lnTo>
                  <a:lnTo>
                    <a:pt x="778611" y="552093"/>
                  </a:lnTo>
                  <a:lnTo>
                    <a:pt x="775433" y="553908"/>
                  </a:lnTo>
                  <a:lnTo>
                    <a:pt x="771801" y="555496"/>
                  </a:lnTo>
                  <a:lnTo>
                    <a:pt x="768396" y="556857"/>
                  </a:lnTo>
                  <a:lnTo>
                    <a:pt x="764537" y="558218"/>
                  </a:lnTo>
                  <a:lnTo>
                    <a:pt x="760905" y="559352"/>
                  </a:lnTo>
                  <a:lnTo>
                    <a:pt x="757046" y="560260"/>
                  </a:lnTo>
                  <a:lnTo>
                    <a:pt x="753413" y="560940"/>
                  </a:lnTo>
                  <a:lnTo>
                    <a:pt x="749327" y="561621"/>
                  </a:lnTo>
                  <a:lnTo>
                    <a:pt x="745241" y="562075"/>
                  </a:lnTo>
                  <a:lnTo>
                    <a:pt x="692121" y="754005"/>
                  </a:lnTo>
                  <a:lnTo>
                    <a:pt x="697343" y="756728"/>
                  </a:lnTo>
                  <a:lnTo>
                    <a:pt x="702110" y="759904"/>
                  </a:lnTo>
                  <a:lnTo>
                    <a:pt x="706650" y="763080"/>
                  </a:lnTo>
                  <a:lnTo>
                    <a:pt x="710963" y="766937"/>
                  </a:lnTo>
                  <a:lnTo>
                    <a:pt x="715049" y="770794"/>
                  </a:lnTo>
                  <a:lnTo>
                    <a:pt x="718908" y="774877"/>
                  </a:lnTo>
                  <a:lnTo>
                    <a:pt x="722313" y="779188"/>
                  </a:lnTo>
                  <a:lnTo>
                    <a:pt x="725718" y="783952"/>
                  </a:lnTo>
                  <a:lnTo>
                    <a:pt x="728670" y="788943"/>
                  </a:lnTo>
                  <a:lnTo>
                    <a:pt x="731167" y="793934"/>
                  </a:lnTo>
                  <a:lnTo>
                    <a:pt x="733437" y="799379"/>
                  </a:lnTo>
                  <a:lnTo>
                    <a:pt x="735253" y="804824"/>
                  </a:lnTo>
                  <a:lnTo>
                    <a:pt x="736615" y="810496"/>
                  </a:lnTo>
                  <a:lnTo>
                    <a:pt x="737750" y="816167"/>
                  </a:lnTo>
                  <a:lnTo>
                    <a:pt x="738431" y="822066"/>
                  </a:lnTo>
                  <a:lnTo>
                    <a:pt x="738658" y="828191"/>
                  </a:lnTo>
                  <a:lnTo>
                    <a:pt x="738658" y="832729"/>
                  </a:lnTo>
                  <a:lnTo>
                    <a:pt x="738431" y="836812"/>
                  </a:lnTo>
                  <a:lnTo>
                    <a:pt x="737523" y="840896"/>
                  </a:lnTo>
                  <a:lnTo>
                    <a:pt x="736842" y="844980"/>
                  </a:lnTo>
                  <a:lnTo>
                    <a:pt x="735934" y="849063"/>
                  </a:lnTo>
                  <a:lnTo>
                    <a:pt x="734799" y="852920"/>
                  </a:lnTo>
                  <a:lnTo>
                    <a:pt x="733664" y="856777"/>
                  </a:lnTo>
                  <a:lnTo>
                    <a:pt x="732075" y="860407"/>
                  </a:lnTo>
                  <a:lnTo>
                    <a:pt x="730259" y="864263"/>
                  </a:lnTo>
                  <a:lnTo>
                    <a:pt x="728670" y="867666"/>
                  </a:lnTo>
                  <a:lnTo>
                    <a:pt x="726626" y="871296"/>
                  </a:lnTo>
                  <a:lnTo>
                    <a:pt x="724583" y="874699"/>
                  </a:lnTo>
                  <a:lnTo>
                    <a:pt x="722086" y="877876"/>
                  </a:lnTo>
                  <a:lnTo>
                    <a:pt x="719589" y="881052"/>
                  </a:lnTo>
                  <a:lnTo>
                    <a:pt x="717092" y="884228"/>
                  </a:lnTo>
                  <a:lnTo>
                    <a:pt x="714141" y="886950"/>
                  </a:lnTo>
                  <a:lnTo>
                    <a:pt x="711417" y="889673"/>
                  </a:lnTo>
                  <a:lnTo>
                    <a:pt x="708239" y="892395"/>
                  </a:lnTo>
                  <a:lnTo>
                    <a:pt x="705288" y="894891"/>
                  </a:lnTo>
                  <a:lnTo>
                    <a:pt x="702110" y="896933"/>
                  </a:lnTo>
                  <a:lnTo>
                    <a:pt x="698705" y="899428"/>
                  </a:lnTo>
                  <a:lnTo>
                    <a:pt x="695299" y="901243"/>
                  </a:lnTo>
                  <a:lnTo>
                    <a:pt x="691440" y="903058"/>
                  </a:lnTo>
                  <a:lnTo>
                    <a:pt x="688035" y="904646"/>
                  </a:lnTo>
                  <a:lnTo>
                    <a:pt x="684176" y="906234"/>
                  </a:lnTo>
                  <a:lnTo>
                    <a:pt x="680317" y="907595"/>
                  </a:lnTo>
                  <a:lnTo>
                    <a:pt x="676231" y="908730"/>
                  </a:lnTo>
                  <a:lnTo>
                    <a:pt x="672372" y="909637"/>
                  </a:lnTo>
                  <a:lnTo>
                    <a:pt x="668286" y="910318"/>
                  </a:lnTo>
                  <a:lnTo>
                    <a:pt x="664199" y="910771"/>
                  </a:lnTo>
                  <a:lnTo>
                    <a:pt x="659886" y="911225"/>
                  </a:lnTo>
                  <a:lnTo>
                    <a:pt x="655573" y="911225"/>
                  </a:lnTo>
                  <a:lnTo>
                    <a:pt x="651260" y="911225"/>
                  </a:lnTo>
                  <a:lnTo>
                    <a:pt x="646947" y="910771"/>
                  </a:lnTo>
                  <a:lnTo>
                    <a:pt x="643088" y="910318"/>
                  </a:lnTo>
                  <a:lnTo>
                    <a:pt x="638775" y="909637"/>
                  </a:lnTo>
                  <a:lnTo>
                    <a:pt x="634915" y="908730"/>
                  </a:lnTo>
                  <a:lnTo>
                    <a:pt x="630829" y="907595"/>
                  </a:lnTo>
                  <a:lnTo>
                    <a:pt x="627197" y="906234"/>
                  </a:lnTo>
                  <a:lnTo>
                    <a:pt x="623338" y="904646"/>
                  </a:lnTo>
                  <a:lnTo>
                    <a:pt x="619706" y="903058"/>
                  </a:lnTo>
                  <a:lnTo>
                    <a:pt x="616074" y="901243"/>
                  </a:lnTo>
                  <a:lnTo>
                    <a:pt x="612669" y="899428"/>
                  </a:lnTo>
                  <a:lnTo>
                    <a:pt x="609037" y="896933"/>
                  </a:lnTo>
                  <a:lnTo>
                    <a:pt x="605858" y="894891"/>
                  </a:lnTo>
                  <a:lnTo>
                    <a:pt x="602680" y="892395"/>
                  </a:lnTo>
                  <a:lnTo>
                    <a:pt x="599729" y="889673"/>
                  </a:lnTo>
                  <a:lnTo>
                    <a:pt x="596778" y="886950"/>
                  </a:lnTo>
                  <a:lnTo>
                    <a:pt x="594054" y="884228"/>
                  </a:lnTo>
                  <a:lnTo>
                    <a:pt x="591557" y="881052"/>
                  </a:lnTo>
                  <a:lnTo>
                    <a:pt x="588833" y="877876"/>
                  </a:lnTo>
                  <a:lnTo>
                    <a:pt x="586790" y="874699"/>
                  </a:lnTo>
                  <a:lnTo>
                    <a:pt x="584520" y="871296"/>
                  </a:lnTo>
                  <a:lnTo>
                    <a:pt x="582704" y="867666"/>
                  </a:lnTo>
                  <a:lnTo>
                    <a:pt x="580661" y="864263"/>
                  </a:lnTo>
                  <a:lnTo>
                    <a:pt x="579072" y="860407"/>
                  </a:lnTo>
                  <a:lnTo>
                    <a:pt x="577710" y="856777"/>
                  </a:lnTo>
                  <a:lnTo>
                    <a:pt x="576348" y="852920"/>
                  </a:lnTo>
                  <a:lnTo>
                    <a:pt x="575212" y="849063"/>
                  </a:lnTo>
                  <a:lnTo>
                    <a:pt x="574077" y="844980"/>
                  </a:lnTo>
                  <a:lnTo>
                    <a:pt x="573396" y="840896"/>
                  </a:lnTo>
                  <a:lnTo>
                    <a:pt x="572942" y="836812"/>
                  </a:lnTo>
                  <a:lnTo>
                    <a:pt x="572488" y="832729"/>
                  </a:lnTo>
                  <a:lnTo>
                    <a:pt x="572488" y="828191"/>
                  </a:lnTo>
                  <a:lnTo>
                    <a:pt x="572488" y="825242"/>
                  </a:lnTo>
                  <a:lnTo>
                    <a:pt x="572715" y="822066"/>
                  </a:lnTo>
                  <a:lnTo>
                    <a:pt x="573623" y="815940"/>
                  </a:lnTo>
                  <a:lnTo>
                    <a:pt x="574986" y="810042"/>
                  </a:lnTo>
                  <a:lnTo>
                    <a:pt x="576575" y="804370"/>
                  </a:lnTo>
                  <a:lnTo>
                    <a:pt x="454445" y="733134"/>
                  </a:lnTo>
                  <a:lnTo>
                    <a:pt x="449904" y="736083"/>
                  </a:lnTo>
                  <a:lnTo>
                    <a:pt x="444910" y="738352"/>
                  </a:lnTo>
                  <a:lnTo>
                    <a:pt x="439689" y="740166"/>
                  </a:lnTo>
                  <a:lnTo>
                    <a:pt x="434468" y="741981"/>
                  </a:lnTo>
                  <a:lnTo>
                    <a:pt x="429020" y="743569"/>
                  </a:lnTo>
                  <a:lnTo>
                    <a:pt x="423571" y="744477"/>
                  </a:lnTo>
                  <a:lnTo>
                    <a:pt x="417669" y="745158"/>
                  </a:lnTo>
                  <a:lnTo>
                    <a:pt x="412221" y="745384"/>
                  </a:lnTo>
                  <a:lnTo>
                    <a:pt x="408589" y="745158"/>
                  </a:lnTo>
                  <a:lnTo>
                    <a:pt x="405411" y="744931"/>
                  </a:lnTo>
                  <a:lnTo>
                    <a:pt x="398828" y="744023"/>
                  </a:lnTo>
                  <a:lnTo>
                    <a:pt x="305755" y="898294"/>
                  </a:lnTo>
                  <a:lnTo>
                    <a:pt x="257175" y="869255"/>
                  </a:lnTo>
                  <a:lnTo>
                    <a:pt x="349113" y="716118"/>
                  </a:lnTo>
                  <a:lnTo>
                    <a:pt x="347070" y="713396"/>
                  </a:lnTo>
                  <a:lnTo>
                    <a:pt x="344573" y="710220"/>
                  </a:lnTo>
                  <a:lnTo>
                    <a:pt x="342757" y="707497"/>
                  </a:lnTo>
                  <a:lnTo>
                    <a:pt x="340714" y="704321"/>
                  </a:lnTo>
                  <a:lnTo>
                    <a:pt x="339125" y="701145"/>
                  </a:lnTo>
                  <a:lnTo>
                    <a:pt x="337536" y="697969"/>
                  </a:lnTo>
                  <a:lnTo>
                    <a:pt x="335720" y="694793"/>
                  </a:lnTo>
                  <a:lnTo>
                    <a:pt x="334358" y="691390"/>
                  </a:lnTo>
                  <a:lnTo>
                    <a:pt x="333223" y="687987"/>
                  </a:lnTo>
                  <a:lnTo>
                    <a:pt x="332087" y="684584"/>
                  </a:lnTo>
                  <a:lnTo>
                    <a:pt x="331179" y="680954"/>
                  </a:lnTo>
                  <a:lnTo>
                    <a:pt x="330498" y="677324"/>
                  </a:lnTo>
                  <a:lnTo>
                    <a:pt x="329590" y="673467"/>
                  </a:lnTo>
                  <a:lnTo>
                    <a:pt x="329136" y="670064"/>
                  </a:lnTo>
                  <a:lnTo>
                    <a:pt x="328909" y="665981"/>
                  </a:lnTo>
                  <a:lnTo>
                    <a:pt x="328909" y="662351"/>
                  </a:lnTo>
                  <a:lnTo>
                    <a:pt x="328909" y="658040"/>
                  </a:lnTo>
                  <a:lnTo>
                    <a:pt x="329363" y="653730"/>
                  </a:lnTo>
                  <a:lnTo>
                    <a:pt x="330044" y="649646"/>
                  </a:lnTo>
                  <a:lnTo>
                    <a:pt x="330725" y="645335"/>
                  </a:lnTo>
                  <a:lnTo>
                    <a:pt x="331633" y="641479"/>
                  </a:lnTo>
                  <a:lnTo>
                    <a:pt x="332768" y="637395"/>
                  </a:lnTo>
                  <a:lnTo>
                    <a:pt x="333904" y="633765"/>
                  </a:lnTo>
                  <a:lnTo>
                    <a:pt x="335493" y="629908"/>
                  </a:lnTo>
                  <a:lnTo>
                    <a:pt x="337082" y="626279"/>
                  </a:lnTo>
                  <a:lnTo>
                    <a:pt x="339125" y="622649"/>
                  </a:lnTo>
                  <a:lnTo>
                    <a:pt x="340941" y="619246"/>
                  </a:lnTo>
                  <a:lnTo>
                    <a:pt x="342984" y="615843"/>
                  </a:lnTo>
                  <a:lnTo>
                    <a:pt x="345481" y="612666"/>
                  </a:lnTo>
                  <a:lnTo>
                    <a:pt x="347978" y="609263"/>
                  </a:lnTo>
                  <a:lnTo>
                    <a:pt x="350475" y="606314"/>
                  </a:lnTo>
                  <a:lnTo>
                    <a:pt x="353426" y="603592"/>
                  </a:lnTo>
                  <a:lnTo>
                    <a:pt x="356150" y="600642"/>
                  </a:lnTo>
                  <a:lnTo>
                    <a:pt x="359101" y="598147"/>
                  </a:lnTo>
                  <a:lnTo>
                    <a:pt x="362279" y="595878"/>
                  </a:lnTo>
                  <a:lnTo>
                    <a:pt x="365458" y="593383"/>
                  </a:lnTo>
                  <a:lnTo>
                    <a:pt x="369090" y="591341"/>
                  </a:lnTo>
                  <a:lnTo>
                    <a:pt x="372495" y="589299"/>
                  </a:lnTo>
                  <a:lnTo>
                    <a:pt x="376127" y="587484"/>
                  </a:lnTo>
                  <a:lnTo>
                    <a:pt x="379759" y="585669"/>
                  </a:lnTo>
                  <a:lnTo>
                    <a:pt x="383618" y="584308"/>
                  </a:lnTo>
                  <a:lnTo>
                    <a:pt x="387250" y="582947"/>
                  </a:lnTo>
                  <a:lnTo>
                    <a:pt x="391336" y="581812"/>
                  </a:lnTo>
                  <a:lnTo>
                    <a:pt x="395196" y="580905"/>
                  </a:lnTo>
                  <a:lnTo>
                    <a:pt x="399509" y="580224"/>
                  </a:lnTo>
                  <a:lnTo>
                    <a:pt x="403368" y="579544"/>
                  </a:lnTo>
                  <a:lnTo>
                    <a:pt x="407681" y="579317"/>
                  </a:lnTo>
                  <a:lnTo>
                    <a:pt x="412221" y="579090"/>
                  </a:lnTo>
                  <a:lnTo>
                    <a:pt x="416307" y="579317"/>
                  </a:lnTo>
                  <a:lnTo>
                    <a:pt x="420620" y="579544"/>
                  </a:lnTo>
                  <a:lnTo>
                    <a:pt x="424707" y="580224"/>
                  </a:lnTo>
                  <a:lnTo>
                    <a:pt x="428793" y="580905"/>
                  </a:lnTo>
                  <a:lnTo>
                    <a:pt x="432652" y="581812"/>
                  </a:lnTo>
                  <a:lnTo>
                    <a:pt x="436738" y="582947"/>
                  </a:lnTo>
                  <a:lnTo>
                    <a:pt x="440597" y="584308"/>
                  </a:lnTo>
                  <a:lnTo>
                    <a:pt x="444456" y="585669"/>
                  </a:lnTo>
                  <a:lnTo>
                    <a:pt x="447861" y="587484"/>
                  </a:lnTo>
                  <a:lnTo>
                    <a:pt x="451720" y="589299"/>
                  </a:lnTo>
                  <a:lnTo>
                    <a:pt x="454899" y="591341"/>
                  </a:lnTo>
                  <a:lnTo>
                    <a:pt x="458531" y="593383"/>
                  </a:lnTo>
                  <a:lnTo>
                    <a:pt x="461709" y="595878"/>
                  </a:lnTo>
                  <a:lnTo>
                    <a:pt x="464887" y="598147"/>
                  </a:lnTo>
                  <a:lnTo>
                    <a:pt x="467838" y="600642"/>
                  </a:lnTo>
                  <a:lnTo>
                    <a:pt x="470562" y="603592"/>
                  </a:lnTo>
                  <a:lnTo>
                    <a:pt x="473513" y="606314"/>
                  </a:lnTo>
                  <a:lnTo>
                    <a:pt x="476010" y="609263"/>
                  </a:lnTo>
                  <a:lnTo>
                    <a:pt x="478734" y="612666"/>
                  </a:lnTo>
                  <a:lnTo>
                    <a:pt x="481004" y="615843"/>
                  </a:lnTo>
                  <a:lnTo>
                    <a:pt x="483047" y="619246"/>
                  </a:lnTo>
                  <a:lnTo>
                    <a:pt x="484864" y="622649"/>
                  </a:lnTo>
                  <a:lnTo>
                    <a:pt x="486907" y="626279"/>
                  </a:lnTo>
                  <a:lnTo>
                    <a:pt x="488496" y="629908"/>
                  </a:lnTo>
                  <a:lnTo>
                    <a:pt x="490085" y="633765"/>
                  </a:lnTo>
                  <a:lnTo>
                    <a:pt x="491220" y="637395"/>
                  </a:lnTo>
                  <a:lnTo>
                    <a:pt x="492355" y="641479"/>
                  </a:lnTo>
                  <a:lnTo>
                    <a:pt x="493490" y="645335"/>
                  </a:lnTo>
                  <a:lnTo>
                    <a:pt x="494171" y="649646"/>
                  </a:lnTo>
                  <a:lnTo>
                    <a:pt x="494625" y="653730"/>
                  </a:lnTo>
                  <a:lnTo>
                    <a:pt x="495079" y="658040"/>
                  </a:lnTo>
                  <a:lnTo>
                    <a:pt x="495079" y="662351"/>
                  </a:lnTo>
                  <a:lnTo>
                    <a:pt x="495079" y="665527"/>
                  </a:lnTo>
                  <a:lnTo>
                    <a:pt x="494852" y="669157"/>
                  </a:lnTo>
                  <a:lnTo>
                    <a:pt x="494398" y="672333"/>
                  </a:lnTo>
                  <a:lnTo>
                    <a:pt x="493944" y="675509"/>
                  </a:lnTo>
                  <a:lnTo>
                    <a:pt x="492355" y="682088"/>
                  </a:lnTo>
                  <a:lnTo>
                    <a:pt x="490539" y="688214"/>
                  </a:lnTo>
                  <a:lnTo>
                    <a:pt x="610853" y="758543"/>
                  </a:lnTo>
                  <a:lnTo>
                    <a:pt x="616528" y="755140"/>
                  </a:lnTo>
                  <a:lnTo>
                    <a:pt x="622430" y="752417"/>
                  </a:lnTo>
                  <a:lnTo>
                    <a:pt x="628559" y="749922"/>
                  </a:lnTo>
                  <a:lnTo>
                    <a:pt x="634915" y="748107"/>
                  </a:lnTo>
                  <a:lnTo>
                    <a:pt x="690305" y="547101"/>
                  </a:lnTo>
                  <a:lnTo>
                    <a:pt x="686673" y="544152"/>
                  </a:lnTo>
                  <a:lnTo>
                    <a:pt x="682814" y="540976"/>
                  </a:lnTo>
                  <a:lnTo>
                    <a:pt x="679409" y="537800"/>
                  </a:lnTo>
                  <a:lnTo>
                    <a:pt x="676004" y="533943"/>
                  </a:lnTo>
                  <a:lnTo>
                    <a:pt x="673053" y="530540"/>
                  </a:lnTo>
                  <a:lnTo>
                    <a:pt x="670102" y="526456"/>
                  </a:lnTo>
                  <a:lnTo>
                    <a:pt x="667605" y="522373"/>
                  </a:lnTo>
                  <a:lnTo>
                    <a:pt x="665107" y="518062"/>
                  </a:lnTo>
                  <a:lnTo>
                    <a:pt x="662837" y="513979"/>
                  </a:lnTo>
                  <a:lnTo>
                    <a:pt x="661021" y="509214"/>
                  </a:lnTo>
                  <a:lnTo>
                    <a:pt x="659432" y="504450"/>
                  </a:lnTo>
                  <a:lnTo>
                    <a:pt x="658070" y="499913"/>
                  </a:lnTo>
                  <a:lnTo>
                    <a:pt x="657162" y="494922"/>
                  </a:lnTo>
                  <a:lnTo>
                    <a:pt x="656027" y="489931"/>
                  </a:lnTo>
                  <a:lnTo>
                    <a:pt x="655573" y="484940"/>
                  </a:lnTo>
                  <a:lnTo>
                    <a:pt x="655573" y="479722"/>
                  </a:lnTo>
                  <a:lnTo>
                    <a:pt x="655573" y="475411"/>
                  </a:lnTo>
                  <a:lnTo>
                    <a:pt x="655800" y="471327"/>
                  </a:lnTo>
                  <a:lnTo>
                    <a:pt x="656708" y="467017"/>
                  </a:lnTo>
                  <a:lnTo>
                    <a:pt x="657389" y="463160"/>
                  </a:lnTo>
                  <a:lnTo>
                    <a:pt x="658297" y="458850"/>
                  </a:lnTo>
                  <a:lnTo>
                    <a:pt x="659432" y="455220"/>
                  </a:lnTo>
                  <a:lnTo>
                    <a:pt x="660567" y="451136"/>
                  </a:lnTo>
                  <a:lnTo>
                    <a:pt x="661929" y="447506"/>
                  </a:lnTo>
                  <a:lnTo>
                    <a:pt x="663745" y="443649"/>
                  </a:lnTo>
                  <a:lnTo>
                    <a:pt x="665561" y="440246"/>
                  </a:lnTo>
                  <a:lnTo>
                    <a:pt x="667605" y="436617"/>
                  </a:lnTo>
                  <a:lnTo>
                    <a:pt x="669648" y="433440"/>
                  </a:lnTo>
                  <a:lnTo>
                    <a:pt x="672145" y="430037"/>
                  </a:lnTo>
                  <a:lnTo>
                    <a:pt x="674642" y="426861"/>
                  </a:lnTo>
                  <a:lnTo>
                    <a:pt x="677139" y="423912"/>
                  </a:lnTo>
                  <a:lnTo>
                    <a:pt x="679863" y="420963"/>
                  </a:lnTo>
                  <a:lnTo>
                    <a:pt x="682814" y="418240"/>
                  </a:lnTo>
                  <a:lnTo>
                    <a:pt x="685765" y="415518"/>
                  </a:lnTo>
                  <a:lnTo>
                    <a:pt x="688943" y="413249"/>
                  </a:lnTo>
                  <a:lnTo>
                    <a:pt x="692121" y="410980"/>
                  </a:lnTo>
                  <a:lnTo>
                    <a:pt x="695526" y="408712"/>
                  </a:lnTo>
                  <a:lnTo>
                    <a:pt x="698932" y="406670"/>
                  </a:lnTo>
                  <a:lnTo>
                    <a:pt x="702791" y="404855"/>
                  </a:lnTo>
                  <a:lnTo>
                    <a:pt x="706196" y="403267"/>
                  </a:lnTo>
                  <a:lnTo>
                    <a:pt x="710055" y="401679"/>
                  </a:lnTo>
                  <a:lnTo>
                    <a:pt x="713914" y="400318"/>
                  </a:lnTo>
                  <a:lnTo>
                    <a:pt x="718000" y="399410"/>
                  </a:lnTo>
                  <a:lnTo>
                    <a:pt x="721859" y="398503"/>
                  </a:lnTo>
                  <a:lnTo>
                    <a:pt x="725945" y="397595"/>
                  </a:lnTo>
                  <a:lnTo>
                    <a:pt x="730032" y="397141"/>
                  </a:lnTo>
                  <a:lnTo>
                    <a:pt x="734345" y="396915"/>
                  </a:lnTo>
                  <a:lnTo>
                    <a:pt x="738658" y="396688"/>
                  </a:lnTo>
                  <a:lnTo>
                    <a:pt x="744106" y="396915"/>
                  </a:lnTo>
                  <a:lnTo>
                    <a:pt x="749554" y="397595"/>
                  </a:lnTo>
                  <a:lnTo>
                    <a:pt x="754775" y="398276"/>
                  </a:lnTo>
                  <a:lnTo>
                    <a:pt x="759770" y="399637"/>
                  </a:lnTo>
                  <a:lnTo>
                    <a:pt x="764764" y="400998"/>
                  </a:lnTo>
                  <a:lnTo>
                    <a:pt x="769758" y="403040"/>
                  </a:lnTo>
                  <a:lnTo>
                    <a:pt x="774298" y="405082"/>
                  </a:lnTo>
                  <a:lnTo>
                    <a:pt x="778838" y="407577"/>
                  </a:lnTo>
                  <a:lnTo>
                    <a:pt x="916859" y="288925"/>
                  </a:lnTo>
                  <a:close/>
                  <a:moveTo>
                    <a:pt x="607752" y="120128"/>
                  </a:moveTo>
                  <a:lnTo>
                    <a:pt x="595738" y="120581"/>
                  </a:lnTo>
                  <a:lnTo>
                    <a:pt x="583950" y="121488"/>
                  </a:lnTo>
                  <a:lnTo>
                    <a:pt x="571936" y="122621"/>
                  </a:lnTo>
                  <a:lnTo>
                    <a:pt x="559921" y="123755"/>
                  </a:lnTo>
                  <a:lnTo>
                    <a:pt x="548133" y="125341"/>
                  </a:lnTo>
                  <a:lnTo>
                    <a:pt x="536119" y="127154"/>
                  </a:lnTo>
                  <a:lnTo>
                    <a:pt x="524331" y="129421"/>
                  </a:lnTo>
                  <a:lnTo>
                    <a:pt x="512543" y="131688"/>
                  </a:lnTo>
                  <a:lnTo>
                    <a:pt x="500755" y="134407"/>
                  </a:lnTo>
                  <a:lnTo>
                    <a:pt x="489194" y="137581"/>
                  </a:lnTo>
                  <a:lnTo>
                    <a:pt x="477406" y="140754"/>
                  </a:lnTo>
                  <a:lnTo>
                    <a:pt x="466072" y="144380"/>
                  </a:lnTo>
                  <a:lnTo>
                    <a:pt x="454511" y="148234"/>
                  </a:lnTo>
                  <a:lnTo>
                    <a:pt x="443176" y="152313"/>
                  </a:lnTo>
                  <a:lnTo>
                    <a:pt x="431615" y="156620"/>
                  </a:lnTo>
                  <a:lnTo>
                    <a:pt x="420508" y="161380"/>
                  </a:lnTo>
                  <a:lnTo>
                    <a:pt x="409400" y="166593"/>
                  </a:lnTo>
                  <a:lnTo>
                    <a:pt x="398519" y="171579"/>
                  </a:lnTo>
                  <a:lnTo>
                    <a:pt x="387411" y="177246"/>
                  </a:lnTo>
                  <a:lnTo>
                    <a:pt x="376530" y="183139"/>
                  </a:lnTo>
                  <a:lnTo>
                    <a:pt x="365876" y="189485"/>
                  </a:lnTo>
                  <a:lnTo>
                    <a:pt x="355221" y="195831"/>
                  </a:lnTo>
                  <a:lnTo>
                    <a:pt x="344794" y="202631"/>
                  </a:lnTo>
                  <a:lnTo>
                    <a:pt x="334593" y="209431"/>
                  </a:lnTo>
                  <a:lnTo>
                    <a:pt x="324392" y="216684"/>
                  </a:lnTo>
                  <a:lnTo>
                    <a:pt x="314191" y="224163"/>
                  </a:lnTo>
                  <a:lnTo>
                    <a:pt x="304443" y="232323"/>
                  </a:lnTo>
                  <a:lnTo>
                    <a:pt x="294695" y="240483"/>
                  </a:lnTo>
                  <a:lnTo>
                    <a:pt x="284948" y="248869"/>
                  </a:lnTo>
                  <a:lnTo>
                    <a:pt x="275654" y="257482"/>
                  </a:lnTo>
                  <a:lnTo>
                    <a:pt x="266359" y="266548"/>
                  </a:lnTo>
                  <a:lnTo>
                    <a:pt x="257518" y="275614"/>
                  </a:lnTo>
                  <a:lnTo>
                    <a:pt x="248678" y="285134"/>
                  </a:lnTo>
                  <a:lnTo>
                    <a:pt x="240290" y="294654"/>
                  </a:lnTo>
                  <a:lnTo>
                    <a:pt x="232129" y="304400"/>
                  </a:lnTo>
                  <a:lnTo>
                    <a:pt x="224195" y="314373"/>
                  </a:lnTo>
                  <a:lnTo>
                    <a:pt x="216714" y="324346"/>
                  </a:lnTo>
                  <a:lnTo>
                    <a:pt x="209460" y="334545"/>
                  </a:lnTo>
                  <a:lnTo>
                    <a:pt x="202433" y="344971"/>
                  </a:lnTo>
                  <a:lnTo>
                    <a:pt x="195632" y="355397"/>
                  </a:lnTo>
                  <a:lnTo>
                    <a:pt x="189058" y="366050"/>
                  </a:lnTo>
                  <a:lnTo>
                    <a:pt x="183164" y="376703"/>
                  </a:lnTo>
                  <a:lnTo>
                    <a:pt x="177271" y="387583"/>
                  </a:lnTo>
                  <a:lnTo>
                    <a:pt x="171603" y="398462"/>
                  </a:lnTo>
                  <a:lnTo>
                    <a:pt x="166390" y="409342"/>
                  </a:lnTo>
                  <a:lnTo>
                    <a:pt x="161402" y="420448"/>
                  </a:lnTo>
                  <a:lnTo>
                    <a:pt x="156642" y="431554"/>
                  </a:lnTo>
                  <a:lnTo>
                    <a:pt x="152108" y="443114"/>
                  </a:lnTo>
                  <a:lnTo>
                    <a:pt x="148028" y="454673"/>
                  </a:lnTo>
                  <a:lnTo>
                    <a:pt x="144174" y="466006"/>
                  </a:lnTo>
                  <a:lnTo>
                    <a:pt x="140774" y="477565"/>
                  </a:lnTo>
                  <a:lnTo>
                    <a:pt x="137373" y="489125"/>
                  </a:lnTo>
                  <a:lnTo>
                    <a:pt x="134426" y="500911"/>
                  </a:lnTo>
                  <a:lnTo>
                    <a:pt x="131706" y="512470"/>
                  </a:lnTo>
                  <a:lnTo>
                    <a:pt x="129213" y="524256"/>
                  </a:lnTo>
                  <a:lnTo>
                    <a:pt x="127172" y="536269"/>
                  </a:lnTo>
                  <a:lnTo>
                    <a:pt x="125359" y="548055"/>
                  </a:lnTo>
                  <a:lnTo>
                    <a:pt x="123772" y="560068"/>
                  </a:lnTo>
                  <a:lnTo>
                    <a:pt x="122185" y="571854"/>
                  </a:lnTo>
                  <a:lnTo>
                    <a:pt x="121278" y="583867"/>
                  </a:lnTo>
                  <a:lnTo>
                    <a:pt x="120598" y="595880"/>
                  </a:lnTo>
                  <a:lnTo>
                    <a:pt x="120145" y="607666"/>
                  </a:lnTo>
                  <a:lnTo>
                    <a:pt x="120145" y="619905"/>
                  </a:lnTo>
                  <a:lnTo>
                    <a:pt x="120145" y="631918"/>
                  </a:lnTo>
                  <a:lnTo>
                    <a:pt x="120598" y="643704"/>
                  </a:lnTo>
                  <a:lnTo>
                    <a:pt x="121278" y="655717"/>
                  </a:lnTo>
                  <a:lnTo>
                    <a:pt x="122185" y="667503"/>
                  </a:lnTo>
                  <a:lnTo>
                    <a:pt x="123772" y="679516"/>
                  </a:lnTo>
                  <a:lnTo>
                    <a:pt x="125359" y="691529"/>
                  </a:lnTo>
                  <a:lnTo>
                    <a:pt x="127172" y="703315"/>
                  </a:lnTo>
                  <a:lnTo>
                    <a:pt x="129213" y="715328"/>
                  </a:lnTo>
                  <a:lnTo>
                    <a:pt x="131706" y="726887"/>
                  </a:lnTo>
                  <a:lnTo>
                    <a:pt x="134426" y="738673"/>
                  </a:lnTo>
                  <a:lnTo>
                    <a:pt x="137373" y="750460"/>
                  </a:lnTo>
                  <a:lnTo>
                    <a:pt x="140774" y="762019"/>
                  </a:lnTo>
                  <a:lnTo>
                    <a:pt x="144174" y="773579"/>
                  </a:lnTo>
                  <a:lnTo>
                    <a:pt x="148028" y="784911"/>
                  </a:lnTo>
                  <a:lnTo>
                    <a:pt x="152108" y="796471"/>
                  </a:lnTo>
                  <a:lnTo>
                    <a:pt x="156642" y="807804"/>
                  </a:lnTo>
                  <a:lnTo>
                    <a:pt x="161402" y="819136"/>
                  </a:lnTo>
                  <a:lnTo>
                    <a:pt x="166390" y="830016"/>
                  </a:lnTo>
                  <a:lnTo>
                    <a:pt x="171603" y="841122"/>
                  </a:lnTo>
                  <a:lnTo>
                    <a:pt x="177271" y="852002"/>
                  </a:lnTo>
                  <a:lnTo>
                    <a:pt x="183164" y="862881"/>
                  </a:lnTo>
                  <a:lnTo>
                    <a:pt x="189058" y="873534"/>
                  </a:lnTo>
                  <a:lnTo>
                    <a:pt x="195632" y="884187"/>
                  </a:lnTo>
                  <a:lnTo>
                    <a:pt x="202433" y="894613"/>
                  </a:lnTo>
                  <a:lnTo>
                    <a:pt x="209460" y="904813"/>
                  </a:lnTo>
                  <a:lnTo>
                    <a:pt x="216714" y="915239"/>
                  </a:lnTo>
                  <a:lnTo>
                    <a:pt x="224195" y="925212"/>
                  </a:lnTo>
                  <a:lnTo>
                    <a:pt x="232129" y="934958"/>
                  </a:lnTo>
                  <a:lnTo>
                    <a:pt x="240290" y="944931"/>
                  </a:lnTo>
                  <a:lnTo>
                    <a:pt x="248678" y="954450"/>
                  </a:lnTo>
                  <a:lnTo>
                    <a:pt x="257518" y="963743"/>
                  </a:lnTo>
                  <a:lnTo>
                    <a:pt x="266359" y="973036"/>
                  </a:lnTo>
                  <a:lnTo>
                    <a:pt x="275654" y="982102"/>
                  </a:lnTo>
                  <a:lnTo>
                    <a:pt x="284948" y="990715"/>
                  </a:lnTo>
                  <a:lnTo>
                    <a:pt x="294695" y="999102"/>
                  </a:lnTo>
                  <a:lnTo>
                    <a:pt x="304443" y="1007261"/>
                  </a:lnTo>
                  <a:lnTo>
                    <a:pt x="314191" y="1015194"/>
                  </a:lnTo>
                  <a:lnTo>
                    <a:pt x="324392" y="1022674"/>
                  </a:lnTo>
                  <a:lnTo>
                    <a:pt x="334593" y="1029927"/>
                  </a:lnTo>
                  <a:lnTo>
                    <a:pt x="344794" y="1036953"/>
                  </a:lnTo>
                  <a:lnTo>
                    <a:pt x="355221" y="1043753"/>
                  </a:lnTo>
                  <a:lnTo>
                    <a:pt x="365876" y="1050099"/>
                  </a:lnTo>
                  <a:lnTo>
                    <a:pt x="376530" y="1056446"/>
                  </a:lnTo>
                  <a:lnTo>
                    <a:pt x="387411" y="1062339"/>
                  </a:lnTo>
                  <a:lnTo>
                    <a:pt x="398292" y="1067779"/>
                  </a:lnTo>
                  <a:lnTo>
                    <a:pt x="409400" y="1072992"/>
                  </a:lnTo>
                  <a:lnTo>
                    <a:pt x="420508" y="1078205"/>
                  </a:lnTo>
                  <a:lnTo>
                    <a:pt x="431615" y="1082738"/>
                  </a:lnTo>
                  <a:lnTo>
                    <a:pt x="443176" y="1087271"/>
                  </a:lnTo>
                  <a:lnTo>
                    <a:pt x="454511" y="1091351"/>
                  </a:lnTo>
                  <a:lnTo>
                    <a:pt x="466072" y="1095204"/>
                  </a:lnTo>
                  <a:lnTo>
                    <a:pt x="477406" y="1098830"/>
                  </a:lnTo>
                  <a:lnTo>
                    <a:pt x="489194" y="1102004"/>
                  </a:lnTo>
                  <a:lnTo>
                    <a:pt x="500755" y="1104950"/>
                  </a:lnTo>
                  <a:lnTo>
                    <a:pt x="512543" y="1107897"/>
                  </a:lnTo>
                  <a:lnTo>
                    <a:pt x="524331" y="1110163"/>
                  </a:lnTo>
                  <a:lnTo>
                    <a:pt x="536119" y="1112203"/>
                  </a:lnTo>
                  <a:lnTo>
                    <a:pt x="548133" y="1114243"/>
                  </a:lnTo>
                  <a:lnTo>
                    <a:pt x="559921" y="1115830"/>
                  </a:lnTo>
                  <a:lnTo>
                    <a:pt x="571936" y="1116963"/>
                  </a:lnTo>
                  <a:lnTo>
                    <a:pt x="583950" y="1118096"/>
                  </a:lnTo>
                  <a:lnTo>
                    <a:pt x="595738" y="1118776"/>
                  </a:lnTo>
                  <a:lnTo>
                    <a:pt x="607752" y="1119230"/>
                  </a:lnTo>
                  <a:lnTo>
                    <a:pt x="619540" y="1119230"/>
                  </a:lnTo>
                  <a:lnTo>
                    <a:pt x="631782" y="1119230"/>
                  </a:lnTo>
                  <a:lnTo>
                    <a:pt x="643796" y="1118776"/>
                  </a:lnTo>
                  <a:lnTo>
                    <a:pt x="655584" y="1118096"/>
                  </a:lnTo>
                  <a:lnTo>
                    <a:pt x="667598" y="1116963"/>
                  </a:lnTo>
                  <a:lnTo>
                    <a:pt x="679613" y="1115830"/>
                  </a:lnTo>
                  <a:lnTo>
                    <a:pt x="691401" y="1114243"/>
                  </a:lnTo>
                  <a:lnTo>
                    <a:pt x="703415" y="1112203"/>
                  </a:lnTo>
                  <a:lnTo>
                    <a:pt x="715203" y="1110163"/>
                  </a:lnTo>
                  <a:lnTo>
                    <a:pt x="726991" y="1107897"/>
                  </a:lnTo>
                  <a:lnTo>
                    <a:pt x="738779" y="1104950"/>
                  </a:lnTo>
                  <a:lnTo>
                    <a:pt x="750340" y="1102004"/>
                  </a:lnTo>
                  <a:lnTo>
                    <a:pt x="762128" y="1098830"/>
                  </a:lnTo>
                  <a:lnTo>
                    <a:pt x="773462" y="1095204"/>
                  </a:lnTo>
                  <a:lnTo>
                    <a:pt x="785023" y="1091351"/>
                  </a:lnTo>
                  <a:lnTo>
                    <a:pt x="796358" y="1087271"/>
                  </a:lnTo>
                  <a:lnTo>
                    <a:pt x="807692" y="1082738"/>
                  </a:lnTo>
                  <a:lnTo>
                    <a:pt x="819026" y="1078205"/>
                  </a:lnTo>
                  <a:lnTo>
                    <a:pt x="830134" y="1072992"/>
                  </a:lnTo>
                  <a:lnTo>
                    <a:pt x="841015" y="1067779"/>
                  </a:lnTo>
                  <a:lnTo>
                    <a:pt x="852123" y="1062339"/>
                  </a:lnTo>
                  <a:lnTo>
                    <a:pt x="862777" y="1056446"/>
                  </a:lnTo>
                  <a:lnTo>
                    <a:pt x="873658" y="1050099"/>
                  </a:lnTo>
                  <a:lnTo>
                    <a:pt x="884086" y="1043753"/>
                  </a:lnTo>
                  <a:lnTo>
                    <a:pt x="894740" y="1036953"/>
                  </a:lnTo>
                  <a:lnTo>
                    <a:pt x="904941" y="1029927"/>
                  </a:lnTo>
                  <a:lnTo>
                    <a:pt x="915142" y="1022674"/>
                  </a:lnTo>
                  <a:lnTo>
                    <a:pt x="925343" y="1015194"/>
                  </a:lnTo>
                  <a:lnTo>
                    <a:pt x="935091" y="1007261"/>
                  </a:lnTo>
                  <a:lnTo>
                    <a:pt x="944839" y="999102"/>
                  </a:lnTo>
                  <a:lnTo>
                    <a:pt x="954586" y="990715"/>
                  </a:lnTo>
                  <a:lnTo>
                    <a:pt x="963880" y="982102"/>
                  </a:lnTo>
                  <a:lnTo>
                    <a:pt x="972948" y="973036"/>
                  </a:lnTo>
                  <a:lnTo>
                    <a:pt x="982016" y="963743"/>
                  </a:lnTo>
                  <a:lnTo>
                    <a:pt x="990856" y="954450"/>
                  </a:lnTo>
                  <a:lnTo>
                    <a:pt x="999244" y="944931"/>
                  </a:lnTo>
                  <a:lnTo>
                    <a:pt x="1007405" y="934958"/>
                  </a:lnTo>
                  <a:lnTo>
                    <a:pt x="1015339" y="925212"/>
                  </a:lnTo>
                  <a:lnTo>
                    <a:pt x="1022820" y="915239"/>
                  </a:lnTo>
                  <a:lnTo>
                    <a:pt x="1030074" y="904813"/>
                  </a:lnTo>
                  <a:lnTo>
                    <a:pt x="1037101" y="894613"/>
                  </a:lnTo>
                  <a:lnTo>
                    <a:pt x="1043902" y="884187"/>
                  </a:lnTo>
                  <a:lnTo>
                    <a:pt x="1050249" y="873534"/>
                  </a:lnTo>
                  <a:lnTo>
                    <a:pt x="1056370" y="862881"/>
                  </a:lnTo>
                  <a:lnTo>
                    <a:pt x="1062263" y="852002"/>
                  </a:lnTo>
                  <a:lnTo>
                    <a:pt x="1067931" y="841122"/>
                  </a:lnTo>
                  <a:lnTo>
                    <a:pt x="1073144" y="830016"/>
                  </a:lnTo>
                  <a:lnTo>
                    <a:pt x="1078132" y="819136"/>
                  </a:lnTo>
                  <a:lnTo>
                    <a:pt x="1082892" y="807804"/>
                  </a:lnTo>
                  <a:lnTo>
                    <a:pt x="1087426" y="796471"/>
                  </a:lnTo>
                  <a:lnTo>
                    <a:pt x="1091280" y="784911"/>
                  </a:lnTo>
                  <a:lnTo>
                    <a:pt x="1095360" y="773579"/>
                  </a:lnTo>
                  <a:lnTo>
                    <a:pt x="1098760" y="762019"/>
                  </a:lnTo>
                  <a:lnTo>
                    <a:pt x="1102161" y="750460"/>
                  </a:lnTo>
                  <a:lnTo>
                    <a:pt x="1105108" y="738673"/>
                  </a:lnTo>
                  <a:lnTo>
                    <a:pt x="1107828" y="726887"/>
                  </a:lnTo>
                  <a:lnTo>
                    <a:pt x="1110321" y="715328"/>
                  </a:lnTo>
                  <a:lnTo>
                    <a:pt x="1112362" y="703315"/>
                  </a:lnTo>
                  <a:lnTo>
                    <a:pt x="1114175" y="691529"/>
                  </a:lnTo>
                  <a:lnTo>
                    <a:pt x="1115762" y="679516"/>
                  </a:lnTo>
                  <a:lnTo>
                    <a:pt x="1117122" y="667503"/>
                  </a:lnTo>
                  <a:lnTo>
                    <a:pt x="1118256" y="655717"/>
                  </a:lnTo>
                  <a:lnTo>
                    <a:pt x="1118936" y="643704"/>
                  </a:lnTo>
                  <a:lnTo>
                    <a:pt x="1119389" y="631918"/>
                  </a:lnTo>
                  <a:lnTo>
                    <a:pt x="1119389" y="619905"/>
                  </a:lnTo>
                  <a:lnTo>
                    <a:pt x="1119389" y="607666"/>
                  </a:lnTo>
                  <a:lnTo>
                    <a:pt x="1118936" y="595880"/>
                  </a:lnTo>
                  <a:lnTo>
                    <a:pt x="1118256" y="583867"/>
                  </a:lnTo>
                  <a:lnTo>
                    <a:pt x="1117122" y="571854"/>
                  </a:lnTo>
                  <a:lnTo>
                    <a:pt x="1115762" y="560068"/>
                  </a:lnTo>
                  <a:lnTo>
                    <a:pt x="1114175" y="548055"/>
                  </a:lnTo>
                  <a:lnTo>
                    <a:pt x="1112362" y="536269"/>
                  </a:lnTo>
                  <a:lnTo>
                    <a:pt x="1110321" y="524256"/>
                  </a:lnTo>
                  <a:lnTo>
                    <a:pt x="1107828" y="512470"/>
                  </a:lnTo>
                  <a:lnTo>
                    <a:pt x="1105108" y="500911"/>
                  </a:lnTo>
                  <a:lnTo>
                    <a:pt x="1102161" y="489125"/>
                  </a:lnTo>
                  <a:lnTo>
                    <a:pt x="1098760" y="477565"/>
                  </a:lnTo>
                  <a:lnTo>
                    <a:pt x="1095360" y="466006"/>
                  </a:lnTo>
                  <a:lnTo>
                    <a:pt x="1091280" y="454673"/>
                  </a:lnTo>
                  <a:lnTo>
                    <a:pt x="1087426" y="443114"/>
                  </a:lnTo>
                  <a:lnTo>
                    <a:pt x="1082892" y="431554"/>
                  </a:lnTo>
                  <a:lnTo>
                    <a:pt x="1078132" y="420448"/>
                  </a:lnTo>
                  <a:lnTo>
                    <a:pt x="1073144" y="409342"/>
                  </a:lnTo>
                  <a:lnTo>
                    <a:pt x="1067931" y="398462"/>
                  </a:lnTo>
                  <a:lnTo>
                    <a:pt x="1062263" y="387583"/>
                  </a:lnTo>
                  <a:lnTo>
                    <a:pt x="1056370" y="376703"/>
                  </a:lnTo>
                  <a:lnTo>
                    <a:pt x="1050249" y="366050"/>
                  </a:lnTo>
                  <a:lnTo>
                    <a:pt x="1043902" y="355397"/>
                  </a:lnTo>
                  <a:lnTo>
                    <a:pt x="1037101" y="344971"/>
                  </a:lnTo>
                  <a:lnTo>
                    <a:pt x="1030074" y="334545"/>
                  </a:lnTo>
                  <a:lnTo>
                    <a:pt x="1022820" y="324346"/>
                  </a:lnTo>
                  <a:lnTo>
                    <a:pt x="1015339" y="314373"/>
                  </a:lnTo>
                  <a:lnTo>
                    <a:pt x="1007405" y="304400"/>
                  </a:lnTo>
                  <a:lnTo>
                    <a:pt x="999244" y="294654"/>
                  </a:lnTo>
                  <a:lnTo>
                    <a:pt x="990856" y="285134"/>
                  </a:lnTo>
                  <a:lnTo>
                    <a:pt x="982016" y="275614"/>
                  </a:lnTo>
                  <a:lnTo>
                    <a:pt x="972948" y="266548"/>
                  </a:lnTo>
                  <a:lnTo>
                    <a:pt x="963880" y="257482"/>
                  </a:lnTo>
                  <a:lnTo>
                    <a:pt x="954586" y="248869"/>
                  </a:lnTo>
                  <a:lnTo>
                    <a:pt x="944839" y="240483"/>
                  </a:lnTo>
                  <a:lnTo>
                    <a:pt x="935091" y="232323"/>
                  </a:lnTo>
                  <a:lnTo>
                    <a:pt x="925343" y="224163"/>
                  </a:lnTo>
                  <a:lnTo>
                    <a:pt x="915142" y="216684"/>
                  </a:lnTo>
                  <a:lnTo>
                    <a:pt x="904941" y="209431"/>
                  </a:lnTo>
                  <a:lnTo>
                    <a:pt x="894740" y="202631"/>
                  </a:lnTo>
                  <a:lnTo>
                    <a:pt x="884086" y="195831"/>
                  </a:lnTo>
                  <a:lnTo>
                    <a:pt x="873658" y="189485"/>
                  </a:lnTo>
                  <a:lnTo>
                    <a:pt x="862777" y="183139"/>
                  </a:lnTo>
                  <a:lnTo>
                    <a:pt x="852123" y="177246"/>
                  </a:lnTo>
                  <a:lnTo>
                    <a:pt x="841015" y="171579"/>
                  </a:lnTo>
                  <a:lnTo>
                    <a:pt x="830134" y="166593"/>
                  </a:lnTo>
                  <a:lnTo>
                    <a:pt x="819026" y="161380"/>
                  </a:lnTo>
                  <a:lnTo>
                    <a:pt x="807692" y="156620"/>
                  </a:lnTo>
                  <a:lnTo>
                    <a:pt x="796358" y="152313"/>
                  </a:lnTo>
                  <a:lnTo>
                    <a:pt x="785023" y="148234"/>
                  </a:lnTo>
                  <a:lnTo>
                    <a:pt x="773462" y="144380"/>
                  </a:lnTo>
                  <a:lnTo>
                    <a:pt x="762128" y="140754"/>
                  </a:lnTo>
                  <a:lnTo>
                    <a:pt x="750340" y="137581"/>
                  </a:lnTo>
                  <a:lnTo>
                    <a:pt x="738779" y="134407"/>
                  </a:lnTo>
                  <a:lnTo>
                    <a:pt x="726991" y="131688"/>
                  </a:lnTo>
                  <a:lnTo>
                    <a:pt x="715203" y="129421"/>
                  </a:lnTo>
                  <a:lnTo>
                    <a:pt x="703415" y="127154"/>
                  </a:lnTo>
                  <a:lnTo>
                    <a:pt x="691401" y="125341"/>
                  </a:lnTo>
                  <a:lnTo>
                    <a:pt x="679613" y="123755"/>
                  </a:lnTo>
                  <a:lnTo>
                    <a:pt x="667598" y="122621"/>
                  </a:lnTo>
                  <a:lnTo>
                    <a:pt x="655584" y="121488"/>
                  </a:lnTo>
                  <a:lnTo>
                    <a:pt x="643796" y="120581"/>
                  </a:lnTo>
                  <a:lnTo>
                    <a:pt x="631782" y="120128"/>
                  </a:lnTo>
                  <a:lnTo>
                    <a:pt x="619540" y="120128"/>
                  </a:lnTo>
                  <a:lnTo>
                    <a:pt x="607752" y="120128"/>
                  </a:lnTo>
                  <a:close/>
                  <a:moveTo>
                    <a:pt x="619540" y="0"/>
                  </a:moveTo>
                  <a:lnTo>
                    <a:pt x="634502" y="227"/>
                  </a:lnTo>
                  <a:lnTo>
                    <a:pt x="649690" y="907"/>
                  </a:lnTo>
                  <a:lnTo>
                    <a:pt x="664198" y="1587"/>
                  </a:lnTo>
                  <a:lnTo>
                    <a:pt x="678933" y="3173"/>
                  </a:lnTo>
                  <a:lnTo>
                    <a:pt x="694121" y="4533"/>
                  </a:lnTo>
                  <a:lnTo>
                    <a:pt x="708629" y="6573"/>
                  </a:lnTo>
                  <a:lnTo>
                    <a:pt x="723364" y="8840"/>
                  </a:lnTo>
                  <a:lnTo>
                    <a:pt x="738098" y="11560"/>
                  </a:lnTo>
                  <a:lnTo>
                    <a:pt x="752607" y="14506"/>
                  </a:lnTo>
                  <a:lnTo>
                    <a:pt x="767115" y="17906"/>
                  </a:lnTo>
                  <a:lnTo>
                    <a:pt x="781623" y="21533"/>
                  </a:lnTo>
                  <a:lnTo>
                    <a:pt x="796131" y="25839"/>
                  </a:lnTo>
                  <a:lnTo>
                    <a:pt x="810412" y="30146"/>
                  </a:lnTo>
                  <a:lnTo>
                    <a:pt x="824694" y="34905"/>
                  </a:lnTo>
                  <a:lnTo>
                    <a:pt x="838975" y="40118"/>
                  </a:lnTo>
                  <a:lnTo>
                    <a:pt x="853030" y="45558"/>
                  </a:lnTo>
                  <a:lnTo>
                    <a:pt x="866858" y="51451"/>
                  </a:lnTo>
                  <a:lnTo>
                    <a:pt x="880686" y="57571"/>
                  </a:lnTo>
                  <a:lnTo>
                    <a:pt x="894514" y="64144"/>
                  </a:lnTo>
                  <a:lnTo>
                    <a:pt x="907888" y="71170"/>
                  </a:lnTo>
                  <a:lnTo>
                    <a:pt x="921263" y="78423"/>
                  </a:lnTo>
                  <a:lnTo>
                    <a:pt x="934638" y="85903"/>
                  </a:lnTo>
                  <a:lnTo>
                    <a:pt x="947786" y="93836"/>
                  </a:lnTo>
                  <a:lnTo>
                    <a:pt x="960934" y="102222"/>
                  </a:lnTo>
                  <a:lnTo>
                    <a:pt x="973401" y="110835"/>
                  </a:lnTo>
                  <a:lnTo>
                    <a:pt x="986096" y="119901"/>
                  </a:lnTo>
                  <a:lnTo>
                    <a:pt x="998791" y="129421"/>
                  </a:lnTo>
                  <a:lnTo>
                    <a:pt x="1010805" y="139167"/>
                  </a:lnTo>
                  <a:lnTo>
                    <a:pt x="1023046" y="149140"/>
                  </a:lnTo>
                  <a:lnTo>
                    <a:pt x="1034607" y="159793"/>
                  </a:lnTo>
                  <a:lnTo>
                    <a:pt x="1046395" y="170446"/>
                  </a:lnTo>
                  <a:lnTo>
                    <a:pt x="1057956" y="181779"/>
                  </a:lnTo>
                  <a:lnTo>
                    <a:pt x="1067251" y="191072"/>
                  </a:lnTo>
                  <a:lnTo>
                    <a:pt x="1076318" y="200591"/>
                  </a:lnTo>
                  <a:lnTo>
                    <a:pt x="1084932" y="210564"/>
                  </a:lnTo>
                  <a:lnTo>
                    <a:pt x="1093546" y="220310"/>
                  </a:lnTo>
                  <a:lnTo>
                    <a:pt x="1101934" y="230283"/>
                  </a:lnTo>
                  <a:lnTo>
                    <a:pt x="1110095" y="240709"/>
                  </a:lnTo>
                  <a:lnTo>
                    <a:pt x="1117802" y="250909"/>
                  </a:lnTo>
                  <a:lnTo>
                    <a:pt x="1125510" y="261108"/>
                  </a:lnTo>
                  <a:lnTo>
                    <a:pt x="1132764" y="271988"/>
                  </a:lnTo>
                  <a:lnTo>
                    <a:pt x="1139791" y="282414"/>
                  </a:lnTo>
                  <a:lnTo>
                    <a:pt x="1146592" y="293294"/>
                  </a:lnTo>
                  <a:lnTo>
                    <a:pt x="1153166" y="304173"/>
                  </a:lnTo>
                  <a:lnTo>
                    <a:pt x="1159513" y="315279"/>
                  </a:lnTo>
                  <a:lnTo>
                    <a:pt x="1165634" y="326159"/>
                  </a:lnTo>
                  <a:lnTo>
                    <a:pt x="1171527" y="337492"/>
                  </a:lnTo>
                  <a:lnTo>
                    <a:pt x="1177195" y="348598"/>
                  </a:lnTo>
                  <a:lnTo>
                    <a:pt x="1182408" y="360157"/>
                  </a:lnTo>
                  <a:lnTo>
                    <a:pt x="1187622" y="371490"/>
                  </a:lnTo>
                  <a:lnTo>
                    <a:pt x="1192610" y="383050"/>
                  </a:lnTo>
                  <a:lnTo>
                    <a:pt x="1197143" y="394609"/>
                  </a:lnTo>
                  <a:lnTo>
                    <a:pt x="1201677" y="406395"/>
                  </a:lnTo>
                  <a:lnTo>
                    <a:pt x="1205984" y="418181"/>
                  </a:lnTo>
                  <a:lnTo>
                    <a:pt x="1209611" y="429741"/>
                  </a:lnTo>
                  <a:lnTo>
                    <a:pt x="1213465" y="441754"/>
                  </a:lnTo>
                  <a:lnTo>
                    <a:pt x="1216865" y="453540"/>
                  </a:lnTo>
                  <a:lnTo>
                    <a:pt x="1219812" y="465552"/>
                  </a:lnTo>
                  <a:lnTo>
                    <a:pt x="1222986" y="477792"/>
                  </a:lnTo>
                  <a:lnTo>
                    <a:pt x="1225706" y="489578"/>
                  </a:lnTo>
                  <a:lnTo>
                    <a:pt x="1228200" y="501818"/>
                  </a:lnTo>
                  <a:lnTo>
                    <a:pt x="1230240" y="514057"/>
                  </a:lnTo>
                  <a:lnTo>
                    <a:pt x="1232280" y="526070"/>
                  </a:lnTo>
                  <a:lnTo>
                    <a:pt x="1233867" y="538536"/>
                  </a:lnTo>
                  <a:lnTo>
                    <a:pt x="1235680" y="550775"/>
                  </a:lnTo>
                  <a:lnTo>
                    <a:pt x="1236814" y="563015"/>
                  </a:lnTo>
                  <a:lnTo>
                    <a:pt x="1237720" y="575254"/>
                  </a:lnTo>
                  <a:lnTo>
                    <a:pt x="1238401" y="587720"/>
                  </a:lnTo>
                  <a:lnTo>
                    <a:pt x="1239081" y="599733"/>
                  </a:lnTo>
                  <a:lnTo>
                    <a:pt x="1239307" y="612199"/>
                  </a:lnTo>
                  <a:lnTo>
                    <a:pt x="1239307" y="624665"/>
                  </a:lnTo>
                  <a:lnTo>
                    <a:pt x="1239081" y="636678"/>
                  </a:lnTo>
                  <a:lnTo>
                    <a:pt x="1238627" y="649144"/>
                  </a:lnTo>
                  <a:lnTo>
                    <a:pt x="1237947" y="661610"/>
                  </a:lnTo>
                  <a:lnTo>
                    <a:pt x="1237040" y="673623"/>
                  </a:lnTo>
                  <a:lnTo>
                    <a:pt x="1235907" y="686089"/>
                  </a:lnTo>
                  <a:lnTo>
                    <a:pt x="1234320" y="698102"/>
                  </a:lnTo>
                  <a:lnTo>
                    <a:pt x="1232507" y="710341"/>
                  </a:lnTo>
                  <a:lnTo>
                    <a:pt x="1230693" y="722807"/>
                  </a:lnTo>
                  <a:lnTo>
                    <a:pt x="1228653" y="734820"/>
                  </a:lnTo>
                  <a:lnTo>
                    <a:pt x="1226159" y="746833"/>
                  </a:lnTo>
                  <a:lnTo>
                    <a:pt x="1223439" y="759073"/>
                  </a:lnTo>
                  <a:lnTo>
                    <a:pt x="1220719" y="771085"/>
                  </a:lnTo>
                  <a:lnTo>
                    <a:pt x="1217545" y="783098"/>
                  </a:lnTo>
                  <a:lnTo>
                    <a:pt x="1214145" y="795111"/>
                  </a:lnTo>
                  <a:lnTo>
                    <a:pt x="1210518" y="806897"/>
                  </a:lnTo>
                  <a:lnTo>
                    <a:pt x="1206664" y="818683"/>
                  </a:lnTo>
                  <a:lnTo>
                    <a:pt x="1202357" y="830469"/>
                  </a:lnTo>
                  <a:lnTo>
                    <a:pt x="1198277" y="842255"/>
                  </a:lnTo>
                  <a:lnTo>
                    <a:pt x="1193516" y="853588"/>
                  </a:lnTo>
                  <a:lnTo>
                    <a:pt x="1188529" y="865374"/>
                  </a:lnTo>
                  <a:lnTo>
                    <a:pt x="1183769" y="876934"/>
                  </a:lnTo>
                  <a:lnTo>
                    <a:pt x="1178328" y="888267"/>
                  </a:lnTo>
                  <a:lnTo>
                    <a:pt x="1172661" y="899599"/>
                  </a:lnTo>
                  <a:lnTo>
                    <a:pt x="1166767" y="910706"/>
                  </a:lnTo>
                  <a:lnTo>
                    <a:pt x="1160646" y="921812"/>
                  </a:lnTo>
                  <a:lnTo>
                    <a:pt x="1534229" y="1295115"/>
                  </a:lnTo>
                  <a:lnTo>
                    <a:pt x="1540350" y="1301461"/>
                  </a:lnTo>
                  <a:lnTo>
                    <a:pt x="1545790" y="1308034"/>
                  </a:lnTo>
                  <a:lnTo>
                    <a:pt x="1551231" y="1314607"/>
                  </a:lnTo>
                  <a:lnTo>
                    <a:pt x="1556445" y="1321407"/>
                  </a:lnTo>
                  <a:lnTo>
                    <a:pt x="1560752" y="1328433"/>
                  </a:lnTo>
                  <a:lnTo>
                    <a:pt x="1565286" y="1335460"/>
                  </a:lnTo>
                  <a:lnTo>
                    <a:pt x="1569366" y="1342713"/>
                  </a:lnTo>
                  <a:lnTo>
                    <a:pt x="1572766" y="1349966"/>
                  </a:lnTo>
                  <a:lnTo>
                    <a:pt x="1576167" y="1357219"/>
                  </a:lnTo>
                  <a:lnTo>
                    <a:pt x="1578887" y="1364698"/>
                  </a:lnTo>
                  <a:lnTo>
                    <a:pt x="1581381" y="1372178"/>
                  </a:lnTo>
                  <a:lnTo>
                    <a:pt x="1583648" y="1379658"/>
                  </a:lnTo>
                  <a:lnTo>
                    <a:pt x="1585461" y="1387137"/>
                  </a:lnTo>
                  <a:lnTo>
                    <a:pt x="1586821" y="1394617"/>
                  </a:lnTo>
                  <a:lnTo>
                    <a:pt x="1587955" y="1402323"/>
                  </a:lnTo>
                  <a:lnTo>
                    <a:pt x="1588635" y="1409803"/>
                  </a:lnTo>
                  <a:lnTo>
                    <a:pt x="1589088" y="1417283"/>
                  </a:lnTo>
                  <a:lnTo>
                    <a:pt x="1589088" y="1424762"/>
                  </a:lnTo>
                  <a:lnTo>
                    <a:pt x="1588861" y="1432242"/>
                  </a:lnTo>
                  <a:lnTo>
                    <a:pt x="1588181" y="1439495"/>
                  </a:lnTo>
                  <a:lnTo>
                    <a:pt x="1587274" y="1446748"/>
                  </a:lnTo>
                  <a:lnTo>
                    <a:pt x="1585914" y="1454001"/>
                  </a:lnTo>
                  <a:lnTo>
                    <a:pt x="1584101" y="1461027"/>
                  </a:lnTo>
                  <a:lnTo>
                    <a:pt x="1581834" y="1467827"/>
                  </a:lnTo>
                  <a:lnTo>
                    <a:pt x="1579340" y="1474627"/>
                  </a:lnTo>
                  <a:lnTo>
                    <a:pt x="1576620" y="1481200"/>
                  </a:lnTo>
                  <a:lnTo>
                    <a:pt x="1573220" y="1487773"/>
                  </a:lnTo>
                  <a:lnTo>
                    <a:pt x="1569593" y="1494119"/>
                  </a:lnTo>
                  <a:lnTo>
                    <a:pt x="1565512" y="1500239"/>
                  </a:lnTo>
                  <a:lnTo>
                    <a:pt x="1561432" y="1506132"/>
                  </a:lnTo>
                  <a:lnTo>
                    <a:pt x="1556445" y="1511572"/>
                  </a:lnTo>
                  <a:lnTo>
                    <a:pt x="1551231" y="1517011"/>
                  </a:lnTo>
                  <a:lnTo>
                    <a:pt x="1517228" y="1551237"/>
                  </a:lnTo>
                  <a:lnTo>
                    <a:pt x="1511787" y="1556223"/>
                  </a:lnTo>
                  <a:lnTo>
                    <a:pt x="1506120" y="1561209"/>
                  </a:lnTo>
                  <a:lnTo>
                    <a:pt x="1500226" y="1565516"/>
                  </a:lnTo>
                  <a:lnTo>
                    <a:pt x="1494106" y="1569369"/>
                  </a:lnTo>
                  <a:lnTo>
                    <a:pt x="1487985" y="1573222"/>
                  </a:lnTo>
                  <a:lnTo>
                    <a:pt x="1481411" y="1576395"/>
                  </a:lnTo>
                  <a:lnTo>
                    <a:pt x="1474837" y="1579342"/>
                  </a:lnTo>
                  <a:lnTo>
                    <a:pt x="1468036" y="1581835"/>
                  </a:lnTo>
                  <a:lnTo>
                    <a:pt x="1461009" y="1583875"/>
                  </a:lnTo>
                  <a:lnTo>
                    <a:pt x="1453982" y="1585688"/>
                  </a:lnTo>
                  <a:lnTo>
                    <a:pt x="1446728" y="1587275"/>
                  </a:lnTo>
                  <a:lnTo>
                    <a:pt x="1439474" y="1588182"/>
                  </a:lnTo>
                  <a:lnTo>
                    <a:pt x="1432219" y="1588862"/>
                  </a:lnTo>
                  <a:lnTo>
                    <a:pt x="1424739" y="1589088"/>
                  </a:lnTo>
                  <a:lnTo>
                    <a:pt x="1417258" y="1589088"/>
                  </a:lnTo>
                  <a:lnTo>
                    <a:pt x="1409777" y="1588862"/>
                  </a:lnTo>
                  <a:lnTo>
                    <a:pt x="1402296" y="1587955"/>
                  </a:lnTo>
                  <a:lnTo>
                    <a:pt x="1394589" y="1587048"/>
                  </a:lnTo>
                  <a:lnTo>
                    <a:pt x="1387108" y="1585235"/>
                  </a:lnTo>
                  <a:lnTo>
                    <a:pt x="1379628" y="1583422"/>
                  </a:lnTo>
                  <a:lnTo>
                    <a:pt x="1372147" y="1581382"/>
                  </a:lnTo>
                  <a:lnTo>
                    <a:pt x="1364666" y="1578662"/>
                  </a:lnTo>
                  <a:lnTo>
                    <a:pt x="1357186" y="1575942"/>
                  </a:lnTo>
                  <a:lnTo>
                    <a:pt x="1349931" y="1572769"/>
                  </a:lnTo>
                  <a:lnTo>
                    <a:pt x="1342677" y="1569142"/>
                  </a:lnTo>
                  <a:lnTo>
                    <a:pt x="1335423" y="1565289"/>
                  </a:lnTo>
                  <a:lnTo>
                    <a:pt x="1328396" y="1560756"/>
                  </a:lnTo>
                  <a:lnTo>
                    <a:pt x="1321369" y="1556223"/>
                  </a:lnTo>
                  <a:lnTo>
                    <a:pt x="1314568" y="1551237"/>
                  </a:lnTo>
                  <a:lnTo>
                    <a:pt x="1307994" y="1545797"/>
                  </a:lnTo>
                  <a:lnTo>
                    <a:pt x="1301420" y="1540130"/>
                  </a:lnTo>
                  <a:lnTo>
                    <a:pt x="1295299" y="1534011"/>
                  </a:lnTo>
                  <a:lnTo>
                    <a:pt x="921716" y="1160708"/>
                  </a:lnTo>
                  <a:lnTo>
                    <a:pt x="910835" y="1166827"/>
                  </a:lnTo>
                  <a:lnTo>
                    <a:pt x="899501" y="1172720"/>
                  </a:lnTo>
                  <a:lnTo>
                    <a:pt x="888166" y="1178160"/>
                  </a:lnTo>
                  <a:lnTo>
                    <a:pt x="876832" y="1183600"/>
                  </a:lnTo>
                  <a:lnTo>
                    <a:pt x="865498" y="1188586"/>
                  </a:lnTo>
                  <a:lnTo>
                    <a:pt x="853710" y="1193346"/>
                  </a:lnTo>
                  <a:lnTo>
                    <a:pt x="842375" y="1198106"/>
                  </a:lnTo>
                  <a:lnTo>
                    <a:pt x="830588" y="1202412"/>
                  </a:lnTo>
                  <a:lnTo>
                    <a:pt x="818573" y="1206492"/>
                  </a:lnTo>
                  <a:lnTo>
                    <a:pt x="807012" y="1210572"/>
                  </a:lnTo>
                  <a:lnTo>
                    <a:pt x="794997" y="1213972"/>
                  </a:lnTo>
                  <a:lnTo>
                    <a:pt x="783210" y="1217598"/>
                  </a:lnTo>
                  <a:lnTo>
                    <a:pt x="771195" y="1220545"/>
                  </a:lnTo>
                  <a:lnTo>
                    <a:pt x="758954" y="1223265"/>
                  </a:lnTo>
                  <a:lnTo>
                    <a:pt x="746939" y="1226211"/>
                  </a:lnTo>
                  <a:lnTo>
                    <a:pt x="734698" y="1228478"/>
                  </a:lnTo>
                  <a:lnTo>
                    <a:pt x="722457" y="1230518"/>
                  </a:lnTo>
                  <a:lnTo>
                    <a:pt x="710442" y="1232784"/>
                  </a:lnTo>
                  <a:lnTo>
                    <a:pt x="698201" y="1234371"/>
                  </a:lnTo>
                  <a:lnTo>
                    <a:pt x="685960" y="1235731"/>
                  </a:lnTo>
                  <a:lnTo>
                    <a:pt x="673719" y="1236864"/>
                  </a:lnTo>
                  <a:lnTo>
                    <a:pt x="661478" y="1237771"/>
                  </a:lnTo>
                  <a:lnTo>
                    <a:pt x="649010" y="1238451"/>
                  </a:lnTo>
                  <a:lnTo>
                    <a:pt x="636769" y="1239131"/>
                  </a:lnTo>
                  <a:lnTo>
                    <a:pt x="624527" y="1239357"/>
                  </a:lnTo>
                  <a:lnTo>
                    <a:pt x="612060" y="1239357"/>
                  </a:lnTo>
                  <a:lnTo>
                    <a:pt x="599818" y="1239131"/>
                  </a:lnTo>
                  <a:lnTo>
                    <a:pt x="587577" y="1238451"/>
                  </a:lnTo>
                  <a:lnTo>
                    <a:pt x="575109" y="1237544"/>
                  </a:lnTo>
                  <a:lnTo>
                    <a:pt x="562868" y="1236638"/>
                  </a:lnTo>
                  <a:lnTo>
                    <a:pt x="550627" y="1235504"/>
                  </a:lnTo>
                  <a:lnTo>
                    <a:pt x="538612" y="1233918"/>
                  </a:lnTo>
                  <a:lnTo>
                    <a:pt x="526145" y="1232331"/>
                  </a:lnTo>
                  <a:lnTo>
                    <a:pt x="513903" y="1230291"/>
                  </a:lnTo>
                  <a:lnTo>
                    <a:pt x="501889" y="1228025"/>
                  </a:lnTo>
                  <a:lnTo>
                    <a:pt x="489648" y="1225758"/>
                  </a:lnTo>
                  <a:lnTo>
                    <a:pt x="477633" y="1222811"/>
                  </a:lnTo>
                  <a:lnTo>
                    <a:pt x="465619" y="1219865"/>
                  </a:lnTo>
                  <a:lnTo>
                    <a:pt x="453604" y="1216918"/>
                  </a:lnTo>
                  <a:lnTo>
                    <a:pt x="441590" y="1213292"/>
                  </a:lnTo>
                  <a:lnTo>
                    <a:pt x="429802" y="1209665"/>
                  </a:lnTo>
                  <a:lnTo>
                    <a:pt x="418014" y="1205812"/>
                  </a:lnTo>
                  <a:lnTo>
                    <a:pt x="406453" y="1201506"/>
                  </a:lnTo>
                  <a:lnTo>
                    <a:pt x="394665" y="1197199"/>
                  </a:lnTo>
                  <a:lnTo>
                    <a:pt x="383104" y="1192440"/>
                  </a:lnTo>
                  <a:lnTo>
                    <a:pt x="371543" y="1187680"/>
                  </a:lnTo>
                  <a:lnTo>
                    <a:pt x="359982" y="1182467"/>
                  </a:lnTo>
                  <a:lnTo>
                    <a:pt x="348647" y="1177027"/>
                  </a:lnTo>
                  <a:lnTo>
                    <a:pt x="337313" y="1171360"/>
                  </a:lnTo>
                  <a:lnTo>
                    <a:pt x="326205" y="1165694"/>
                  </a:lnTo>
                  <a:lnTo>
                    <a:pt x="315097" y="1159574"/>
                  </a:lnTo>
                  <a:lnTo>
                    <a:pt x="304216" y="1153228"/>
                  </a:lnTo>
                  <a:lnTo>
                    <a:pt x="293109" y="1146655"/>
                  </a:lnTo>
                  <a:lnTo>
                    <a:pt x="282454" y="1139629"/>
                  </a:lnTo>
                  <a:lnTo>
                    <a:pt x="272026" y="1132602"/>
                  </a:lnTo>
                  <a:lnTo>
                    <a:pt x="261145" y="1125349"/>
                  </a:lnTo>
                  <a:lnTo>
                    <a:pt x="250944" y="1117643"/>
                  </a:lnTo>
                  <a:lnTo>
                    <a:pt x="240517" y="1109937"/>
                  </a:lnTo>
                  <a:lnTo>
                    <a:pt x="230316" y="1101777"/>
                  </a:lnTo>
                  <a:lnTo>
                    <a:pt x="220341" y="1093617"/>
                  </a:lnTo>
                  <a:lnTo>
                    <a:pt x="210367" y="1085004"/>
                  </a:lnTo>
                  <a:lnTo>
                    <a:pt x="200620" y="1076391"/>
                  </a:lnTo>
                  <a:lnTo>
                    <a:pt x="191099" y="1067099"/>
                  </a:lnTo>
                  <a:lnTo>
                    <a:pt x="181578" y="1057806"/>
                  </a:lnTo>
                  <a:lnTo>
                    <a:pt x="170470" y="1046473"/>
                  </a:lnTo>
                  <a:lnTo>
                    <a:pt x="159589" y="1034913"/>
                  </a:lnTo>
                  <a:lnTo>
                    <a:pt x="149161" y="1022901"/>
                  </a:lnTo>
                  <a:lnTo>
                    <a:pt x="139187" y="1010888"/>
                  </a:lnTo>
                  <a:lnTo>
                    <a:pt x="129213" y="998648"/>
                  </a:lnTo>
                  <a:lnTo>
                    <a:pt x="119918" y="985956"/>
                  </a:lnTo>
                  <a:lnTo>
                    <a:pt x="110851" y="973489"/>
                  </a:lnTo>
                  <a:lnTo>
                    <a:pt x="102237" y="960797"/>
                  </a:lnTo>
                  <a:lnTo>
                    <a:pt x="93849" y="947651"/>
                  </a:lnTo>
                  <a:lnTo>
                    <a:pt x="85688" y="934505"/>
                  </a:lnTo>
                  <a:lnTo>
                    <a:pt x="78208" y="921358"/>
                  </a:lnTo>
                  <a:lnTo>
                    <a:pt x="70954" y="907986"/>
                  </a:lnTo>
                  <a:lnTo>
                    <a:pt x="64153" y="894386"/>
                  </a:lnTo>
                  <a:lnTo>
                    <a:pt x="57579" y="880560"/>
                  </a:lnTo>
                  <a:lnTo>
                    <a:pt x="51232" y="866734"/>
                  </a:lnTo>
                  <a:lnTo>
                    <a:pt x="45338" y="852908"/>
                  </a:lnTo>
                  <a:lnTo>
                    <a:pt x="39897" y="838856"/>
                  </a:lnTo>
                  <a:lnTo>
                    <a:pt x="34910" y="824803"/>
                  </a:lnTo>
                  <a:lnTo>
                    <a:pt x="30150" y="810524"/>
                  </a:lnTo>
                  <a:lnTo>
                    <a:pt x="25616" y="796244"/>
                  </a:lnTo>
                  <a:lnTo>
                    <a:pt x="21535" y="781738"/>
                  </a:lnTo>
                  <a:lnTo>
                    <a:pt x="17682" y="767232"/>
                  </a:lnTo>
                  <a:lnTo>
                    <a:pt x="14508" y="752726"/>
                  </a:lnTo>
                  <a:lnTo>
                    <a:pt x="11334" y="738220"/>
                  </a:lnTo>
                  <a:lnTo>
                    <a:pt x="8841" y="723487"/>
                  </a:lnTo>
                  <a:lnTo>
                    <a:pt x="6574" y="708755"/>
                  </a:lnTo>
                  <a:lnTo>
                    <a:pt x="4307" y="694022"/>
                  </a:lnTo>
                  <a:lnTo>
                    <a:pt x="2947" y="679289"/>
                  </a:lnTo>
                  <a:lnTo>
                    <a:pt x="1587" y="664330"/>
                  </a:lnTo>
                  <a:lnTo>
                    <a:pt x="680" y="649597"/>
                  </a:lnTo>
                  <a:lnTo>
                    <a:pt x="227" y="634638"/>
                  </a:lnTo>
                  <a:lnTo>
                    <a:pt x="0" y="619905"/>
                  </a:lnTo>
                  <a:lnTo>
                    <a:pt x="227" y="604946"/>
                  </a:lnTo>
                  <a:lnTo>
                    <a:pt x="680" y="589987"/>
                  </a:lnTo>
                  <a:lnTo>
                    <a:pt x="1587" y="575254"/>
                  </a:lnTo>
                  <a:lnTo>
                    <a:pt x="2947" y="560295"/>
                  </a:lnTo>
                  <a:lnTo>
                    <a:pt x="4307" y="545562"/>
                  </a:lnTo>
                  <a:lnTo>
                    <a:pt x="6574" y="530830"/>
                  </a:lnTo>
                  <a:lnTo>
                    <a:pt x="8841" y="516097"/>
                  </a:lnTo>
                  <a:lnTo>
                    <a:pt x="11334" y="501364"/>
                  </a:lnTo>
                  <a:lnTo>
                    <a:pt x="14508" y="486858"/>
                  </a:lnTo>
                  <a:lnTo>
                    <a:pt x="17682" y="472352"/>
                  </a:lnTo>
                  <a:lnTo>
                    <a:pt x="21535" y="457846"/>
                  </a:lnTo>
                  <a:lnTo>
                    <a:pt x="25616" y="443340"/>
                  </a:lnTo>
                  <a:lnTo>
                    <a:pt x="30150" y="429061"/>
                  </a:lnTo>
                  <a:lnTo>
                    <a:pt x="34910" y="414781"/>
                  </a:lnTo>
                  <a:lnTo>
                    <a:pt x="39897" y="400502"/>
                  </a:lnTo>
                  <a:lnTo>
                    <a:pt x="45338" y="386449"/>
                  </a:lnTo>
                  <a:lnTo>
                    <a:pt x="51232" y="372850"/>
                  </a:lnTo>
                  <a:lnTo>
                    <a:pt x="57579" y="359024"/>
                  </a:lnTo>
                  <a:lnTo>
                    <a:pt x="64153" y="345198"/>
                  </a:lnTo>
                  <a:lnTo>
                    <a:pt x="70954" y="331599"/>
                  </a:lnTo>
                  <a:lnTo>
                    <a:pt x="78208" y="318226"/>
                  </a:lnTo>
                  <a:lnTo>
                    <a:pt x="85688" y="304853"/>
                  </a:lnTo>
                  <a:lnTo>
                    <a:pt x="93849" y="291934"/>
                  </a:lnTo>
                  <a:lnTo>
                    <a:pt x="102237" y="278788"/>
                  </a:lnTo>
                  <a:lnTo>
                    <a:pt x="110851" y="266095"/>
                  </a:lnTo>
                  <a:lnTo>
                    <a:pt x="119918" y="253402"/>
                  </a:lnTo>
                  <a:lnTo>
                    <a:pt x="129213" y="240936"/>
                  </a:lnTo>
                  <a:lnTo>
                    <a:pt x="139187" y="228697"/>
                  </a:lnTo>
                  <a:lnTo>
                    <a:pt x="149161" y="216457"/>
                  </a:lnTo>
                  <a:lnTo>
                    <a:pt x="159589" y="204671"/>
                  </a:lnTo>
                  <a:lnTo>
                    <a:pt x="170470" y="193111"/>
                  </a:lnTo>
                  <a:lnTo>
                    <a:pt x="181578" y="181779"/>
                  </a:lnTo>
                  <a:lnTo>
                    <a:pt x="193139" y="170446"/>
                  </a:lnTo>
                  <a:lnTo>
                    <a:pt x="204473" y="159793"/>
                  </a:lnTo>
                  <a:lnTo>
                    <a:pt x="216488" y="149140"/>
                  </a:lnTo>
                  <a:lnTo>
                    <a:pt x="228729" y="139167"/>
                  </a:lnTo>
                  <a:lnTo>
                    <a:pt x="240743" y="129421"/>
                  </a:lnTo>
                  <a:lnTo>
                    <a:pt x="253438" y="119901"/>
                  </a:lnTo>
                  <a:lnTo>
                    <a:pt x="266133" y="110835"/>
                  </a:lnTo>
                  <a:lnTo>
                    <a:pt x="278600" y="102222"/>
                  </a:lnTo>
                  <a:lnTo>
                    <a:pt x="291748" y="93836"/>
                  </a:lnTo>
                  <a:lnTo>
                    <a:pt x="304896" y="85903"/>
                  </a:lnTo>
                  <a:lnTo>
                    <a:pt x="318271" y="78423"/>
                  </a:lnTo>
                  <a:lnTo>
                    <a:pt x="331646" y="71170"/>
                  </a:lnTo>
                  <a:lnTo>
                    <a:pt x="345020" y="64144"/>
                  </a:lnTo>
                  <a:lnTo>
                    <a:pt x="358848" y="57571"/>
                  </a:lnTo>
                  <a:lnTo>
                    <a:pt x="372676" y="51451"/>
                  </a:lnTo>
                  <a:lnTo>
                    <a:pt x="386504" y="45558"/>
                  </a:lnTo>
                  <a:lnTo>
                    <a:pt x="400559" y="40118"/>
                  </a:lnTo>
                  <a:lnTo>
                    <a:pt x="414840" y="34905"/>
                  </a:lnTo>
                  <a:lnTo>
                    <a:pt x="429122" y="30146"/>
                  </a:lnTo>
                  <a:lnTo>
                    <a:pt x="443403" y="25839"/>
                  </a:lnTo>
                  <a:lnTo>
                    <a:pt x="457911" y="21533"/>
                  </a:lnTo>
                  <a:lnTo>
                    <a:pt x="472419" y="17906"/>
                  </a:lnTo>
                  <a:lnTo>
                    <a:pt x="486927" y="14506"/>
                  </a:lnTo>
                  <a:lnTo>
                    <a:pt x="501435" y="11560"/>
                  </a:lnTo>
                  <a:lnTo>
                    <a:pt x="515944" y="8840"/>
                  </a:lnTo>
                  <a:lnTo>
                    <a:pt x="530678" y="6573"/>
                  </a:lnTo>
                  <a:lnTo>
                    <a:pt x="545413" y="4533"/>
                  </a:lnTo>
                  <a:lnTo>
                    <a:pt x="560148" y="3173"/>
                  </a:lnTo>
                  <a:lnTo>
                    <a:pt x="575109" y="1587"/>
                  </a:lnTo>
                  <a:lnTo>
                    <a:pt x="589844" y="907"/>
                  </a:lnTo>
                  <a:lnTo>
                    <a:pt x="604806" y="227"/>
                  </a:lnTo>
                  <a:lnTo>
                    <a:pt x="619540" y="0"/>
                  </a:lnTo>
                  <a:close/>
                </a:path>
              </a:pathLst>
            </a:custGeom>
            <a:solidFill>
              <a:srgbClr val="F2F2F2"/>
            </a:solidFill>
            <a:ln>
              <a:noFill/>
            </a:ln>
          </p:spPr>
          <p:txBody>
            <a:bodyPr anchor="ctr">
              <a:scene3d>
                <a:camera prst="orthographicFront"/>
                <a:lightRig rig="threePt" dir="t"/>
              </a:scene3d>
              <a:sp3d>
                <a:contourClr>
                  <a:srgbClr val="FFFFFF"/>
                </a:contourClr>
              </a:sp3d>
            </a:bodyPr>
            <a:lstStyle/>
            <a:p>
              <a:pPr algn="ctr">
                <a:defRPr/>
              </a:pPr>
              <a:endParaRPr lang="zh-CN" altLang="en-US">
                <a:solidFill>
                  <a:srgbClr val="FFFFFF"/>
                </a:solidFill>
              </a:endParaRPr>
            </a:p>
          </p:txBody>
        </p:sp>
      </p:grpSp>
      <p:sp>
        <p:nvSpPr>
          <p:cNvPr id="26" name="文本框 25"/>
          <p:cNvSpPr txBox="1"/>
          <p:nvPr>
            <p:custDataLst>
              <p:tags r:id="rId14"/>
            </p:custDataLst>
          </p:nvPr>
        </p:nvSpPr>
        <p:spPr>
          <a:xfrm>
            <a:off x="1873250" y="5005070"/>
            <a:ext cx="3675380" cy="460375"/>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高效背景替换与</a:t>
            </a:r>
            <a:r>
              <a:rPr lang="zh-CN" altLang="en-US" sz="2400" dirty="0">
                <a:latin typeface="微软雅黑" panose="020B0503020204020204" pitchFamily="34" charset="-122"/>
                <a:ea typeface="微软雅黑" panose="020B0503020204020204" pitchFamily="34" charset="-122"/>
              </a:rPr>
              <a:t>合成</a:t>
            </a:r>
            <a:endParaRPr lang="zh-CN" altLang="en-US" sz="2400" dirty="0">
              <a:latin typeface="微软雅黑" panose="020B0503020204020204" pitchFamily="34" charset="-122"/>
              <a:ea typeface="微软雅黑" panose="020B0503020204020204" pitchFamily="34" charset="-122"/>
            </a:endParaRPr>
          </a:p>
        </p:txBody>
      </p:sp>
      <p:sp>
        <p:nvSpPr>
          <p:cNvPr id="27" name="矩形 26"/>
          <p:cNvSpPr/>
          <p:nvPr>
            <p:custDataLst>
              <p:tags r:id="rId15"/>
            </p:custDataLst>
          </p:nvPr>
        </p:nvSpPr>
        <p:spPr>
          <a:xfrm>
            <a:off x="1842243" y="5454653"/>
            <a:ext cx="9127380" cy="755650"/>
          </a:xfrm>
          <a:prstGeom prst="rect">
            <a:avLst/>
          </a:prstGeom>
        </p:spPr>
        <p:txBody>
          <a:bodyPr wrap="square">
            <a:spAutoFit/>
          </a:bodyPr>
          <a:lstStyle/>
          <a:p>
            <a:pPr algn="l">
              <a:lnSpc>
                <a:spcPct val="120000"/>
              </a:lnSpc>
            </a:pPr>
            <a:r>
              <a:rPr lang="zh-CN" altLang="en-US" dirty="0">
                <a:latin typeface="微软雅黑" panose="020B0503020204020204" pitchFamily="34" charset="-122"/>
                <a:ea typeface="微软雅黑" panose="020B0503020204020204" pitchFamily="34" charset="-122"/>
              </a:rPr>
              <a:t>优化了前景提取与背景合成技术，确保编辑后的主体能够与目标背景自然、和谐地融为一体，避免了生硬的</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图感</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，提升了编辑结果的真实感和视觉质量。</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16957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组合 20"/>
          <p:cNvGrpSpPr/>
          <p:nvPr/>
        </p:nvGrpSpPr>
        <p:grpSpPr>
          <a:xfrm>
            <a:off x="1448984" y="1861333"/>
            <a:ext cx="4517957" cy="1033168"/>
            <a:chOff x="1896842" y="1618734"/>
            <a:chExt cx="4517957" cy="1033168"/>
          </a:xfrm>
        </p:grpSpPr>
        <p:sp>
          <p:nvSpPr>
            <p:cNvPr id="16"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论文选题介绍</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椭圆 6"/>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8"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01</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 name="组合 1"/>
          <p:cNvGrpSpPr/>
          <p:nvPr/>
        </p:nvGrpSpPr>
        <p:grpSpPr>
          <a:xfrm>
            <a:off x="1448984" y="3804306"/>
            <a:ext cx="4517957" cy="1033168"/>
            <a:chOff x="1896842" y="1618734"/>
            <a:chExt cx="4517957" cy="1033168"/>
          </a:xfrm>
        </p:grpSpPr>
        <p:sp>
          <p:nvSpPr>
            <p:cNvPr id="3"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主要实现方法</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椭圆 3"/>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03</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15" name="组合 14"/>
          <p:cNvGrpSpPr/>
          <p:nvPr/>
        </p:nvGrpSpPr>
        <p:grpSpPr>
          <a:xfrm>
            <a:off x="6658053" y="1861333"/>
            <a:ext cx="4517957" cy="1033168"/>
            <a:chOff x="1896842" y="1618734"/>
            <a:chExt cx="4517957" cy="1033168"/>
          </a:xfrm>
        </p:grpSpPr>
        <p:sp>
          <p:nvSpPr>
            <p:cNvPr id="17"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主要研究内容</a:t>
              </a:r>
              <a:endParaRPr lang="en-US" altLang="zh-CN"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2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02</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7" name="组合 26"/>
          <p:cNvGrpSpPr/>
          <p:nvPr/>
        </p:nvGrpSpPr>
        <p:grpSpPr>
          <a:xfrm>
            <a:off x="6675131" y="3804306"/>
            <a:ext cx="4517957" cy="1033168"/>
            <a:chOff x="1896842" y="1618734"/>
            <a:chExt cx="4517957" cy="1033168"/>
          </a:xfrm>
        </p:grpSpPr>
        <p:sp>
          <p:nvSpPr>
            <p:cNvPr id="28"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成果与展望</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椭圆 28"/>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30"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04</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p:txBody>
          <a:bodyPr/>
          <a:lstStyle/>
          <a:p>
            <a:r>
              <a:rPr lang="en-US" altLang="zh-CN" dirty="0" smtClean="0"/>
              <a:t>PART  TWO</a:t>
            </a:r>
            <a:endParaRPr lang="zh-CN" altLang="en-US" dirty="0"/>
          </a:p>
        </p:txBody>
      </p:sp>
      <p:sp>
        <p:nvSpPr>
          <p:cNvPr id="4" name="文本占位符 3"/>
          <p:cNvSpPr>
            <a:spLocks noGrp="1"/>
          </p:cNvSpPr>
          <p:nvPr>
            <p:ph type="body" sz="quarter" idx="12"/>
          </p:nvPr>
        </p:nvSpPr>
        <p:spPr/>
        <p:txBody>
          <a:bodyPr/>
          <a:lstStyle/>
          <a:p>
            <a:r>
              <a:rPr lang="zh-CN" altLang="en-US" dirty="0"/>
              <a:t>主要研究</a:t>
            </a:r>
            <a:r>
              <a:rPr lang="zh-CN" altLang="en-US" dirty="0"/>
              <a:t>内容</a:t>
            </a:r>
            <a:endParaRPr lang="zh-CN" altLang="en-US" dirty="0"/>
          </a:p>
        </p:txBody>
      </p:sp>
      <p:sp>
        <p:nvSpPr>
          <p:cNvPr id="6" name="文本占位符 1"/>
          <p:cNvSpPr>
            <a:spLocks noGrp="1"/>
          </p:cNvSpPr>
          <p:nvPr/>
        </p:nvSpPr>
        <p:spPr>
          <a:xfrm>
            <a:off x="5612203" y="2421509"/>
            <a:ext cx="1044178" cy="1008063"/>
          </a:xfrm>
          <a:prstGeom prst="rect">
            <a:avLst/>
          </a:prstGeom>
        </p:spPr>
        <p:txBody>
          <a:bodyPr/>
          <a:lstStyle>
            <a:lvl1pPr marL="0" indent="0" algn="dist" defTabSz="914400" rtl="0" eaLnBrk="1" latinLnBrk="0" hangingPunct="1">
              <a:lnSpc>
                <a:spcPct val="90000"/>
              </a:lnSpc>
              <a:spcBef>
                <a:spcPts val="1000"/>
              </a:spcBef>
              <a:buFont typeface="Arial" panose="020B0604020202020204" pitchFamily="34" charset="0"/>
              <a:buNone/>
              <a:defRPr sz="6000" kern="1200">
                <a:solidFill>
                  <a:schemeClr val="tx1">
                    <a:lumMod val="85000"/>
                    <a:lumOff val="15000"/>
                  </a:schemeClr>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smtClean="0">
                <a:solidFill>
                  <a:srgbClr val="20517C"/>
                </a:solidFill>
              </a:rPr>
              <a:t>02</a:t>
            </a:r>
            <a:endParaRPr lang="en-US" altLang="zh-CN" dirty="0" smtClean="0">
              <a:solidFill>
                <a:srgbClr val="20517C"/>
              </a:solidFill>
            </a:endParaRPr>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主要研究内容</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25" name="MH_SubTitle_1"/>
          <p:cNvSpPr/>
          <p:nvPr>
            <p:custDataLst>
              <p:tags r:id="rId1"/>
            </p:custDataLst>
          </p:nvPr>
        </p:nvSpPr>
        <p:spPr>
          <a:xfrm>
            <a:off x="1128604" y="1320820"/>
            <a:ext cx="828279" cy="998963"/>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p>
            <a:pPr algn="ctr">
              <a:lnSpc>
                <a:spcPct val="110000"/>
              </a:lnSpc>
              <a:defRPr/>
            </a:pPr>
            <a:r>
              <a:rPr lang="en-US" altLang="zh-CN" sz="3200" dirty="0" smtClean="0">
                <a:solidFill>
                  <a:schemeClr val="tx1"/>
                </a:solidFill>
              </a:rPr>
              <a:t>01</a:t>
            </a:r>
            <a:endParaRPr lang="zh-CN" altLang="en-US" sz="3200" dirty="0">
              <a:solidFill>
                <a:schemeClr val="tx1"/>
              </a:solidFill>
            </a:endParaRPr>
          </a:p>
        </p:txBody>
      </p:sp>
      <p:sp>
        <p:nvSpPr>
          <p:cNvPr id="28" name="MH_SubTitle_1"/>
          <p:cNvSpPr/>
          <p:nvPr>
            <p:custDataLst>
              <p:tags r:id="rId2"/>
            </p:custDataLst>
          </p:nvPr>
        </p:nvSpPr>
        <p:spPr>
          <a:xfrm>
            <a:off x="1127969" y="3083178"/>
            <a:ext cx="828279" cy="998963"/>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p>
            <a:pPr algn="ctr">
              <a:lnSpc>
                <a:spcPct val="110000"/>
              </a:lnSpc>
              <a:defRPr/>
            </a:pPr>
            <a:r>
              <a:rPr lang="en-US" altLang="zh-CN" sz="3200" dirty="0" smtClean="0">
                <a:solidFill>
                  <a:schemeClr val="tx1"/>
                </a:solidFill>
              </a:rPr>
              <a:t>02</a:t>
            </a:r>
            <a:endParaRPr lang="zh-CN" altLang="en-US" sz="3200" dirty="0">
              <a:solidFill>
                <a:schemeClr val="tx1"/>
              </a:solidFill>
            </a:endParaRPr>
          </a:p>
        </p:txBody>
      </p:sp>
      <p:sp>
        <p:nvSpPr>
          <p:cNvPr id="34" name="MH_SubTitle_1"/>
          <p:cNvSpPr/>
          <p:nvPr>
            <p:custDataLst>
              <p:tags r:id="rId3"/>
            </p:custDataLst>
          </p:nvPr>
        </p:nvSpPr>
        <p:spPr>
          <a:xfrm>
            <a:off x="1127969" y="4845471"/>
            <a:ext cx="828279" cy="998963"/>
          </a:xfrm>
          <a:custGeom>
            <a:avLst/>
            <a:gdLst>
              <a:gd name="connsiteX0" fmla="*/ 496843 w 993687"/>
              <a:gd name="connsiteY0" fmla="*/ 100503 h 1199267"/>
              <a:gd name="connsiteX1" fmla="*/ 100503 w 993687"/>
              <a:gd name="connsiteY1" fmla="*/ 496844 h 1199267"/>
              <a:gd name="connsiteX2" fmla="*/ 496843 w 993687"/>
              <a:gd name="connsiteY2" fmla="*/ 893185 h 1199267"/>
              <a:gd name="connsiteX3" fmla="*/ 893185 w 993687"/>
              <a:gd name="connsiteY3" fmla="*/ 496845 h 1199267"/>
              <a:gd name="connsiteX4" fmla="*/ 496843 w 993687"/>
              <a:gd name="connsiteY4" fmla="*/ 100503 h 1199267"/>
              <a:gd name="connsiteX5" fmla="*/ 509266 w 993687"/>
              <a:gd name="connsiteY5" fmla="*/ 156 h 1199267"/>
              <a:gd name="connsiteX6" fmla="*/ 856839 w 993687"/>
              <a:gd name="connsiteY6" fmla="*/ 154416 h 1199267"/>
              <a:gd name="connsiteX7" fmla="*/ 856838 w 993687"/>
              <a:gd name="connsiteY7" fmla="*/ 154417 h 1199267"/>
              <a:gd name="connsiteX8" fmla="*/ 839271 w 993687"/>
              <a:gd name="connsiteY8" fmla="*/ 856840 h 1199267"/>
              <a:gd name="connsiteX9" fmla="*/ 479277 w 993687"/>
              <a:gd name="connsiteY9" fmla="*/ 1199267 h 1199267"/>
              <a:gd name="connsiteX10" fmla="*/ 136849 w 993687"/>
              <a:gd name="connsiteY10" fmla="*/ 839272 h 1199267"/>
              <a:gd name="connsiteX11" fmla="*/ 154416 w 993687"/>
              <a:gd name="connsiteY11" fmla="*/ 136849 h 1199267"/>
              <a:gd name="connsiteX12" fmla="*/ 509266 w 993687"/>
              <a:gd name="connsiteY12" fmla="*/ 156 h 1199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687" h="1199267">
                <a:moveTo>
                  <a:pt x="496843" y="100503"/>
                </a:moveTo>
                <a:cubicBezTo>
                  <a:pt x="277951" y="100504"/>
                  <a:pt x="100502" y="277952"/>
                  <a:pt x="100503" y="496844"/>
                </a:cubicBezTo>
                <a:cubicBezTo>
                  <a:pt x="100502" y="715738"/>
                  <a:pt x="277950" y="893186"/>
                  <a:pt x="496843" y="893185"/>
                </a:cubicBezTo>
                <a:cubicBezTo>
                  <a:pt x="715737" y="893185"/>
                  <a:pt x="893185" y="715737"/>
                  <a:pt x="893185" y="496845"/>
                </a:cubicBezTo>
                <a:cubicBezTo>
                  <a:pt x="893185" y="277951"/>
                  <a:pt x="715737" y="100503"/>
                  <a:pt x="496843" y="100503"/>
                </a:cubicBezTo>
                <a:close/>
                <a:moveTo>
                  <a:pt x="509266" y="156"/>
                </a:moveTo>
                <a:cubicBezTo>
                  <a:pt x="636380" y="3335"/>
                  <a:pt x="762280" y="55006"/>
                  <a:pt x="856839" y="154416"/>
                </a:cubicBezTo>
                <a:lnTo>
                  <a:pt x="856838" y="154417"/>
                </a:lnTo>
                <a:cubicBezTo>
                  <a:pt x="1045956" y="353237"/>
                  <a:pt x="1038091" y="667722"/>
                  <a:pt x="839271" y="856840"/>
                </a:cubicBezTo>
                <a:lnTo>
                  <a:pt x="479277" y="1199267"/>
                </a:lnTo>
                <a:lnTo>
                  <a:pt x="136849" y="839272"/>
                </a:lnTo>
                <a:cubicBezTo>
                  <a:pt x="-52268" y="640452"/>
                  <a:pt x="-44403" y="325967"/>
                  <a:pt x="154416" y="136849"/>
                </a:cubicBezTo>
                <a:cubicBezTo>
                  <a:pt x="253826" y="42291"/>
                  <a:pt x="382152" y="-3023"/>
                  <a:pt x="509266" y="15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0" rIns="108000" bIns="180000" anchor="ctr">
            <a:normAutofit/>
          </a:bodyPr>
          <a:p>
            <a:pPr algn="ctr">
              <a:lnSpc>
                <a:spcPct val="110000"/>
              </a:lnSpc>
              <a:defRPr/>
            </a:pPr>
            <a:r>
              <a:rPr lang="en-US" altLang="zh-CN" sz="3200" dirty="0" smtClean="0">
                <a:solidFill>
                  <a:schemeClr val="tx1"/>
                </a:solidFill>
              </a:rPr>
              <a:t>03</a:t>
            </a:r>
            <a:endParaRPr lang="zh-CN" altLang="en-US" sz="3200" dirty="0">
              <a:solidFill>
                <a:schemeClr val="tx1"/>
              </a:solidFill>
            </a:endParaRPr>
          </a:p>
        </p:txBody>
      </p:sp>
      <p:sp>
        <p:nvSpPr>
          <p:cNvPr id="38" name="文本框 37"/>
          <p:cNvSpPr txBox="1"/>
          <p:nvPr/>
        </p:nvSpPr>
        <p:spPr>
          <a:xfrm>
            <a:off x="1967230" y="1477010"/>
            <a:ext cx="9425305" cy="36830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问题：仅给定少量参考图像的条件下，让模型学习到这个全新的、个性化的视觉概念</a:t>
            </a:r>
            <a:endParaRPr lang="zh-CN" altLang="en-US" dirty="0">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2063552" y="1845015"/>
            <a:ext cx="2160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2063552" y="3544735"/>
            <a:ext cx="21602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2063552" y="5345140"/>
            <a:ext cx="2160240" cy="0"/>
          </a:xfrm>
          <a:prstGeom prst="line">
            <a:avLst/>
          </a:prstGeom>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957070" y="1845310"/>
            <a:ext cx="9425305" cy="64516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挑战：从小样本中有效提取并泛化这些特征，同时使其能与预训练扩散模型的广大知识空间兼容。</a:t>
            </a:r>
            <a:endParaRPr lang="zh-CN" altLang="en-US"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967230" y="3176270"/>
            <a:ext cx="9425305" cy="36830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问题：将学习到的个性化概念，根据用户编辑意图，精准且自然地应用到全新的目标图像上</a:t>
            </a:r>
            <a:endParaRPr lang="zh-CN" altLang="en-US"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1967230" y="3544570"/>
            <a:ext cx="9425305" cy="64516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挑战：有效地操纵和编辑交叉注意力图，以实现对空间布局、对象形态、风格应用范围的精细控制，并保持非编辑区域的真实性</a:t>
            </a:r>
            <a:endParaRPr lang="zh-CN" altLang="en-US"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1967230" y="4977130"/>
            <a:ext cx="9425305" cy="36830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问题：确保在编辑过程</a:t>
            </a:r>
            <a:r>
              <a:rPr lang="zh-CN" altLang="en-US" dirty="0">
                <a:latin typeface="微软雅黑" panose="020B0503020204020204" pitchFamily="34" charset="-122"/>
                <a:ea typeface="微软雅黑" panose="020B0503020204020204" pitchFamily="34" charset="-122"/>
              </a:rPr>
              <a:t>中，保持图像的整体真实性和一致性</a:t>
            </a:r>
            <a:endParaRPr lang="zh-CN" altLang="en-US"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1967230" y="5345430"/>
            <a:ext cx="9425305" cy="368300"/>
          </a:xfrm>
          <a:prstGeom prst="rect">
            <a:avLst/>
          </a:prstGeom>
          <a:noFill/>
        </p:spPr>
        <p:txBody>
          <a:bodyPr wrap="square" rtlCol="0">
            <a:spAutoFit/>
          </a:bodyPr>
          <a:p>
            <a:r>
              <a:rPr lang="zh-CN" altLang="en-US" dirty="0">
                <a:latin typeface="微软雅黑" panose="020B0503020204020204" pitchFamily="34" charset="-122"/>
                <a:ea typeface="微软雅黑" panose="020B0503020204020204" pitchFamily="34" charset="-122"/>
              </a:rPr>
              <a:t>挑战：新引入的主体</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风格与目标图像的背景、光照等其他元素和谐共存</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主要研究内容</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 name="文本框 3"/>
          <p:cNvSpPr txBox="1"/>
          <p:nvPr>
            <p:custDataLst>
              <p:tags r:id="rId1"/>
            </p:custDataLst>
          </p:nvPr>
        </p:nvSpPr>
        <p:spPr>
          <a:xfrm>
            <a:off x="641985" y="1380490"/>
            <a:ext cx="1884680" cy="555625"/>
          </a:xfrm>
          <a:prstGeom prst="rect">
            <a:avLst/>
          </a:prstGeom>
          <a:solidFill>
            <a:srgbClr val="145396"/>
          </a:solidFill>
          <a:ln>
            <a:noFill/>
          </a:ln>
        </p:spPr>
        <p:txBody>
          <a:bodyPr wrap="square" rtlCol="0" anchor="t">
            <a:noAutofit/>
          </a:bodyPr>
          <a:lstStyle/>
          <a:p>
            <a:pPr>
              <a:lnSpc>
                <a:spcPct val="130000"/>
              </a:lnSpc>
              <a:buClrTx/>
              <a:buSzTx/>
              <a:buFontTx/>
            </a:pPr>
            <a:r>
              <a:rPr lang="zh-CN" altLang="en-US" sz="2200" dirty="0">
                <a:solidFill>
                  <a:schemeClr val="bg1"/>
                </a:solidFill>
                <a:latin typeface="Times New Roman" panose="02020603050405020304" pitchFamily="18" charset="0"/>
                <a:ea typeface="微软雅黑" panose="020B0503020204020204" pitchFamily="34" charset="-122"/>
                <a:sym typeface="+mn-ea"/>
              </a:rPr>
              <a:t>  </a:t>
            </a:r>
            <a:r>
              <a:rPr lang="zh-CN" altLang="en-US" sz="2200" dirty="0">
                <a:solidFill>
                  <a:schemeClr val="bg1"/>
                </a:solidFill>
                <a:latin typeface="Times New Roman" panose="02020603050405020304" pitchFamily="18" charset="0"/>
                <a:ea typeface="微软雅黑" panose="020B0503020204020204" pitchFamily="34" charset="-122"/>
                <a:sym typeface="+mn-ea"/>
              </a:rPr>
              <a:t>多模态输入</a:t>
            </a:r>
            <a:endParaRPr lang="zh-CN" altLang="en-US" sz="2200" dirty="0">
              <a:solidFill>
                <a:schemeClr val="bg1"/>
              </a:solidFill>
              <a:latin typeface="Times New Roman" panose="02020603050405020304" pitchFamily="18" charset="0"/>
              <a:ea typeface="微软雅黑" panose="020B0503020204020204" pitchFamily="34" charset="-122"/>
              <a:sym typeface="+mn-ea"/>
            </a:endParaRPr>
          </a:p>
        </p:txBody>
      </p:sp>
      <p:sp>
        <p:nvSpPr>
          <p:cNvPr id="7" name="TextBox 6"/>
          <p:cNvSpPr txBox="1"/>
          <p:nvPr/>
        </p:nvSpPr>
        <p:spPr>
          <a:xfrm>
            <a:off x="642294" y="2064646"/>
            <a:ext cx="9384207" cy="1198880"/>
          </a:xfrm>
          <a:prstGeom prst="rect">
            <a:avLst/>
          </a:prstGeom>
          <a:noFill/>
        </p:spPr>
        <p:txBody>
          <a:bodyPr wrap="square">
            <a:spAutoFit/>
          </a:bodyPr>
          <a:lstStyle/>
          <a:p>
            <a:pPr marL="285750" indent="-285750">
              <a:buFont typeface="Arial" panose="020B0604020202020204" pitchFamily="34" charset="0"/>
              <a:buChar char="•"/>
            </a:pPr>
            <a:r>
              <a:rPr lang="zh-CN" altLang="en-US" sz="2400" kern="100" dirty="0">
                <a:effectLst/>
                <a:latin typeface="微软雅黑" panose="020B0503020204020204" pitchFamily="34" charset="-122"/>
                <a:ea typeface="微软雅黑" panose="020B0503020204020204" pitchFamily="34" charset="-122"/>
              </a:rPr>
              <a:t>参考图：</a:t>
            </a:r>
            <a:r>
              <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三张包含同一主体的图片（也可以是同一风格）</a:t>
            </a:r>
            <a:endParaRPr lang="en-US" altLang="zh-CN" sz="2400" kern="100" dirty="0">
              <a:effectLst/>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buFont typeface="Arial" panose="020B0604020202020204" pitchFamily="34" charset="0"/>
              <a:buChar char="•"/>
            </a:pPr>
            <a:r>
              <a:rPr lang="zh-CN" altLang="en-US" sz="2400" kern="100" dirty="0">
                <a:effectLst/>
                <a:latin typeface="微软雅黑" panose="020B0503020204020204" pitchFamily="34" charset="-122"/>
                <a:ea typeface="微软雅黑" panose="020B0503020204020204" pitchFamily="34" charset="-122"/>
              </a:rPr>
              <a:t>背景图：</a:t>
            </a:r>
            <a:r>
              <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一</a:t>
            </a:r>
            <a:r>
              <a:rPr lang="zh-CN" sz="2400" kern="100" dirty="0">
                <a:effectLst/>
                <a:latin typeface="微软雅黑" panose="020B0503020204020204" pitchFamily="34" charset="-122"/>
                <a:ea typeface="微软雅黑" panose="020B0503020204020204" pitchFamily="34" charset="-122"/>
                <a:cs typeface="Times New Roman" panose="02020603050405020304" pitchFamily="18" charset="0"/>
              </a:rPr>
              <a:t>张提供背景的图片</a:t>
            </a:r>
            <a:r>
              <a:rPr lang="en-US" sz="2400" dirty="0">
                <a:effectLst/>
                <a:latin typeface="微软雅黑" panose="020B0503020204020204" pitchFamily="34" charset="-122"/>
                <a:ea typeface="微软雅黑" panose="020B0503020204020204" pitchFamily="34" charset="-122"/>
              </a:rPr>
              <a:t> </a:t>
            </a:r>
            <a:endParaRPr lang="en-US" sz="2400" dirty="0">
              <a:effectLst/>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sym typeface="+mn-lt"/>
              </a:rPr>
              <a:t>编辑指令：对于背景图片的描述</a:t>
            </a:r>
            <a:r>
              <a:rPr lang="en-US" altLang="zh-CN" sz="2400" dirty="0">
                <a:latin typeface="微软雅黑" panose="020B0503020204020204" pitchFamily="34" charset="-122"/>
                <a:ea typeface="微软雅黑" panose="020B0503020204020204" pitchFamily="34" charset="-122"/>
                <a:sym typeface="+mn-lt"/>
              </a:rPr>
              <a:t>prompt</a:t>
            </a:r>
            <a:endParaRPr lang="en-US" altLang="zh-CN" sz="2400" dirty="0">
              <a:latin typeface="微软雅黑" panose="020B0503020204020204" pitchFamily="34" charset="-122"/>
              <a:ea typeface="微软雅黑" panose="020B0503020204020204" pitchFamily="34" charset="-122"/>
              <a:sym typeface="+mn-lt"/>
            </a:endParaRPr>
          </a:p>
        </p:txBody>
      </p:sp>
      <p:sp>
        <p:nvSpPr>
          <p:cNvPr id="8" name="文本框 3"/>
          <p:cNvSpPr txBox="1"/>
          <p:nvPr>
            <p:custDataLst>
              <p:tags r:id="rId2"/>
            </p:custDataLst>
          </p:nvPr>
        </p:nvSpPr>
        <p:spPr>
          <a:xfrm>
            <a:off x="642295" y="3429000"/>
            <a:ext cx="1016384" cy="555625"/>
          </a:xfrm>
          <a:prstGeom prst="rect">
            <a:avLst/>
          </a:prstGeom>
          <a:solidFill>
            <a:srgbClr val="145396"/>
          </a:solidFill>
          <a:ln>
            <a:noFill/>
          </a:ln>
        </p:spPr>
        <p:txBody>
          <a:bodyPr wrap="square" rtlCol="0" anchor="t">
            <a:noAutofit/>
          </a:bodyPr>
          <a:lstStyle/>
          <a:p>
            <a:pPr>
              <a:lnSpc>
                <a:spcPct val="130000"/>
              </a:lnSpc>
              <a:buClrTx/>
              <a:buSzTx/>
              <a:buFontTx/>
            </a:pPr>
            <a:r>
              <a:rPr lang="zh-CN" altLang="en-US" sz="2200" dirty="0">
                <a:solidFill>
                  <a:schemeClr val="bg1"/>
                </a:solidFill>
                <a:latin typeface="Times New Roman" panose="02020603050405020304" pitchFamily="18" charset="0"/>
                <a:ea typeface="微软雅黑" panose="020B0503020204020204" pitchFamily="34" charset="-122"/>
                <a:sym typeface="+mn-ea"/>
              </a:rPr>
              <a:t>  输出</a:t>
            </a:r>
            <a:endParaRPr lang="zh-CN" altLang="en-US" sz="2200" dirty="0">
              <a:solidFill>
                <a:schemeClr val="bg1"/>
              </a:solidFill>
              <a:latin typeface="Times New Roman" panose="02020603050405020304" pitchFamily="18" charset="0"/>
              <a:ea typeface="微软雅黑" panose="020B0503020204020204" pitchFamily="34" charset="-122"/>
              <a:sym typeface="+mn-ea"/>
            </a:endParaRPr>
          </a:p>
        </p:txBody>
      </p:sp>
      <p:sp>
        <p:nvSpPr>
          <p:cNvPr id="10" name="TextBox 9"/>
          <p:cNvSpPr txBox="1"/>
          <p:nvPr/>
        </p:nvSpPr>
        <p:spPr>
          <a:xfrm>
            <a:off x="642294" y="4099994"/>
            <a:ext cx="9384207" cy="460375"/>
          </a:xfrm>
          <a:prstGeom prst="rect">
            <a:avLst/>
          </a:prstGeom>
          <a:noFill/>
        </p:spPr>
        <p:txBody>
          <a:bodyPr wrap="square">
            <a:spAutoFit/>
          </a:bodyPr>
          <a:lstStyle/>
          <a:p>
            <a:pPr marL="285750" indent="-285750">
              <a:buFont typeface="Arial" panose="020B0604020202020204" pitchFamily="34" charset="0"/>
              <a:buChar char="•"/>
            </a:pPr>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一张经过个性化编辑后的图像，将该主体表现在背景</a:t>
            </a:r>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图片上</a:t>
            </a:r>
            <a:r>
              <a:rPr lang="en-US" sz="2400" kern="1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sz="2400" kern="100" dirty="0">
              <a:latin typeface="微软雅黑" panose="020B0503020204020204" pitchFamily="34" charset="-122"/>
              <a:ea typeface="微软雅黑" panose="020B0503020204020204" pitchFamily="34" charset="-122"/>
              <a:cs typeface="Times New Roman" panose="02020603050405020304" pitchFamily="18" charset="0"/>
              <a:sym typeface="+mn-lt"/>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2081" y="4642281"/>
            <a:ext cx="2201630" cy="2231686"/>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rcRect l="50144"/>
          <a:stretch>
            <a:fillRect/>
          </a:stretch>
        </p:blipFill>
        <p:spPr>
          <a:xfrm>
            <a:off x="9051290" y="4643755"/>
            <a:ext cx="2201545" cy="2186940"/>
          </a:xfrm>
          <a:prstGeom prst="rect">
            <a:avLst/>
          </a:prstGeom>
        </p:spPr>
      </p:pic>
      <p:sp>
        <p:nvSpPr>
          <p:cNvPr id="26" name="TextBox 25"/>
          <p:cNvSpPr txBox="1"/>
          <p:nvPr/>
        </p:nvSpPr>
        <p:spPr>
          <a:xfrm>
            <a:off x="8522990" y="5369621"/>
            <a:ext cx="389850" cy="584775"/>
          </a:xfrm>
          <a:prstGeom prst="rect">
            <a:avLst/>
          </a:prstGeom>
          <a:noFill/>
        </p:spPr>
        <p:txBody>
          <a:bodyPr wrap="none" rtlCol="0">
            <a:spAutoFit/>
          </a:bodyPr>
          <a:lstStyle/>
          <a:p>
            <a:r>
              <a:rPr lang="en-US" altLang="zh-CN" sz="3200" b="1" dirty="0"/>
              <a:t>=</a:t>
            </a:r>
            <a:endParaRPr lang="en-US" sz="3200" b="1" dirty="0"/>
          </a:p>
        </p:txBody>
      </p:sp>
      <p:sp>
        <p:nvSpPr>
          <p:cNvPr id="27" name="TextBox 26"/>
          <p:cNvSpPr txBox="1"/>
          <p:nvPr/>
        </p:nvSpPr>
        <p:spPr>
          <a:xfrm>
            <a:off x="5561660" y="5467084"/>
            <a:ext cx="389850" cy="584775"/>
          </a:xfrm>
          <a:prstGeom prst="rect">
            <a:avLst/>
          </a:prstGeom>
          <a:noFill/>
        </p:spPr>
        <p:txBody>
          <a:bodyPr wrap="none" rtlCol="0">
            <a:spAutoFit/>
          </a:bodyPr>
          <a:lstStyle/>
          <a:p>
            <a:r>
              <a:rPr lang="en-US" altLang="zh-CN" sz="3200" b="1" dirty="0"/>
              <a:t>+</a:t>
            </a:r>
            <a:endParaRPr lang="en-US" sz="3200" b="1" dirty="0"/>
          </a:p>
        </p:txBody>
      </p:sp>
      <p:pic>
        <p:nvPicPr>
          <p:cNvPr id="2" name="图片 1" descr="40e0ce3727af60fb6139eb0c52e5c1b"/>
          <p:cNvPicPr>
            <a:picLocks noChangeAspect="1"/>
          </p:cNvPicPr>
          <p:nvPr/>
        </p:nvPicPr>
        <p:blipFill>
          <a:blip r:embed="rId5"/>
          <a:srcRect l="19567" t="5000" r="24519" b="68583"/>
          <a:stretch>
            <a:fillRect/>
          </a:stretch>
        </p:blipFill>
        <p:spPr>
          <a:xfrm>
            <a:off x="1948180" y="4742815"/>
            <a:ext cx="1771015" cy="1811655"/>
          </a:xfrm>
          <a:prstGeom prst="rect">
            <a:avLst/>
          </a:prstGeom>
        </p:spPr>
      </p:pic>
      <p:pic>
        <p:nvPicPr>
          <p:cNvPr id="3" name="图片 2" descr="20ae8e5ecade4fca52c03062de605d4"/>
          <p:cNvPicPr>
            <a:picLocks noChangeAspect="1"/>
          </p:cNvPicPr>
          <p:nvPr/>
        </p:nvPicPr>
        <p:blipFill>
          <a:blip r:embed="rId6"/>
          <a:srcRect l="12430" t="59787" r="10124"/>
          <a:stretch>
            <a:fillRect/>
          </a:stretch>
        </p:blipFill>
        <p:spPr>
          <a:xfrm>
            <a:off x="3822700" y="4742815"/>
            <a:ext cx="1635760" cy="1838960"/>
          </a:xfrm>
          <a:prstGeom prst="rect">
            <a:avLst/>
          </a:prstGeom>
        </p:spPr>
      </p:pic>
      <p:pic>
        <p:nvPicPr>
          <p:cNvPr id="6" name="图片 5" descr="40e0ce3727af60fb6139eb0c52e5c1b"/>
          <p:cNvPicPr>
            <a:picLocks noChangeAspect="1"/>
          </p:cNvPicPr>
          <p:nvPr/>
        </p:nvPicPr>
        <p:blipFill>
          <a:blip r:embed="rId5"/>
          <a:srcRect l="17943" t="31417" r="24298" b="42454"/>
          <a:stretch>
            <a:fillRect/>
          </a:stretch>
        </p:blipFill>
        <p:spPr>
          <a:xfrm>
            <a:off x="55880" y="4742815"/>
            <a:ext cx="1829435" cy="1791970"/>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16957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组合 20"/>
          <p:cNvGrpSpPr/>
          <p:nvPr>
            <p:custDataLst>
              <p:tags r:id="rId1"/>
            </p:custDataLst>
          </p:nvPr>
        </p:nvGrpSpPr>
        <p:grpSpPr>
          <a:xfrm>
            <a:off x="1448984" y="1861333"/>
            <a:ext cx="4517957" cy="1033168"/>
            <a:chOff x="1896842" y="1618734"/>
            <a:chExt cx="4517957" cy="1033168"/>
          </a:xfrm>
        </p:grpSpPr>
        <p:sp>
          <p:nvSpPr>
            <p:cNvPr id="16" name="文本框 26"/>
            <p:cNvSpPr txBox="1"/>
            <p:nvPr>
              <p:custDataLst>
                <p:tags r:id="rId2"/>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论文选题介绍</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椭圆 6"/>
            <p:cNvSpPr>
              <a:spLocks noChangeArrowheads="1"/>
            </p:cNvSpPr>
            <p:nvPr>
              <p:custDataLst>
                <p:tags r:id="rId3"/>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8" name="TextBox 32"/>
            <p:cNvSpPr txBox="1">
              <a:spLocks noChangeArrowheads="1"/>
            </p:cNvSpPr>
            <p:nvPr>
              <p:custDataLst>
                <p:tags r:id="rId4"/>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01</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 name="组合 1"/>
          <p:cNvGrpSpPr/>
          <p:nvPr>
            <p:custDataLst>
              <p:tags r:id="rId5"/>
            </p:custDataLst>
          </p:nvPr>
        </p:nvGrpSpPr>
        <p:grpSpPr>
          <a:xfrm>
            <a:off x="1448984" y="3804306"/>
            <a:ext cx="4517957" cy="1033168"/>
            <a:chOff x="1896842" y="1618734"/>
            <a:chExt cx="4517957" cy="1033168"/>
          </a:xfrm>
        </p:grpSpPr>
        <p:sp>
          <p:nvSpPr>
            <p:cNvPr id="3" name="文本框 26"/>
            <p:cNvSpPr txBox="1"/>
            <p:nvPr>
              <p:custDataLst>
                <p:tags r:id="rId6"/>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主要实现方法</a:t>
              </a:r>
              <a:endParaRPr lang="en-US" altLang="zh-CN"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椭圆 3"/>
            <p:cNvSpPr>
              <a:spLocks noChangeArrowheads="1"/>
            </p:cNvSpPr>
            <p:nvPr>
              <p:custDataLst>
                <p:tags r:id="rId7"/>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6" name="TextBox 32"/>
            <p:cNvSpPr txBox="1">
              <a:spLocks noChangeArrowheads="1"/>
            </p:cNvSpPr>
            <p:nvPr>
              <p:custDataLst>
                <p:tags r:id="rId8"/>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03</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15" name="组合 14"/>
          <p:cNvGrpSpPr/>
          <p:nvPr>
            <p:custDataLst>
              <p:tags r:id="rId9"/>
            </p:custDataLst>
          </p:nvPr>
        </p:nvGrpSpPr>
        <p:grpSpPr>
          <a:xfrm>
            <a:off x="6658053" y="1861333"/>
            <a:ext cx="4517957" cy="1033168"/>
            <a:chOff x="1896842" y="1618734"/>
            <a:chExt cx="4517957" cy="1033168"/>
          </a:xfrm>
        </p:grpSpPr>
        <p:sp>
          <p:nvSpPr>
            <p:cNvPr id="17" name="文本框 26"/>
            <p:cNvSpPr txBox="1"/>
            <p:nvPr>
              <p:custDataLst>
                <p:tags r:id="rId10"/>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主要研究内容</a:t>
              </a:r>
              <a:endPar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a:spLocks noChangeArrowheads="1"/>
            </p:cNvSpPr>
            <p:nvPr>
              <p:custDataLst>
                <p:tags r:id="rId11"/>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26" name="TextBox 32"/>
            <p:cNvSpPr txBox="1">
              <a:spLocks noChangeArrowheads="1"/>
            </p:cNvSpPr>
            <p:nvPr>
              <p:custDataLst>
                <p:tags r:id="rId12"/>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02</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7" name="组合 26"/>
          <p:cNvGrpSpPr/>
          <p:nvPr>
            <p:custDataLst>
              <p:tags r:id="rId13"/>
            </p:custDataLst>
          </p:nvPr>
        </p:nvGrpSpPr>
        <p:grpSpPr>
          <a:xfrm>
            <a:off x="6675131" y="3804306"/>
            <a:ext cx="4517957" cy="1033168"/>
            <a:chOff x="1896842" y="1618734"/>
            <a:chExt cx="4517957" cy="1033168"/>
          </a:xfrm>
        </p:grpSpPr>
        <p:sp>
          <p:nvSpPr>
            <p:cNvPr id="28" name="文本框 26"/>
            <p:cNvSpPr txBox="1"/>
            <p:nvPr>
              <p:custDataLst>
                <p:tags r:id="rId14"/>
              </p:custDataLst>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成果与展望</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椭圆 28"/>
            <p:cNvSpPr>
              <a:spLocks noChangeArrowheads="1"/>
            </p:cNvSpPr>
            <p:nvPr>
              <p:custDataLst>
                <p:tags r:id="rId15"/>
              </p:custDataLst>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30" name="TextBox 32"/>
            <p:cNvSpPr txBox="1">
              <a:spLocks noChangeArrowheads="1"/>
            </p:cNvSpPr>
            <p:nvPr>
              <p:custDataLst>
                <p:tags r:id="rId16"/>
              </p:custDataLst>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04</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4915406" y="3890952"/>
            <a:ext cx="2340139" cy="496824"/>
          </a:xfrm>
        </p:spPr>
        <p:txBody>
          <a:bodyPr/>
          <a:lstStyle/>
          <a:p>
            <a:r>
              <a:rPr lang="en-US" altLang="zh-CN" dirty="0" smtClean="0"/>
              <a:t>PART  THREE</a:t>
            </a:r>
            <a:endParaRPr lang="zh-CN" altLang="en-US" dirty="0"/>
          </a:p>
        </p:txBody>
      </p:sp>
      <p:sp>
        <p:nvSpPr>
          <p:cNvPr id="4" name="文本占位符 3"/>
          <p:cNvSpPr>
            <a:spLocks noGrp="1"/>
          </p:cNvSpPr>
          <p:nvPr>
            <p:ph type="body" sz="quarter" idx="12"/>
          </p:nvPr>
        </p:nvSpPr>
        <p:spPr/>
        <p:txBody>
          <a:bodyPr/>
          <a:lstStyle/>
          <a:p>
            <a:r>
              <a:rPr lang="zh-CN" altLang="en-US" dirty="0"/>
              <a:t>主要实现</a:t>
            </a:r>
            <a:r>
              <a:rPr lang="zh-CN" altLang="en-US" dirty="0"/>
              <a:t>方法</a:t>
            </a:r>
            <a:endParaRPr lang="zh-CN" altLang="en-US" dirty="0"/>
          </a:p>
        </p:txBody>
      </p:sp>
      <p:sp>
        <p:nvSpPr>
          <p:cNvPr id="6" name="文本占位符 1"/>
          <p:cNvSpPr>
            <a:spLocks noGrp="1"/>
          </p:cNvSpPr>
          <p:nvPr/>
        </p:nvSpPr>
        <p:spPr>
          <a:xfrm>
            <a:off x="5612203" y="2421509"/>
            <a:ext cx="1044178" cy="1008063"/>
          </a:xfrm>
          <a:prstGeom prst="rect">
            <a:avLst/>
          </a:prstGeom>
        </p:spPr>
        <p:txBody>
          <a:bodyPr/>
          <a:lstStyle>
            <a:lvl1pPr marL="0" indent="0" algn="dist" defTabSz="914400" rtl="0" eaLnBrk="1" latinLnBrk="0" hangingPunct="1">
              <a:lnSpc>
                <a:spcPct val="90000"/>
              </a:lnSpc>
              <a:spcBef>
                <a:spcPts val="1000"/>
              </a:spcBef>
              <a:buFont typeface="Arial" panose="020B0604020202020204" pitchFamily="34" charset="0"/>
              <a:buNone/>
              <a:defRPr sz="6000" kern="1200">
                <a:solidFill>
                  <a:schemeClr val="tx1">
                    <a:lumMod val="85000"/>
                    <a:lumOff val="15000"/>
                  </a:schemeClr>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smtClean="0">
                <a:solidFill>
                  <a:srgbClr val="20517C"/>
                </a:solidFill>
              </a:rPr>
              <a:t>03</a:t>
            </a:r>
            <a:endParaRPr lang="en-US" altLang="zh-CN" dirty="0" smtClean="0">
              <a:solidFill>
                <a:srgbClr val="20517C"/>
              </a:solidFill>
            </a:endParaRPr>
          </a:p>
        </p:txBody>
      </p:sp>
    </p:spTree>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主要实现方法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6815"/>
          <a:stretch>
            <a:fillRect/>
          </a:stretch>
        </p:blipFill>
        <p:spPr>
          <a:xfrm>
            <a:off x="0" y="1088359"/>
            <a:ext cx="12676698" cy="5865333"/>
          </a:xfrm>
          <a:prstGeom prst="rect">
            <a:avLst/>
          </a:prstGeom>
        </p:spPr>
      </p:pic>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82492" y="5813802"/>
            <a:ext cx="2108791" cy="1044198"/>
          </a:xfrm>
          <a:prstGeom prst="rect">
            <a:avLst/>
          </a:prstGeom>
        </p:spPr>
      </p:pic>
      <p:sp>
        <p:nvSpPr>
          <p:cNvPr id="21" name="TextBox 20"/>
          <p:cNvSpPr txBox="1"/>
          <p:nvPr/>
        </p:nvSpPr>
        <p:spPr>
          <a:xfrm>
            <a:off x="7985057" y="6043513"/>
            <a:ext cx="389850" cy="584775"/>
          </a:xfrm>
          <a:prstGeom prst="rect">
            <a:avLst/>
          </a:prstGeom>
          <a:noFill/>
        </p:spPr>
        <p:txBody>
          <a:bodyPr wrap="none" rtlCol="0">
            <a:spAutoFit/>
          </a:bodyPr>
          <a:lstStyle/>
          <a:p>
            <a:r>
              <a:rPr lang="en-US" altLang="zh-CN" sz="3200" b="1" dirty="0"/>
              <a:t>=</a:t>
            </a:r>
            <a:endParaRPr lang="en-US" sz="3200" b="1" dirty="0"/>
          </a:p>
        </p:txBody>
      </p:sp>
      <p:pic>
        <p:nvPicPr>
          <p:cNvPr id="6" name="图片 5"/>
          <p:cNvPicPr>
            <a:picLocks noChangeAspect="1"/>
          </p:cNvPicPr>
          <p:nvPr/>
        </p:nvPicPr>
        <p:blipFill>
          <a:blip r:embed="rId3"/>
          <a:stretch>
            <a:fillRect/>
          </a:stretch>
        </p:blipFill>
        <p:spPr>
          <a:xfrm>
            <a:off x="2688590" y="3287395"/>
            <a:ext cx="2625725" cy="805815"/>
          </a:xfrm>
          <a:prstGeom prst="rect">
            <a:avLst/>
          </a:prstGeom>
        </p:spPr>
      </p:pic>
      <p:pic>
        <p:nvPicPr>
          <p:cNvPr id="7" name="图片 6"/>
          <p:cNvPicPr>
            <a:picLocks noChangeAspect="1"/>
          </p:cNvPicPr>
          <p:nvPr/>
        </p:nvPicPr>
        <p:blipFill>
          <a:blip r:embed="rId3"/>
          <a:stretch>
            <a:fillRect/>
          </a:stretch>
        </p:blipFill>
        <p:spPr>
          <a:xfrm>
            <a:off x="2312670" y="4865370"/>
            <a:ext cx="3091180" cy="948690"/>
          </a:xfrm>
          <a:prstGeom prst="rect">
            <a:avLst/>
          </a:prstGeom>
        </p:spPr>
      </p:pic>
      <p:pic>
        <p:nvPicPr>
          <p:cNvPr id="8" name="图片 7"/>
          <p:cNvPicPr>
            <a:picLocks noChangeAspect="1"/>
          </p:cNvPicPr>
          <p:nvPr/>
        </p:nvPicPr>
        <p:blipFill>
          <a:blip r:embed="rId3"/>
          <a:stretch>
            <a:fillRect/>
          </a:stretch>
        </p:blipFill>
        <p:spPr>
          <a:xfrm>
            <a:off x="4505325" y="5371465"/>
            <a:ext cx="1856105" cy="569595"/>
          </a:xfrm>
          <a:prstGeom prst="rect">
            <a:avLst/>
          </a:prstGeom>
        </p:spPr>
      </p:pic>
      <p:cxnSp>
        <p:nvCxnSpPr>
          <p:cNvPr id="9" name="直接箭头连接符 8"/>
          <p:cNvCxnSpPr/>
          <p:nvPr/>
        </p:nvCxnSpPr>
        <p:spPr>
          <a:xfrm>
            <a:off x="3152140" y="3293110"/>
            <a:ext cx="0" cy="76073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10" name="直接箭头连接符 9"/>
          <p:cNvCxnSpPr/>
          <p:nvPr/>
        </p:nvCxnSpPr>
        <p:spPr>
          <a:xfrm>
            <a:off x="4277995" y="3293110"/>
            <a:ext cx="0" cy="760730"/>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11" name="直接箭头连接符 10"/>
          <p:cNvCxnSpPr/>
          <p:nvPr/>
        </p:nvCxnSpPr>
        <p:spPr>
          <a:xfrm>
            <a:off x="4404995" y="4860925"/>
            <a:ext cx="0" cy="108013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cxnSp>
        <p:nvCxnSpPr>
          <p:cNvPr id="12" name="直接箭头连接符 11"/>
          <p:cNvCxnSpPr/>
          <p:nvPr/>
        </p:nvCxnSpPr>
        <p:spPr>
          <a:xfrm>
            <a:off x="5668645" y="5346065"/>
            <a:ext cx="0" cy="594995"/>
          </a:xfrm>
          <a:prstGeom prst="straightConnector1">
            <a:avLst/>
          </a:prstGeom>
          <a:ln>
            <a:solidFill>
              <a:schemeClr val="tx1"/>
            </a:solidFill>
            <a:tailEnd type="arrow" w="med" len="med"/>
          </a:ln>
        </p:spPr>
        <p:style>
          <a:lnRef idx="3">
            <a:schemeClr val="accent1"/>
          </a:lnRef>
          <a:fillRef idx="0">
            <a:srgbClr val="FFFFFF"/>
          </a:fillRef>
          <a:effectRef idx="0">
            <a:srgbClr val="FFFFFF"/>
          </a:effectRef>
          <a:fontRef idx="minor">
            <a:schemeClr val="tx1"/>
          </a:fontRef>
        </p:style>
      </p:cxnSp>
      <p:pic>
        <p:nvPicPr>
          <p:cNvPr id="13" name="图片 12"/>
          <p:cNvPicPr>
            <a:picLocks noChangeAspect="1"/>
          </p:cNvPicPr>
          <p:nvPr/>
        </p:nvPicPr>
        <p:blipFill>
          <a:blip r:embed="rId3"/>
          <a:stretch>
            <a:fillRect/>
          </a:stretch>
        </p:blipFill>
        <p:spPr>
          <a:xfrm>
            <a:off x="5017770" y="6673215"/>
            <a:ext cx="1580515" cy="485140"/>
          </a:xfrm>
          <a:prstGeom prst="rect">
            <a:avLst/>
          </a:prstGeom>
        </p:spPr>
      </p:pic>
      <p:sp>
        <p:nvSpPr>
          <p:cNvPr id="16" name="圆角矩形 15"/>
          <p:cNvSpPr/>
          <p:nvPr/>
        </p:nvSpPr>
        <p:spPr>
          <a:xfrm>
            <a:off x="1436370" y="5698490"/>
            <a:ext cx="9552305" cy="1255395"/>
          </a:xfrm>
          <a:prstGeom prst="roundRect">
            <a:avLst/>
          </a:prstGeom>
          <a:noFill/>
          <a:ln>
            <a:solidFill>
              <a:srgbClr val="183884"/>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文本框 16"/>
          <p:cNvSpPr txBox="1"/>
          <p:nvPr/>
        </p:nvSpPr>
        <p:spPr>
          <a:xfrm>
            <a:off x="1663065" y="5056505"/>
            <a:ext cx="2128520" cy="521970"/>
          </a:xfrm>
          <a:prstGeom prst="rect">
            <a:avLst/>
          </a:prstGeom>
          <a:noFill/>
        </p:spPr>
        <p:txBody>
          <a:bodyPr wrap="square" rtlCol="0">
            <a:spAutoFit/>
          </a:bodyPr>
          <a:p>
            <a:pPr algn="ctr"/>
            <a:r>
              <a:rPr lang="en-US" altLang="zh-CN" sz="1400" b="1"/>
              <a:t>Background Image</a:t>
            </a:r>
            <a:endParaRPr lang="en-US" altLang="zh-CN" sz="1400" b="1"/>
          </a:p>
          <a:p>
            <a:pPr algn="ctr"/>
            <a:r>
              <a:rPr lang="en-US" altLang="zh-CN" sz="1400" b="1"/>
              <a:t>Inversion Module</a:t>
            </a:r>
            <a:endParaRPr lang="en-US" altLang="zh-CN" sz="1400" b="1"/>
          </a:p>
        </p:txBody>
      </p:sp>
      <p:sp>
        <p:nvSpPr>
          <p:cNvPr id="18" name="文本框 17"/>
          <p:cNvSpPr txBox="1"/>
          <p:nvPr/>
        </p:nvSpPr>
        <p:spPr>
          <a:xfrm>
            <a:off x="7632700" y="1084580"/>
            <a:ext cx="2128520" cy="521970"/>
          </a:xfrm>
          <a:prstGeom prst="rect">
            <a:avLst/>
          </a:prstGeom>
          <a:noFill/>
        </p:spPr>
        <p:txBody>
          <a:bodyPr wrap="square" rtlCol="0">
            <a:spAutoFit/>
          </a:bodyPr>
          <a:p>
            <a:pPr algn="ctr"/>
            <a:r>
              <a:rPr lang="en-US" altLang="zh-CN" sz="1400" b="1"/>
              <a:t>Personalized Concept Learning Module</a:t>
            </a:r>
            <a:endParaRPr lang="en-US" altLang="zh-CN" sz="1400" b="1"/>
          </a:p>
        </p:txBody>
      </p:sp>
      <p:sp>
        <p:nvSpPr>
          <p:cNvPr id="22" name="文本框 21"/>
          <p:cNvSpPr txBox="1"/>
          <p:nvPr/>
        </p:nvSpPr>
        <p:spPr>
          <a:xfrm>
            <a:off x="1608455" y="6043295"/>
            <a:ext cx="2128520" cy="521970"/>
          </a:xfrm>
          <a:prstGeom prst="rect">
            <a:avLst/>
          </a:prstGeom>
          <a:noFill/>
        </p:spPr>
        <p:txBody>
          <a:bodyPr wrap="square" rtlCol="0">
            <a:spAutoFit/>
          </a:bodyPr>
          <a:p>
            <a:pPr algn="ctr"/>
            <a:r>
              <a:rPr lang="en-US" altLang="zh-CN" sz="1400" b="1"/>
              <a:t>Attention-Guided </a:t>
            </a:r>
            <a:endParaRPr lang="en-US" altLang="zh-CN" sz="1400" b="1"/>
          </a:p>
          <a:p>
            <a:pPr algn="ctr"/>
            <a:r>
              <a:rPr lang="en-US" altLang="zh-CN" sz="1400" b="1"/>
              <a:t>Editing Module</a:t>
            </a:r>
            <a:endParaRPr lang="en-US" altLang="zh-CN" sz="1400" b="1"/>
          </a:p>
        </p:txBody>
      </p:sp>
      <p:pic>
        <p:nvPicPr>
          <p:cNvPr id="23" name="图片 22"/>
          <p:cNvPicPr>
            <a:picLocks noChangeAspect="1"/>
          </p:cNvPicPr>
          <p:nvPr/>
        </p:nvPicPr>
        <p:blipFill>
          <a:blip r:embed="rId4"/>
          <a:stretch>
            <a:fillRect/>
          </a:stretch>
        </p:blipFill>
        <p:spPr>
          <a:xfrm>
            <a:off x="315595" y="1095375"/>
            <a:ext cx="2995295" cy="2293620"/>
          </a:xfrm>
          <a:prstGeom prst="rect">
            <a:avLst/>
          </a:prstGeom>
        </p:spPr>
      </p:pic>
      <p:sp>
        <p:nvSpPr>
          <p:cNvPr id="14" name="圆角矩形 13"/>
          <p:cNvSpPr/>
          <p:nvPr/>
        </p:nvSpPr>
        <p:spPr>
          <a:xfrm>
            <a:off x="118110" y="1084580"/>
            <a:ext cx="5368925" cy="4432300"/>
          </a:xfrm>
          <a:prstGeom prst="roundRect">
            <a:avLst/>
          </a:prstGeom>
          <a:noFill/>
          <a:ln>
            <a:solidFill>
              <a:srgbClr val="183884"/>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24" name="图片 23" descr="屏幕截图 2025-05-09 011103"/>
          <p:cNvPicPr>
            <a:picLocks noChangeAspect="1"/>
          </p:cNvPicPr>
          <p:nvPr/>
        </p:nvPicPr>
        <p:blipFill>
          <a:blip r:embed="rId5"/>
          <a:stretch>
            <a:fillRect/>
          </a:stretch>
        </p:blipFill>
        <p:spPr>
          <a:xfrm>
            <a:off x="11040745" y="5346065"/>
            <a:ext cx="1368425" cy="830580"/>
          </a:xfrm>
          <a:prstGeom prst="rect">
            <a:avLst/>
          </a:prstGeom>
        </p:spPr>
      </p:pic>
      <p:sp>
        <p:nvSpPr>
          <p:cNvPr id="15" name="圆角矩形 14"/>
          <p:cNvSpPr/>
          <p:nvPr/>
        </p:nvSpPr>
        <p:spPr>
          <a:xfrm>
            <a:off x="5614035" y="1084580"/>
            <a:ext cx="6396355" cy="4432300"/>
          </a:xfrm>
          <a:prstGeom prst="roundRect">
            <a:avLst/>
          </a:prstGeom>
          <a:noFill/>
          <a:ln>
            <a:solidFill>
              <a:srgbClr val="183884"/>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主要实现</a:t>
            </a: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方法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3" name="文本框 42"/>
          <p:cNvSpPr txBox="1"/>
          <p:nvPr/>
        </p:nvSpPr>
        <p:spPr>
          <a:xfrm>
            <a:off x="405220" y="1124215"/>
            <a:ext cx="8037830"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（一）</a:t>
            </a:r>
            <a:r>
              <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Background Image Inversion Module </a:t>
            </a:r>
            <a:endPar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MH_Other_5"/>
          <p:cNvSpPr/>
          <p:nvPr>
            <p:custDataLst>
              <p:tags r:id="rId1"/>
            </p:custDataLst>
          </p:nvPr>
        </p:nvSpPr>
        <p:spPr>
          <a:xfrm rot="16200000">
            <a:off x="5384091" y="3732372"/>
            <a:ext cx="3313113" cy="44450"/>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p:pic>
        <p:nvPicPr>
          <p:cNvPr id="24" name="图片 23"/>
          <p:cNvPicPr>
            <a:picLocks noChangeAspect="1"/>
          </p:cNvPicPr>
          <p:nvPr/>
        </p:nvPicPr>
        <p:blipFill>
          <a:blip r:embed="rId2"/>
          <a:stretch>
            <a:fillRect/>
          </a:stretch>
        </p:blipFill>
        <p:spPr>
          <a:xfrm>
            <a:off x="7063105" y="1790065"/>
            <a:ext cx="5131435" cy="3930015"/>
          </a:xfrm>
          <a:prstGeom prst="rect">
            <a:avLst/>
          </a:prstGeom>
        </p:spPr>
      </p:pic>
      <mc:AlternateContent xmlns:mc="http://schemas.openxmlformats.org/markup-compatibility/2006">
        <mc:Choice xmlns:a14="http://schemas.microsoft.com/office/drawing/2010/main" Requires="a14">
          <p:sp>
            <p:nvSpPr>
              <p:cNvPr id="25" name="文本框 24"/>
              <p:cNvSpPr txBox="1"/>
              <p:nvPr/>
            </p:nvSpPr>
            <p:spPr>
              <a:xfrm>
                <a:off x="628650" y="1750060"/>
                <a:ext cx="6341745" cy="4546600"/>
              </a:xfrm>
              <a:prstGeom prst="rect">
                <a:avLst/>
              </a:prstGeom>
              <a:noFill/>
            </p:spPr>
            <p:txBody>
              <a:bodyPr wrap="square" rtlCol="0">
                <a:spAutoFit/>
              </a:bodyPr>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目标：为背景图片获取一个高质量的潜在空间表示，该表示既能忠实</a:t>
                </a:r>
                <a:r>
                  <a:rPr lang="zh-CN" altLang="en-US" dirty="0">
                    <a:solidFill>
                      <a:srgbClr val="FF0000"/>
                    </a:solidFill>
                    <a:latin typeface="微软雅黑" panose="020B0503020204020204" pitchFamily="34" charset="-122"/>
                    <a:ea typeface="微软雅黑" panose="020B0503020204020204" pitchFamily="34" charset="-122"/>
                  </a:rPr>
                  <a:t>重建原图</a:t>
                </a:r>
                <a:r>
                  <a:rPr lang="zh-CN" altLang="en-US" dirty="0">
                    <a:latin typeface="微软雅黑" panose="020B0503020204020204" pitchFamily="34" charset="-122"/>
                    <a:ea typeface="微软雅黑" panose="020B0503020204020204" pitchFamily="34" charset="-122"/>
                  </a:rPr>
                  <a:t>，又为后续的精细化编辑提供稳定的</a:t>
                </a:r>
                <a:r>
                  <a:rPr lang="zh-CN" altLang="en-US" dirty="0">
                    <a:solidFill>
                      <a:srgbClr val="FF0000"/>
                    </a:solidFill>
                    <a:latin typeface="微软雅黑" panose="020B0503020204020204" pitchFamily="34" charset="-122"/>
                    <a:ea typeface="微软雅黑" panose="020B0503020204020204" pitchFamily="34" charset="-122"/>
                  </a:rPr>
                  <a:t>起点</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核心</a:t>
                </a:r>
                <a:r>
                  <a:rPr lang="zh-CN" altLang="en-US" dirty="0">
                    <a:latin typeface="微软雅黑" panose="020B0503020204020204" pitchFamily="34" charset="-122"/>
                    <a:ea typeface="微软雅黑" panose="020B0503020204020204" pitchFamily="34" charset="-122"/>
                  </a:rPr>
                  <a:t>技术：</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dirty="0">
                    <a:latin typeface="微软雅黑" panose="020B0503020204020204" pitchFamily="34" charset="-122"/>
                    <a:ea typeface="微软雅黑" panose="020B0503020204020204" pitchFamily="34" charset="-122"/>
                  </a:rPr>
                  <a:t>DDIM</a:t>
                </a:r>
                <a:r>
                  <a:rPr lang="zh-CN" altLang="en-US" b="1" dirty="0">
                    <a:latin typeface="微软雅黑" panose="020B0503020204020204" pitchFamily="34" charset="-122"/>
                    <a:ea typeface="微软雅黑" panose="020B0503020204020204" pitchFamily="34" charset="-122"/>
                  </a:rPr>
                  <a:t>反演</a:t>
                </a:r>
                <a:r>
                  <a:rPr lang="zh-CN" altLang="en-US" dirty="0">
                    <a:latin typeface="微软雅黑" panose="020B0503020204020204" pitchFamily="34" charset="-122"/>
                    <a:ea typeface="微软雅黑" panose="020B0503020204020204" pitchFamily="34" charset="-122"/>
                  </a:rPr>
                  <a:t>：一种特殊的采样方法，可以在扩散模型的去噪过程中实现</a:t>
                </a:r>
                <a:r>
                  <a:rPr lang="zh-CN" altLang="en-US" dirty="0">
                    <a:solidFill>
                      <a:srgbClr val="FF0000"/>
                    </a:solidFill>
                    <a:latin typeface="微软雅黑" panose="020B0503020204020204" pitchFamily="34" charset="-122"/>
                    <a:ea typeface="微软雅黑" panose="020B0503020204020204" pitchFamily="34" charset="-122"/>
                  </a:rPr>
                  <a:t>确定性</a:t>
                </a:r>
                <a:r>
                  <a:rPr lang="zh-CN" altLang="en-US" dirty="0">
                    <a:latin typeface="微软雅黑" panose="020B0503020204020204" pitchFamily="34" charset="-122"/>
                    <a:ea typeface="微软雅黑" panose="020B0503020204020204" pitchFamily="34" charset="-122"/>
                  </a:rPr>
                  <a:t>的潜在空间轨迹。可以得到</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𝑡</m:t>
                        </m:r>
                      </m:sub>
                    </m:sSub>
                  </m:oMath>
                </a14:m>
                <a:r>
                  <a:rPr lang="en-US" altLang="zh-CN" dirty="0">
                    <a:latin typeface="Cambria Math" panose="02040503050406030204" charset="0"/>
                    <a:ea typeface="微软雅黑" panose="020B0503020204020204" pitchFamily="34" charset="-122"/>
                    <a:cs typeface="Cambria Math" panose="02040503050406030204" charset="0"/>
                  </a:rPr>
                  <a:t> </a:t>
                </a:r>
                <a:r>
                  <a:rPr lang="zh-CN" altLang="en-US" dirty="0">
                    <a:latin typeface="Cambria Math" panose="02040503050406030204" charset="0"/>
                    <a:ea typeface="微软雅黑" panose="020B0503020204020204" pitchFamily="34" charset="-122"/>
                    <a:cs typeface="Cambria Math" panose="02040503050406030204" charset="0"/>
                  </a:rPr>
                  <a:t>以及从</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𝑡</m:t>
                        </m:r>
                      </m:sub>
                    </m:sSub>
                  </m:oMath>
                </a14:m>
                <a:r>
                  <a:rPr lang="en-US" altLang="zh-CN" i="1" dirty="0">
                    <a:latin typeface="Cambria Math" panose="02040503050406030204" charset="0"/>
                    <a:ea typeface="微软雅黑" panose="020B0503020204020204" pitchFamily="34" charset="-122"/>
                    <a:cs typeface="Cambria Math" panose="02040503050406030204" charset="0"/>
                  </a:rPr>
                  <a:t> </a:t>
                </a:r>
                <a:r>
                  <a:rPr lang="zh-CN" altLang="en-US" dirty="0">
                    <a:latin typeface="微软雅黑" panose="020B0503020204020204" pitchFamily="34" charset="-122"/>
                    <a:ea typeface="微软雅黑" panose="020B0503020204020204" pitchFamily="34" charset="-122"/>
                  </a:rPr>
                  <a:t>到</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0</m:t>
                        </m:r>
                      </m:sub>
                    </m:sSub>
                    <m:r>
                      <a:rPr lang="en-US" altLang="zh-CN" i="1" dirty="0">
                        <a:latin typeface="Cambria Math" panose="02040503050406030204" charset="0"/>
                        <a:ea typeface="微软雅黑" panose="020B0503020204020204" pitchFamily="34" charset="-122"/>
                        <a:cs typeface="Cambria Math" panose="02040503050406030204" charset="0"/>
                      </a:rPr>
                      <m:t> </m:t>
                    </m:r>
                  </m:oMath>
                </a14:m>
                <a:r>
                  <a:rPr lang="zh-CN" altLang="en-US" dirty="0">
                    <a:latin typeface="微软雅黑" panose="020B0503020204020204" pitchFamily="34" charset="-122"/>
                    <a:ea typeface="微软雅黑" panose="020B0503020204020204" pitchFamily="34" charset="-122"/>
                  </a:rPr>
                  <a:t>的中间潜变量序列。这个</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𝑡</m:t>
                        </m:r>
                      </m:sub>
                    </m:sSub>
                  </m:oMath>
                </a14:m>
                <a:r>
                  <a:rPr lang="en-US" altLang="zh-CN" i="1" dirty="0">
                    <a:latin typeface="Cambria Math" panose="02040503050406030204" charset="0"/>
                    <a:ea typeface="微软雅黑" panose="020B0503020204020204" pitchFamily="34" charset="-122"/>
                    <a:cs typeface="Cambria Math" panose="02040503050406030204" charset="0"/>
                    <a:sym typeface="+mn-ea"/>
                  </a:rPr>
                  <a:t> </a:t>
                </a:r>
                <a:r>
                  <a:rPr lang="zh-CN" altLang="en-US" dirty="0">
                    <a:latin typeface="微软雅黑" panose="020B0503020204020204" pitchFamily="34" charset="-122"/>
                    <a:ea typeface="微软雅黑" panose="020B0503020204020204" pitchFamily="34" charset="-122"/>
                  </a:rPr>
                  <a:t>即</a:t>
                </a:r>
                <a:r>
                  <a:rPr lang="zh-CN" altLang="en-US" dirty="0">
                    <a:latin typeface="微软雅黑" panose="020B0503020204020204" pitchFamily="34" charset="-122"/>
                    <a:ea typeface="微软雅黑" panose="020B0503020204020204" pitchFamily="34" charset="-122"/>
                  </a:rPr>
                  <a:t>是后续编辑生成过程的起点。</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b="1" dirty="0">
                    <a:latin typeface="微软雅黑" panose="020B0503020204020204" pitchFamily="34" charset="-122"/>
                    <a:ea typeface="微软雅黑" panose="020B0503020204020204" pitchFamily="34" charset="-122"/>
                  </a:rPr>
                  <a:t>Null-text</a:t>
                </a:r>
                <a:r>
                  <a:rPr lang="zh-CN" altLang="en-US" b="1" dirty="0">
                    <a:latin typeface="微软雅黑" panose="020B0503020204020204" pitchFamily="34" charset="-122"/>
                    <a:ea typeface="微软雅黑" panose="020B0503020204020204" pitchFamily="34" charset="-122"/>
                  </a:rPr>
                  <a:t>反演</a:t>
                </a:r>
                <a:r>
                  <a:rPr lang="zh-CN" altLang="en-US" dirty="0">
                    <a:latin typeface="微软雅黑" panose="020B0503020204020204" pitchFamily="34" charset="-122"/>
                    <a:ea typeface="微软雅黑" panose="020B0503020204020204" pitchFamily="34" charset="-122"/>
                  </a:rPr>
                  <a:t>：上述</a:t>
                </a:r>
                <a:r>
                  <a:rPr lang="en-US" altLang="zh-CN" dirty="0">
                    <a:latin typeface="微软雅黑" panose="020B0503020204020204" pitchFamily="34" charset="-122"/>
                    <a:ea typeface="微软雅黑" panose="020B0503020204020204" pitchFamily="34" charset="-122"/>
                  </a:rPr>
                  <a:t>DDIM</a:t>
                </a:r>
                <a:r>
                  <a:rPr lang="zh-CN" altLang="en-US" dirty="0">
                    <a:latin typeface="微软雅黑" panose="020B0503020204020204" pitchFamily="34" charset="-122"/>
                    <a:ea typeface="微软雅黑" panose="020B0503020204020204" pitchFamily="34" charset="-122"/>
                  </a:rPr>
                  <a:t>反演得到的图像仍不够精确。通过引入学习得到的空文本嵌入</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𝐶</m:t>
                        </m:r>
                      </m:e>
                      <m:sub>
                        <m:r>
                          <a:rPr lang="en-US" altLang="zh-CN" i="1" dirty="0">
                            <a:latin typeface="Cambria Math" panose="02040503050406030204" charset="0"/>
                            <a:ea typeface="微软雅黑" panose="020B0503020204020204" pitchFamily="34" charset="-122"/>
                            <a:cs typeface="Cambria Math" panose="02040503050406030204" charset="0"/>
                          </a:rPr>
                          <m:t>∅</m:t>
                        </m:r>
                      </m:sub>
                    </m:sSub>
                  </m:oMath>
                </a14:m>
                <a:r>
                  <a:rPr lang="zh-CN" altLang="en-US" dirty="0">
                    <a:latin typeface="Cambria Math" panose="02040503050406030204" charset="0"/>
                    <a:ea typeface="微软雅黑" panose="020B0503020204020204" pitchFamily="34" charset="-122"/>
                    <a:cs typeface="Cambria Math" panose="02040503050406030204" charset="0"/>
                  </a:rPr>
                  <a:t>，</a:t>
                </a:r>
                <a:r>
                  <a:rPr lang="zh-CN" altLang="en-US" dirty="0">
                    <a:latin typeface="微软雅黑" panose="020B0503020204020204" pitchFamily="34" charset="-122"/>
                    <a:ea typeface="微软雅黑" panose="020B0503020204020204" pitchFamily="34" charset="-122"/>
                  </a:rPr>
                  <a:t>使得从</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𝑡</m:t>
                        </m:r>
                      </m:sub>
                    </m:sSub>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开始，在这些经优化的的</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 </m:t>
                        </m:r>
                        <m:r>
                          <a:rPr lang="en-US" altLang="zh-CN" i="1" dirty="0">
                            <a:latin typeface="Cambria Math" panose="02040503050406030204" charset="0"/>
                            <a:ea typeface="微软雅黑" panose="020B0503020204020204" pitchFamily="34" charset="-122"/>
                            <a:cs typeface="Cambria Math" panose="02040503050406030204" charset="0"/>
                          </a:rPr>
                          <m:t>𝐶</m:t>
                        </m:r>
                      </m:e>
                      <m:sub>
                        <m:r>
                          <a:rPr lang="en-US" altLang="zh-CN" i="1" dirty="0">
                            <a:latin typeface="Cambria Math" panose="02040503050406030204" charset="0"/>
                            <a:ea typeface="微软雅黑" panose="020B0503020204020204" pitchFamily="34" charset="-122"/>
                            <a:cs typeface="Cambria Math" panose="02040503050406030204" charset="0"/>
                          </a:rPr>
                          <m:t>∅</m:t>
                        </m:r>
                      </m:sub>
                    </m:sSub>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引导下进行去噪，能够最大程度地</a:t>
                </a:r>
                <a:r>
                  <a:rPr lang="zh-CN" altLang="en-US" dirty="0">
                    <a:solidFill>
                      <a:srgbClr val="FF0000"/>
                    </a:solidFill>
                    <a:latin typeface="微软雅黑" panose="020B0503020204020204" pitchFamily="34" charset="-122"/>
                    <a:ea typeface="微软雅黑" panose="020B0503020204020204" pitchFamily="34" charset="-122"/>
                  </a:rPr>
                  <a:t>精确重建</a:t>
                </a:r>
                <a:r>
                  <a:rPr lang="zh-CN" altLang="en-US" dirty="0">
                    <a:latin typeface="微软雅黑" panose="020B0503020204020204" pitchFamily="34" charset="-122"/>
                    <a:ea typeface="微软雅黑" panose="020B0503020204020204" pitchFamily="34" charset="-122"/>
                  </a:rPr>
                  <a:t>出原始图像。</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这为后续的文本引导编辑提供了一个</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锚点</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，使得所有编辑操作都是在</a:t>
                </a:r>
                <a:r>
                  <a:rPr lang="zh-CN" altLang="en-US" dirty="0">
                    <a:latin typeface="微软雅黑" panose="020B0503020204020204" pitchFamily="34" charset="-122"/>
                    <a:ea typeface="微软雅黑" panose="020B0503020204020204" pitchFamily="34" charset="-122"/>
                  </a:rPr>
                  <a:t>保持原图结构的基础上进行的。</a:t>
                </a:r>
                <a:endParaRPr lang="zh-CN" altLang="en-US" dirty="0">
                  <a:latin typeface="微软雅黑" panose="020B0503020204020204" pitchFamily="34" charset="-122"/>
                  <a:ea typeface="微软雅黑" panose="020B0503020204020204" pitchFamily="34" charset="-122"/>
                </a:endParaRPr>
              </a:p>
            </p:txBody>
          </p:sp>
        </mc:Choice>
        <mc:Fallback>
          <p:sp>
            <p:nvSpPr>
              <p:cNvPr id="25" name="文本框 24"/>
              <p:cNvSpPr txBox="1">
                <a:spLocks noRot="1" noChangeAspect="1" noMove="1" noResize="1" noEditPoints="1" noAdjustHandles="1" noChangeArrowheads="1" noChangeShapeType="1" noTextEdit="1"/>
              </p:cNvSpPr>
              <p:nvPr/>
            </p:nvSpPr>
            <p:spPr>
              <a:xfrm>
                <a:off x="628650" y="1750060"/>
                <a:ext cx="6341745" cy="454660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主要实现</a:t>
            </a: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方法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3" name="文本框 42"/>
          <p:cNvSpPr txBox="1"/>
          <p:nvPr/>
        </p:nvSpPr>
        <p:spPr>
          <a:xfrm>
            <a:off x="405130" y="1123950"/>
            <a:ext cx="8976995"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（二）</a:t>
            </a:r>
            <a:r>
              <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Personalized Concept Learning Module </a:t>
            </a:r>
            <a:endPar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MH_Other_5"/>
          <p:cNvSpPr/>
          <p:nvPr>
            <p:custDataLst>
              <p:tags r:id="rId1"/>
            </p:custDataLst>
          </p:nvPr>
        </p:nvSpPr>
        <p:spPr>
          <a:xfrm rot="16200000">
            <a:off x="5384091" y="3732372"/>
            <a:ext cx="3313113" cy="44450"/>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defRPr/>
            </a:pPr>
            <a:endParaRPr lang="zh-CN" altLang="en-US"/>
          </a:p>
        </p:txBody>
      </p:sp>
      <mc:AlternateContent xmlns:mc="http://schemas.openxmlformats.org/markup-compatibility/2006">
        <mc:Choice xmlns:a14="http://schemas.microsoft.com/office/drawing/2010/main" Requires="a14">
          <p:sp>
            <p:nvSpPr>
              <p:cNvPr id="25" name="文本框 24"/>
              <p:cNvSpPr txBox="1"/>
              <p:nvPr/>
            </p:nvSpPr>
            <p:spPr>
              <a:xfrm>
                <a:off x="628650" y="2044700"/>
                <a:ext cx="6341745" cy="3692525"/>
              </a:xfrm>
              <a:prstGeom prst="rect">
                <a:avLst/>
              </a:prstGeom>
              <a:noFill/>
            </p:spPr>
            <p:txBody>
              <a:bodyPr wrap="square" rtlCol="0">
                <a:spAutoFit/>
              </a:bodyPr>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目标：从用户提供的少量参考图像中，学习并捕获一个全新的、个性化的</a:t>
                </a:r>
                <a:r>
                  <a:rPr lang="zh-CN" altLang="en-US" dirty="0">
                    <a:solidFill>
                      <a:srgbClr val="FF0000"/>
                    </a:solidFill>
                    <a:latin typeface="微软雅黑" panose="020B0503020204020204" pitchFamily="34" charset="-122"/>
                    <a:ea typeface="微软雅黑" panose="020B0503020204020204" pitchFamily="34" charset="-122"/>
                  </a:rPr>
                  <a:t>视觉概念</a:t>
                </a:r>
                <a:r>
                  <a:rPr lang="en-US" altLang="zh-CN"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ctrlPr>
                      </m:sSupPr>
                      <m:e>
                        <m: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t>𝑆</m:t>
                        </m:r>
                      </m:e>
                      <m:sup>
                        <m: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t>∗</m:t>
                        </m:r>
                      </m:sup>
                    </m:sSup>
                  </m:oMath>
                </a14:m>
                <a:r>
                  <a:rPr lang="zh-CN" altLang="en-US" dirty="0">
                    <a:latin typeface="微软雅黑" panose="020B0503020204020204" pitchFamily="34" charset="-122"/>
                    <a:ea typeface="微软雅黑" panose="020B0503020204020204" pitchFamily="34" charset="-122"/>
                  </a:rPr>
                  <a:t>，并将其</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注入</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到预训练模型的词向量空间中，使得模型能够</a:t>
                </a:r>
                <a:r>
                  <a:rPr lang="zh-CN" altLang="en-US" dirty="0">
                    <a:solidFill>
                      <a:srgbClr val="FF0000"/>
                    </a:solidFill>
                    <a:latin typeface="微软雅黑" panose="020B0503020204020204" pitchFamily="34" charset="-122"/>
                    <a:ea typeface="微软雅黑" panose="020B0503020204020204" pitchFamily="34" charset="-122"/>
                  </a:rPr>
                  <a:t>理解并生成这个新概念</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核心</a:t>
                </a:r>
                <a:r>
                  <a:rPr lang="zh-CN" altLang="en-US" dirty="0">
                    <a:latin typeface="微软雅黑" panose="020B0503020204020204" pitchFamily="34" charset="-122"/>
                    <a:ea typeface="微软雅黑" panose="020B0503020204020204" pitchFamily="34" charset="-122"/>
                  </a:rPr>
                  <a:t>流程：</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为</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i="1" dirty="0">
                            <a:latin typeface="Cambria Math" panose="02040503050406030204" charset="0"/>
                            <a:ea typeface="微软雅黑" panose="020B0503020204020204" pitchFamily="34" charset="-122"/>
                            <a:cs typeface="Cambria Math" panose="02040503050406030204" charset="0"/>
                          </a:rPr>
                        </m:ctrlPr>
                      </m:sSupPr>
                      <m:e>
                        <m:r>
                          <a:rPr lang="en-US" altLang="zh-CN" i="1" dirty="0">
                            <a:latin typeface="Cambria Math" panose="02040503050406030204" charset="0"/>
                            <a:ea typeface="微软雅黑" panose="020B0503020204020204" pitchFamily="34" charset="-122"/>
                            <a:cs typeface="Cambria Math" panose="02040503050406030204" charset="0"/>
                          </a:rPr>
                          <m:t>𝑆</m:t>
                        </m:r>
                      </m:e>
                      <m:sup>
                        <m:r>
                          <a:rPr lang="en-US" altLang="zh-CN" i="1" dirty="0">
                            <a:latin typeface="Cambria Math" panose="02040503050406030204" charset="0"/>
                            <a:ea typeface="微软雅黑" panose="020B0503020204020204" pitchFamily="34" charset="-122"/>
                            <a:cs typeface="Cambria Math" panose="02040503050406030204" charset="0"/>
                          </a:rPr>
                          <m:t>∗</m:t>
                        </m:r>
                      </m:sup>
                    </m:sSup>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在模型的文本编码器中对应一个新的</a:t>
                </a:r>
                <a:r>
                  <a:rPr lang="en-US" altLang="zh-CN" dirty="0">
                    <a:latin typeface="微软雅黑" panose="020B0503020204020204" pitchFamily="34" charset="-122"/>
                    <a:ea typeface="微软雅黑" panose="020B0503020204020204" pitchFamily="34" charset="-122"/>
                  </a:rPr>
                  <a:t>embedding</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在训练过程中，固定预训练扩散模型的大部分参数，主要优化这个新的</a:t>
                </a:r>
                <a:r>
                  <a:rPr lang="en-US" altLang="zh-CN" dirty="0">
                    <a:latin typeface="微软雅黑" panose="020B0503020204020204" pitchFamily="34" charset="-122"/>
                    <a:ea typeface="微软雅黑" panose="020B0503020204020204" pitchFamily="34" charset="-122"/>
                  </a:rPr>
                  <a:t>embedding</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损失函数与预训练</a:t>
                </a:r>
                <a:r>
                  <a:rPr lang="zh-CN" altLang="en-US" dirty="0">
                    <a:latin typeface="微软雅黑" panose="020B0503020204020204" pitchFamily="34" charset="-122"/>
                    <a:ea typeface="微软雅黑" panose="020B0503020204020204" pitchFamily="34" charset="-122"/>
                  </a:rPr>
                  <a:t>的扩散模型相同。</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这是实现</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个性化</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编辑的核心。它使得模型能够</a:t>
                </a:r>
                <a:r>
                  <a:rPr lang="zh-CN" altLang="en-US" dirty="0">
                    <a:highlight>
                      <a:srgbClr val="FFFF00"/>
                    </a:highlight>
                    <a:latin typeface="微软雅黑" panose="020B0503020204020204" pitchFamily="34" charset="-122"/>
                    <a:ea typeface="微软雅黑" panose="020B0503020204020204" pitchFamily="34" charset="-122"/>
                  </a:rPr>
                  <a:t>超越原始训练数据的范畴</a:t>
                </a:r>
                <a:r>
                  <a:rPr lang="zh-CN" altLang="en-US" dirty="0">
                    <a:latin typeface="微软雅黑" panose="020B0503020204020204" pitchFamily="34" charset="-122"/>
                    <a:ea typeface="微软雅黑" panose="020B0503020204020204" pitchFamily="34" charset="-122"/>
                  </a:rPr>
                  <a:t>，理解和生成用户自定义的、独特的视觉内容。</a:t>
                </a:r>
                <a:endParaRPr lang="zh-CN" altLang="en-US" dirty="0">
                  <a:latin typeface="微软雅黑" panose="020B0503020204020204" pitchFamily="34" charset="-122"/>
                  <a:ea typeface="微软雅黑" panose="020B0503020204020204" pitchFamily="34" charset="-122"/>
                </a:endParaRPr>
              </a:p>
            </p:txBody>
          </p:sp>
        </mc:Choice>
        <mc:Fallback>
          <p:sp>
            <p:nvSpPr>
              <p:cNvPr id="25" name="文本框 24"/>
              <p:cNvSpPr txBox="1">
                <a:spLocks noRot="1" noChangeAspect="1" noMove="1" noResize="1" noEditPoints="1" noAdjustHandles="1" noChangeArrowheads="1" noChangeShapeType="1" noTextEdit="1"/>
              </p:cNvSpPr>
              <p:nvPr/>
            </p:nvSpPr>
            <p:spPr>
              <a:xfrm>
                <a:off x="628650" y="2044700"/>
                <a:ext cx="6341745" cy="3692525"/>
              </a:xfrm>
              <a:prstGeom prst="rect">
                <a:avLst/>
              </a:prstGeom>
              <a:blipFill rotWithShape="1">
                <a:blip r:embed="rId2"/>
                <a:stretch>
                  <a:fillRect/>
                </a:stretch>
              </a:blipFill>
            </p:spPr>
            <p:txBody>
              <a:bodyPr/>
              <a:lstStyle/>
              <a:p>
                <a:r>
                  <a:rPr lang="zh-CN" altLang="en-US">
                    <a:noFill/>
                  </a:rPr>
                  <a:t> </a:t>
                </a:r>
              </a:p>
            </p:txBody>
          </p:sp>
        </mc:Fallback>
      </mc:AlternateContent>
      <p:pic>
        <p:nvPicPr>
          <p:cNvPr id="2" name="图片 1" descr="屏幕截图 2025-05-09 000813"/>
          <p:cNvPicPr>
            <a:picLocks noChangeAspect="1"/>
          </p:cNvPicPr>
          <p:nvPr/>
        </p:nvPicPr>
        <p:blipFill>
          <a:blip r:embed="rId3"/>
          <a:srcRect l="46120" t="24760" r="15953" b="27973"/>
          <a:stretch>
            <a:fillRect/>
          </a:stretch>
        </p:blipFill>
        <p:spPr>
          <a:xfrm>
            <a:off x="7230745" y="2877820"/>
            <a:ext cx="4624070" cy="2756535"/>
          </a:xfrm>
          <a:prstGeom prst="rect">
            <a:avLst/>
          </a:prstGeom>
        </p:spPr>
      </p:pic>
      <p:pic>
        <p:nvPicPr>
          <p:cNvPr id="4" name="图片 3"/>
          <p:cNvPicPr>
            <a:picLocks noChangeAspect="1"/>
          </p:cNvPicPr>
          <p:nvPr/>
        </p:nvPicPr>
        <p:blipFill>
          <a:blip r:embed="rId4"/>
          <a:stretch>
            <a:fillRect/>
          </a:stretch>
        </p:blipFill>
        <p:spPr>
          <a:xfrm>
            <a:off x="7166610" y="1940560"/>
            <a:ext cx="3056255" cy="991870"/>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主要实现</a:t>
            </a: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方法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3" name="文本框 42"/>
          <p:cNvSpPr txBox="1"/>
          <p:nvPr/>
        </p:nvSpPr>
        <p:spPr>
          <a:xfrm>
            <a:off x="405130" y="1123950"/>
            <a:ext cx="8976995" cy="521970"/>
          </a:xfrm>
          <a:prstGeom prst="rect">
            <a:avLst/>
          </a:prstGeom>
          <a:noFill/>
          <a:ln w="9525">
            <a:noFill/>
          </a:ln>
        </p:spPr>
        <p:txBody>
          <a:bodyPr wrap="square">
            <a:spAutoFit/>
          </a:bodyPr>
          <a:lstStyle/>
          <a:p>
            <a:pPr indent="0"/>
            <a:r>
              <a:rPr lang="zh-CN" altLang="en-US"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（三）</a:t>
            </a:r>
            <a:r>
              <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Attention-Guided Editing Module </a:t>
            </a:r>
            <a:endParaRPr lang="en-US" altLang="zh-CN" sz="28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5" name="文本框 24"/>
              <p:cNvSpPr txBox="1"/>
              <p:nvPr/>
            </p:nvSpPr>
            <p:spPr>
              <a:xfrm>
                <a:off x="676910" y="1861185"/>
                <a:ext cx="10579735" cy="2306955"/>
              </a:xfrm>
              <a:prstGeom prst="rect">
                <a:avLst/>
              </a:prstGeom>
              <a:noFill/>
            </p:spPr>
            <p:txBody>
              <a:bodyPr wrap="square" rtlCol="0">
                <a:spAutoFit/>
              </a:bodyPr>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目标：利用前两个模块的成果</a:t>
                </a:r>
                <a:r>
                  <a:rPr 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背景图像的稳定潜变量表示</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i="1" dirty="0">
                            <a:latin typeface="Cambria Math" panose="02040503050406030204" charset="0"/>
                            <a:ea typeface="微软雅黑" panose="020B0503020204020204" pitchFamily="34" charset="-122"/>
                            <a:cs typeface="Cambria Math" panose="02040503050406030204" charset="0"/>
                          </a:rPr>
                        </m:ctrlPr>
                      </m:sSubPr>
                      <m:e>
                        <m:r>
                          <a:rPr lang="en-US" altLang="zh-CN" i="1" dirty="0">
                            <a:latin typeface="Cambria Math" panose="02040503050406030204" charset="0"/>
                            <a:ea typeface="微软雅黑" panose="020B0503020204020204" pitchFamily="34" charset="-122"/>
                            <a:cs typeface="Cambria Math" panose="02040503050406030204" charset="0"/>
                          </a:rPr>
                          <m:t>𝑍</m:t>
                        </m:r>
                      </m:e>
                      <m:sub>
                        <m:r>
                          <a:rPr lang="en-US" altLang="zh-CN" i="1" dirty="0">
                            <a:latin typeface="Cambria Math" panose="02040503050406030204" charset="0"/>
                            <a:ea typeface="微软雅黑" panose="020B0503020204020204" pitchFamily="34" charset="-122"/>
                            <a:cs typeface="Cambria Math" panose="02040503050406030204" charset="0"/>
                          </a:rPr>
                          <m:t>𝑡</m:t>
                        </m:r>
                      </m:sub>
                    </m:sSub>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和学习到的个性化概念</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i="1" dirty="0">
                            <a:latin typeface="Cambria Math" panose="02040503050406030204" charset="0"/>
                            <a:ea typeface="微软雅黑" panose="020B0503020204020204" pitchFamily="34" charset="-122"/>
                            <a:cs typeface="Cambria Math" panose="02040503050406030204" charset="0"/>
                          </a:rPr>
                        </m:ctrlPr>
                      </m:sSupPr>
                      <m:e>
                        <m:r>
                          <a:rPr lang="en-US" altLang="zh-CN" i="1" dirty="0">
                            <a:latin typeface="Cambria Math" panose="02040503050406030204" charset="0"/>
                            <a:ea typeface="微软雅黑" panose="020B0503020204020204" pitchFamily="34" charset="-122"/>
                            <a:cs typeface="Cambria Math" panose="02040503050406030204" charset="0"/>
                          </a:rPr>
                          <m:t>𝑆</m:t>
                        </m:r>
                      </m:e>
                      <m:sup>
                        <m:r>
                          <a:rPr lang="en-US" altLang="zh-CN" i="1" dirty="0">
                            <a:latin typeface="Cambria Math" panose="02040503050406030204" charset="0"/>
                            <a:ea typeface="微软雅黑" panose="020B0503020204020204" pitchFamily="34" charset="-122"/>
                            <a:cs typeface="Cambria Math" panose="02040503050406030204" charset="0"/>
                          </a:rPr>
                          <m:t>∗</m:t>
                        </m:r>
                      </m:sup>
                    </m:sSup>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）根据用户的编辑指令，通过精细操控交叉注意力机制，实现对目标图像的精准、可控的</a:t>
                </a:r>
                <a:r>
                  <a:rPr lang="zh-CN" altLang="en-US" dirty="0">
                    <a:solidFill>
                      <a:srgbClr val="FF0000"/>
                    </a:solidFill>
                    <a:latin typeface="微软雅黑" panose="020B0503020204020204" pitchFamily="34" charset="-122"/>
                    <a:ea typeface="微软雅黑" panose="020B0503020204020204" pitchFamily="34" charset="-122"/>
                  </a:rPr>
                  <a:t>个性化编辑</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交叉注意力机制：文本提示中的每一个词（</a:t>
                </a:r>
                <a:r>
                  <a:rPr lang="en-US" altLang="zh-CN" dirty="0">
                    <a:latin typeface="微软雅黑" panose="020B0503020204020204" pitchFamily="34" charset="-122"/>
                    <a:ea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rPr>
                  <a:t>），交叉注意力机制会计算出一个空间注意力图（</a:t>
                </a:r>
                <a:r>
                  <a:rPr lang="en-US" altLang="zh-CN" dirty="0">
                    <a:latin typeface="微软雅黑" panose="020B0503020204020204" pitchFamily="34" charset="-122"/>
                    <a:ea typeface="微软雅黑" panose="020B0503020204020204" pitchFamily="34" charset="-122"/>
                  </a:rPr>
                  <a:t>attention map</a:t>
                </a:r>
                <a:r>
                  <a:rPr lang="zh-CN" altLang="en-US" dirty="0">
                    <a:latin typeface="微软雅黑" panose="020B0503020204020204" pitchFamily="34" charset="-122"/>
                    <a:ea typeface="微软雅黑" panose="020B0503020204020204" pitchFamily="34" charset="-122"/>
                  </a:rPr>
                  <a:t>），该图表示了这个词在当前图像特征图上各个空间位置的</a:t>
                </a:r>
                <a:r>
                  <a:rPr lang="zh-CN" altLang="en-US" dirty="0">
                    <a:highlight>
                      <a:srgbClr val="FFFF00"/>
                    </a:highlight>
                    <a:latin typeface="微软雅黑" panose="020B0503020204020204" pitchFamily="34" charset="-122"/>
                    <a:ea typeface="微软雅黑" panose="020B0503020204020204" pitchFamily="34" charset="-122"/>
                  </a:rPr>
                  <a:t>关注程度或影响力</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词语替换（</a:t>
                </a:r>
                <a:r>
                  <a:rPr lang="en-US" altLang="zh-CN" dirty="0">
                    <a:latin typeface="微软雅黑" panose="020B0503020204020204" pitchFamily="34" charset="-122"/>
                    <a:ea typeface="微软雅黑" panose="020B0503020204020204" pitchFamily="34" charset="-122"/>
                  </a:rPr>
                  <a:t>Word Swap</a:t>
                </a:r>
                <a:r>
                  <a:rPr lang="zh-CN" altLang="en-US" dirty="0">
                    <a:latin typeface="微软雅黑" panose="020B0503020204020204" pitchFamily="34" charset="-122"/>
                    <a:ea typeface="微软雅黑" panose="020B0503020204020204" pitchFamily="34" charset="-122"/>
                  </a:rPr>
                  <a:t>）：在生成过程中，当处理到被替换词对应的</a:t>
                </a:r>
                <a:r>
                  <a:rPr lang="en-US" altLang="zh-CN" dirty="0">
                    <a:latin typeface="微软雅黑" panose="020B0503020204020204" pitchFamily="34" charset="-122"/>
                    <a:ea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rPr>
                  <a:t>时，可以使用</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i="1" dirty="0">
                            <a:latin typeface="Cambria Math" panose="02040503050406030204" charset="0"/>
                            <a:ea typeface="微软雅黑" panose="020B0503020204020204" pitchFamily="34" charset="-122"/>
                            <a:cs typeface="Cambria Math" panose="02040503050406030204" charset="0"/>
                          </a:rPr>
                        </m:ctrlPr>
                      </m:sSupPr>
                      <m:e>
                        <m:r>
                          <a:rPr lang="en-US" altLang="zh-CN" i="1" dirty="0">
                            <a:latin typeface="Cambria Math" panose="02040503050406030204" charset="0"/>
                            <a:ea typeface="微软雅黑" panose="020B0503020204020204" pitchFamily="34" charset="-122"/>
                            <a:cs typeface="Cambria Math" panose="02040503050406030204" charset="0"/>
                          </a:rPr>
                          <m:t>𝑆</m:t>
                        </m:r>
                      </m:e>
                      <m:sup>
                        <m:r>
                          <a:rPr lang="en-US" altLang="zh-CN" i="1" dirty="0">
                            <a:latin typeface="Cambria Math" panose="02040503050406030204" charset="0"/>
                            <a:ea typeface="微软雅黑" panose="020B0503020204020204" pitchFamily="34" charset="-122"/>
                            <a:cs typeface="Cambria Math" panose="02040503050406030204" charset="0"/>
                          </a:rPr>
                          <m:t>∗</m:t>
                        </m:r>
                      </m:sup>
                    </m:sSup>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的词向量，将原始</a:t>
                </a:r>
                <a:r>
                  <a:rPr lang="en-US" altLang="zh-CN" dirty="0">
                    <a:latin typeface="微软雅黑" panose="020B0503020204020204" pitchFamily="34" charset="-122"/>
                    <a:ea typeface="微软雅黑" panose="020B0503020204020204" pitchFamily="34" charset="-122"/>
                  </a:rPr>
                  <a:t>token</a:t>
                </a:r>
                <a:r>
                  <a:rPr lang="zh-CN" altLang="en-US" dirty="0">
                    <a:latin typeface="微软雅黑" panose="020B0503020204020204" pitchFamily="34" charset="-122"/>
                    <a:ea typeface="微软雅黑" panose="020B0503020204020204" pitchFamily="34" charset="-122"/>
                  </a:rPr>
                  <a:t>对应的注意力图</a:t>
                </a:r>
                <a:r>
                  <a:rPr lang="zh-CN" altLang="en-US" dirty="0">
                    <a:solidFill>
                      <a:srgbClr val="FF0000"/>
                    </a:solidFill>
                    <a:latin typeface="微软雅黑" panose="020B0503020204020204" pitchFamily="34" charset="-122"/>
                    <a:ea typeface="微软雅黑" panose="020B0503020204020204" pitchFamily="34" charset="-122"/>
                  </a:rPr>
                  <a:t>替换为</a:t>
                </a:r>
                <a:r>
                  <a:rPr lang="en-US" altLang="zh-CN"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ctrlPr>
                      </m:sSupPr>
                      <m:e>
                        <m: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t>𝑆</m:t>
                        </m:r>
                      </m:e>
                      <m:sup>
                        <m:r>
                          <a:rPr lang="en-US" altLang="zh-CN" i="1" dirty="0">
                            <a:solidFill>
                              <a:srgbClr val="FF0000"/>
                            </a:solidFill>
                            <a:latin typeface="Cambria Math" panose="02040503050406030204" charset="0"/>
                            <a:ea typeface="微软雅黑" panose="020B0503020204020204" pitchFamily="34" charset="-122"/>
                            <a:cs typeface="Cambria Math" panose="02040503050406030204" charset="0"/>
                          </a:rPr>
                          <m:t>∗</m:t>
                        </m:r>
                      </m:sup>
                    </m:sSup>
                  </m:oMath>
                </a14:m>
                <a:r>
                  <a:rPr lang="en-US" altLang="zh-CN" dirty="0">
                    <a:solidFill>
                      <a:srgbClr val="FF0000"/>
                    </a:solidFill>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自身形成的注意力图</a:t>
                </a:r>
                <a:r>
                  <a:rPr lang="zh-CN" altLang="en-US"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p:txBody>
          </p:sp>
        </mc:Choice>
        <mc:Fallback>
          <p:sp>
            <p:nvSpPr>
              <p:cNvPr id="25" name="文本框 24"/>
              <p:cNvSpPr txBox="1">
                <a:spLocks noRot="1" noChangeAspect="1" noMove="1" noResize="1" noEditPoints="1" noAdjustHandles="1" noChangeArrowheads="1" noChangeShapeType="1" noTextEdit="1"/>
              </p:cNvSpPr>
              <p:nvPr/>
            </p:nvSpPr>
            <p:spPr>
              <a:xfrm>
                <a:off x="676910" y="1861185"/>
                <a:ext cx="10579735" cy="2306955"/>
              </a:xfrm>
              <a:prstGeom prst="rect">
                <a:avLst/>
              </a:prstGeom>
              <a:blipFill rotWithShape="1">
                <a:blip r:embed="rId1"/>
                <a:stretch>
                  <a:fillRect/>
                </a:stretch>
              </a:blipFill>
            </p:spPr>
            <p:txBody>
              <a:bodyPr/>
              <a:lstStyle/>
              <a:p>
                <a:r>
                  <a:rPr lang="zh-CN" altLang="en-US">
                    <a:noFill/>
                  </a:rPr>
                  <a:t> </a:t>
                </a:r>
              </a:p>
            </p:txBody>
          </p:sp>
        </mc:Fallback>
      </mc:AlternateContent>
      <p:pic>
        <p:nvPicPr>
          <p:cNvPr id="3" name="图片 2"/>
          <p:cNvPicPr>
            <a:picLocks noChangeAspect="1"/>
          </p:cNvPicPr>
          <p:nvPr/>
        </p:nvPicPr>
        <p:blipFill>
          <a:blip r:embed="rId2"/>
          <a:stretch>
            <a:fillRect/>
          </a:stretch>
        </p:blipFill>
        <p:spPr>
          <a:xfrm>
            <a:off x="8799830" y="4179570"/>
            <a:ext cx="2733040" cy="2090420"/>
          </a:xfrm>
          <a:prstGeom prst="rect">
            <a:avLst/>
          </a:prstGeom>
        </p:spPr>
      </p:pic>
      <p:pic>
        <p:nvPicPr>
          <p:cNvPr id="6" name="图片 5"/>
          <p:cNvPicPr>
            <a:picLocks noChangeAspect="1"/>
          </p:cNvPicPr>
          <p:nvPr/>
        </p:nvPicPr>
        <p:blipFill>
          <a:blip r:embed="rId3"/>
          <a:stretch>
            <a:fillRect/>
          </a:stretch>
        </p:blipFill>
        <p:spPr>
          <a:xfrm>
            <a:off x="594995" y="4179570"/>
            <a:ext cx="7355205" cy="1682750"/>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169574"/>
            <a:ext cx="11403810" cy="58356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rPr>
              <a:t>目录</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1" name="组合 20"/>
          <p:cNvGrpSpPr/>
          <p:nvPr/>
        </p:nvGrpSpPr>
        <p:grpSpPr>
          <a:xfrm>
            <a:off x="1448984" y="1861333"/>
            <a:ext cx="4517957" cy="1033168"/>
            <a:chOff x="1896842" y="1618734"/>
            <a:chExt cx="4517957" cy="1033168"/>
          </a:xfrm>
        </p:grpSpPr>
        <p:sp>
          <p:nvSpPr>
            <p:cNvPr id="16"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论文选题介绍</a:t>
              </a:r>
              <a:endParaRPr lang="en-US" altLang="zh-CN"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椭圆 6"/>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8"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01</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 name="组合 1"/>
          <p:cNvGrpSpPr/>
          <p:nvPr/>
        </p:nvGrpSpPr>
        <p:grpSpPr>
          <a:xfrm>
            <a:off x="1448984" y="3804306"/>
            <a:ext cx="4517957" cy="1033168"/>
            <a:chOff x="1896842" y="1618734"/>
            <a:chExt cx="4517957" cy="1033168"/>
          </a:xfrm>
        </p:grpSpPr>
        <p:sp>
          <p:nvSpPr>
            <p:cNvPr id="3"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主要实现方法</a:t>
              </a:r>
              <a:endPar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椭圆 3"/>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03</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15" name="组合 14"/>
          <p:cNvGrpSpPr/>
          <p:nvPr/>
        </p:nvGrpSpPr>
        <p:grpSpPr>
          <a:xfrm>
            <a:off x="6658053" y="1861333"/>
            <a:ext cx="4517957" cy="1033168"/>
            <a:chOff x="1896842" y="1618734"/>
            <a:chExt cx="4517957" cy="1033168"/>
          </a:xfrm>
        </p:grpSpPr>
        <p:sp>
          <p:nvSpPr>
            <p:cNvPr id="17"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rPr>
                <a:t>主要研究内容</a:t>
              </a:r>
              <a:endParaRPr lang="zh-CN" altLang="en-US" sz="3600" kern="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5" name="椭圆 24"/>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26"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02</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grpSp>
        <p:nvGrpSpPr>
          <p:cNvPr id="27" name="组合 26"/>
          <p:cNvGrpSpPr/>
          <p:nvPr/>
        </p:nvGrpSpPr>
        <p:grpSpPr>
          <a:xfrm>
            <a:off x="6675131" y="3804306"/>
            <a:ext cx="4517957" cy="1033168"/>
            <a:chOff x="1896842" y="1618734"/>
            <a:chExt cx="4517957" cy="1033168"/>
          </a:xfrm>
        </p:grpSpPr>
        <p:sp>
          <p:nvSpPr>
            <p:cNvPr id="28" name="文本框 26"/>
            <p:cNvSpPr txBox="1"/>
            <p:nvPr/>
          </p:nvSpPr>
          <p:spPr>
            <a:xfrm>
              <a:off x="1913920" y="1618734"/>
              <a:ext cx="4500879" cy="1033168"/>
            </a:xfrm>
            <a:prstGeom prst="rect">
              <a:avLst/>
            </a:prstGeom>
            <a:noFill/>
          </p:spPr>
          <p:txBody>
            <a:bodyPr wrap="square" rtlCol="0">
              <a:spAutoFit/>
            </a:bodyPr>
            <a:lstStyle/>
            <a:p>
              <a:pPr algn="ctr">
                <a:lnSpc>
                  <a:spcPct val="200000"/>
                </a:lnSpc>
                <a:defRPr/>
              </a:pPr>
              <a:r>
                <a:rPr lang="zh-CN" altLang="en-US"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成果与展望</a:t>
              </a:r>
              <a:endParaRPr lang="en-US" altLang="zh-CN" sz="3600" b="1" kern="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椭圆 28"/>
            <p:cNvSpPr>
              <a:spLocks noChangeArrowheads="1"/>
            </p:cNvSpPr>
            <p:nvPr/>
          </p:nvSpPr>
          <p:spPr bwMode="auto">
            <a:xfrm>
              <a:off x="1896842" y="1987262"/>
              <a:ext cx="664640" cy="664640"/>
            </a:xfrm>
            <a:prstGeom prst="ellipse">
              <a:avLst/>
            </a:prstGeom>
            <a:solidFill>
              <a:srgbClr val="14539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1" dirty="0">
                <a:solidFill>
                  <a:srgbClr val="124062"/>
                </a:solidFill>
              </a:endParaRPr>
            </a:p>
          </p:txBody>
        </p:sp>
        <p:sp>
          <p:nvSpPr>
            <p:cNvPr id="30" name="TextBox 32"/>
            <p:cNvSpPr txBox="1">
              <a:spLocks noChangeArrowheads="1"/>
            </p:cNvSpPr>
            <p:nvPr/>
          </p:nvSpPr>
          <p:spPr bwMode="auto">
            <a:xfrm>
              <a:off x="1942278" y="2018509"/>
              <a:ext cx="601447" cy="584775"/>
            </a:xfrm>
            <a:prstGeom prst="rect">
              <a:avLst/>
            </a:prstGeom>
            <a:noFill/>
            <a:ln>
              <a:noFill/>
            </a:ln>
            <a:effec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b="1" dirty="0">
                  <a:solidFill>
                    <a:schemeClr val="bg1"/>
                  </a:solidFill>
                  <a:latin typeface="Times New Roman" panose="02020603050405020304" pitchFamily="18" charset="0"/>
                  <a:ea typeface="微软雅黑" panose="020B0503020204020204" pitchFamily="34" charset="-122"/>
                </a:rPr>
                <a:t>04</a:t>
              </a:r>
              <a:endParaRPr lang="zh-CN" altLang="en-US" sz="3200" b="1" dirty="0">
                <a:solidFill>
                  <a:schemeClr val="bg1"/>
                </a:solidFill>
                <a:latin typeface="Times New Roman" panose="02020603050405020304" pitchFamily="18" charset="0"/>
                <a:ea typeface="微软雅黑" panose="020B0503020204020204" pitchFamily="34" charset="-122"/>
              </a:endParaRPr>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1"/>
          </p:nvPr>
        </p:nvSpPr>
        <p:spPr>
          <a:xfrm>
            <a:off x="4915406" y="3890952"/>
            <a:ext cx="2340139" cy="496824"/>
          </a:xfrm>
        </p:spPr>
        <p:txBody>
          <a:bodyPr/>
          <a:lstStyle/>
          <a:p>
            <a:r>
              <a:rPr lang="en-US" altLang="zh-CN" dirty="0" smtClean="0"/>
              <a:t>PART  FOUR  </a:t>
            </a:r>
            <a:endParaRPr lang="zh-CN" altLang="en-US" dirty="0"/>
          </a:p>
        </p:txBody>
      </p:sp>
      <p:sp>
        <p:nvSpPr>
          <p:cNvPr id="4" name="文本占位符 3"/>
          <p:cNvSpPr>
            <a:spLocks noGrp="1"/>
          </p:cNvSpPr>
          <p:nvPr>
            <p:ph type="body" sz="quarter" idx="12"/>
          </p:nvPr>
        </p:nvSpPr>
        <p:spPr/>
        <p:txBody>
          <a:bodyPr/>
          <a:lstStyle/>
          <a:p>
            <a:r>
              <a:rPr lang="zh-CN" altLang="en-US" dirty="0" smtClean="0"/>
              <a:t>成果与</a:t>
            </a:r>
            <a:r>
              <a:rPr lang="zh-CN" altLang="en-US" dirty="0" smtClean="0"/>
              <a:t>展望</a:t>
            </a:r>
            <a:endParaRPr lang="zh-CN" altLang="en-US" dirty="0" smtClean="0"/>
          </a:p>
        </p:txBody>
      </p:sp>
      <p:sp>
        <p:nvSpPr>
          <p:cNvPr id="6" name="文本占位符 1"/>
          <p:cNvSpPr>
            <a:spLocks noGrp="1"/>
          </p:cNvSpPr>
          <p:nvPr/>
        </p:nvSpPr>
        <p:spPr>
          <a:xfrm>
            <a:off x="5612203" y="2421509"/>
            <a:ext cx="1044178" cy="1008063"/>
          </a:xfrm>
          <a:prstGeom prst="rect">
            <a:avLst/>
          </a:prstGeom>
        </p:spPr>
        <p:txBody>
          <a:bodyPr/>
          <a:lstStyle>
            <a:lvl1pPr marL="0" indent="0" algn="dist" defTabSz="914400" rtl="0" eaLnBrk="1" latinLnBrk="0" hangingPunct="1">
              <a:lnSpc>
                <a:spcPct val="90000"/>
              </a:lnSpc>
              <a:spcBef>
                <a:spcPts val="1000"/>
              </a:spcBef>
              <a:buFont typeface="Arial" panose="020B0604020202020204" pitchFamily="34" charset="0"/>
              <a:buNone/>
              <a:defRPr sz="6000" kern="1200">
                <a:solidFill>
                  <a:schemeClr val="tx1">
                    <a:lumMod val="85000"/>
                    <a:lumOff val="15000"/>
                  </a:schemeClr>
                </a:solidFill>
                <a:latin typeface="华文细黑" panose="02010600040101010101" pitchFamily="2" charset="-122"/>
                <a:ea typeface="华文细黑" panose="02010600040101010101" pitchFamily="2"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smtClean="0">
                <a:solidFill>
                  <a:srgbClr val="20517C"/>
                </a:solidFill>
              </a:rPr>
              <a:t>04</a:t>
            </a:r>
            <a:endParaRPr lang="en-US" altLang="zh-CN" dirty="0" smtClean="0">
              <a:solidFill>
                <a:srgbClr val="20517C"/>
              </a:solidFill>
            </a:endParaRPr>
          </a:p>
        </p:txBody>
      </p:sp>
    </p:spTree>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成果与展望</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 name="TextBox 9"/>
          <p:cNvSpPr txBox="1"/>
          <p:nvPr/>
        </p:nvSpPr>
        <p:spPr>
          <a:xfrm>
            <a:off x="345440" y="1590040"/>
            <a:ext cx="5478145" cy="4258310"/>
          </a:xfrm>
          <a:prstGeom prst="rect">
            <a:avLst/>
          </a:prstGeom>
          <a:noFill/>
        </p:spPr>
        <p:txBody>
          <a:bodyPr wrap="square">
            <a:noAutofit/>
          </a:bodyPr>
          <a:lstStyle/>
          <a:p>
            <a:pPr marL="285750" marR="0" indent="-285750" algn="just">
              <a:lnSpc>
                <a:spcPct val="150000"/>
              </a:lnSpc>
              <a:spcBef>
                <a:spcPts val="0"/>
              </a:spcBef>
              <a:spcAft>
                <a:spcPts val="0"/>
              </a:spcAft>
              <a:buFont typeface="Arial" panose="020B0604020202020204" pitchFamily="34" charset="0"/>
              <a:buChar char="•"/>
            </a:pP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本项目成功探索并实现了一种基于扩散模型注意力图的个性化图像编辑方法，该方法整合了</a:t>
            </a:r>
            <a:r>
              <a:rPr lang="zh-CN" altLang="en-US"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真实图像反演、个性化概念学习和注意力引导编辑</a:t>
            </a: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三大核心模块。</a:t>
            </a:r>
            <a:endPar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marR="0" indent="-285750" algn="just">
              <a:lnSpc>
                <a:spcPct val="150000"/>
              </a:lnSpc>
              <a:spcBef>
                <a:spcPts val="0"/>
              </a:spcBef>
              <a:spcAft>
                <a:spcPts val="0"/>
              </a:spcAft>
              <a:buFont typeface="Arial" panose="020B0604020202020204" pitchFamily="34" charset="0"/>
              <a:buChar char="•"/>
            </a:pP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关键特点在于能够理解用户通过</a:t>
            </a:r>
            <a:r>
              <a:rPr lang="en-US" alt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材料图</a:t>
            </a:r>
            <a:r>
              <a:rPr lang="en-US" alt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传递的</a:t>
            </a:r>
            <a:r>
              <a:rPr lang="zh-CN" altLang="en-US" sz="1800" kern="100" dirty="0">
                <a:solidFill>
                  <a:srgbClr val="FF0000"/>
                </a:solidFill>
                <a:effectLst/>
                <a:latin typeface="Times New Roman" panose="02020603050405020304" pitchFamily="18" charset="0"/>
                <a:ea typeface="微软雅黑" panose="020B0503020204020204" pitchFamily="34" charset="-122"/>
                <a:cs typeface="Times New Roman" panose="02020603050405020304" pitchFamily="18" charset="0"/>
              </a:rPr>
              <a:t>复杂视觉意图</a:t>
            </a:r>
            <a:r>
              <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rPr>
              <a:t>，实现了超越单纯文本输入的精准编辑。</a:t>
            </a:r>
            <a:endParaRPr lang="zh-CN" altLang="en-US" sz="1800" kern="100" dirty="0">
              <a:effectLst/>
              <a:latin typeface="Times New Roman" panose="02020603050405020304" pitchFamily="18" charset="0"/>
              <a:ea typeface="微软雅黑" panose="020B0503020204020204" pitchFamily="34" charset="-122"/>
              <a:cs typeface="Times New Roman" panose="02020603050405020304" pitchFamily="18" charset="0"/>
            </a:endParaRPr>
          </a:p>
          <a:p>
            <a:pPr marL="285750" marR="0" indent="-285750" algn="just">
              <a:lnSpc>
                <a:spcPct val="150000"/>
              </a:lnSpc>
              <a:spcBef>
                <a:spcPts val="0"/>
              </a:spcBef>
              <a:spcAft>
                <a:spcPts val="0"/>
              </a:spcAft>
              <a:buFont typeface="Arial" panose="020B0604020202020204" pitchFamily="34" charset="0"/>
              <a:buChar char="•"/>
            </a:pPr>
            <a:r>
              <a:rPr lang="zh-CN" sz="1800" kern="100" dirty="0">
                <a:effectLst/>
                <a:latin typeface="Times New Roman" panose="02020603050405020304" pitchFamily="18" charset="0"/>
                <a:ea typeface="微软雅黑" panose="020B0503020204020204" pitchFamily="34" charset="-122"/>
                <a:cs typeface="Times New Roman" panose="02020603050405020304" pitchFamily="18" charset="0"/>
              </a:rPr>
              <a:t>未来可以应用于各种修图软件，为用户的操作带来极大的便捷。</a:t>
            </a:r>
            <a:endParaRPr lang="en-US" sz="1800" kern="100" dirty="0">
              <a:effectLst/>
              <a:latin typeface="等线" panose="02010600030101010101" charset="-122"/>
              <a:ea typeface="等线" panose="02010600030101010101" charset="-122"/>
              <a:cs typeface="Times New Roman" panose="02020603050405020304" pitchFamily="18" charset="0"/>
            </a:endParaRPr>
          </a:p>
        </p:txBody>
      </p:sp>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l="-396" t="-1" b="-5568"/>
          <a:stretch>
            <a:fillRect/>
          </a:stretch>
        </p:blipFill>
        <p:spPr>
          <a:xfrm>
            <a:off x="6314089" y="0"/>
            <a:ext cx="4414346" cy="4641812"/>
          </a:xfrm>
          <a:prstGeom prst="rect">
            <a:avLst/>
          </a:prstGeom>
        </p:spPr>
      </p:pic>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4456193"/>
            <a:ext cx="4850525" cy="2401807"/>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文本框 26"/>
          <p:cNvSpPr txBox="1"/>
          <p:nvPr/>
        </p:nvSpPr>
        <p:spPr>
          <a:xfrm>
            <a:off x="788190" y="206404"/>
            <a:ext cx="11403810" cy="584775"/>
          </a:xfrm>
          <a:prstGeom prst="rect">
            <a:avLst/>
          </a:prstGeom>
          <a:noFill/>
        </p:spPr>
        <p:txBody>
          <a:bodyPr wrap="square" rtlCol="0">
            <a:spAutoFit/>
          </a:bodyPr>
          <a:lstStyle/>
          <a:p>
            <a:pPr>
              <a:defRPr/>
            </a:pPr>
            <a:r>
              <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rPr>
              <a:t>主要参考文献</a:t>
            </a:r>
            <a:endParaRPr lang="zh-CN" altLang="en-US" sz="3200" b="1" kern="0" dirty="0">
              <a:solidFill>
                <a:srgbClr val="183884"/>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6" name="文本框 5"/>
          <p:cNvSpPr txBox="1"/>
          <p:nvPr/>
        </p:nvSpPr>
        <p:spPr>
          <a:xfrm>
            <a:off x="788190" y="1184115"/>
            <a:ext cx="10788941" cy="2541401"/>
          </a:xfrm>
          <a:prstGeom prst="rect">
            <a:avLst/>
          </a:prstGeom>
          <a:noFill/>
          <a:ln w="9525">
            <a:noFill/>
          </a:ln>
        </p:spPr>
        <p:txBody>
          <a:bodyPr wrap="square">
            <a:spAutoFit/>
          </a:bodyPr>
          <a:lstStyle/>
          <a:p>
            <a:pPr marL="0" marR="0" algn="just">
              <a:lnSpc>
                <a:spcPct val="150000"/>
              </a:lnSpc>
              <a:spcBef>
                <a:spcPts val="0"/>
              </a:spcBef>
              <a:spcAft>
                <a:spcPts val="0"/>
              </a:spcAft>
            </a:pPr>
            <a:r>
              <a:rPr lang="en-US" sz="1800" kern="100" dirty="0">
                <a:effectLst/>
                <a:latin typeface="Times New Roman" panose="02020603050405020304" pitchFamily="18" charset="0"/>
                <a:ea typeface="等线" panose="02010600030101010101" charset="-122"/>
                <a:cs typeface="Times New Roman" panose="02020603050405020304" pitchFamily="18" charset="0"/>
              </a:rPr>
              <a:t>[1] Hertz, A.,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Mokady</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R., Tenenbaum, J.M.,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Aberman</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K.,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Pritch</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Y., &amp; Cohen-Or, D.  </a:t>
            </a:r>
            <a:r>
              <a:rPr lang="en-US" sz="1800" i="1" kern="100" dirty="0">
                <a:effectLst/>
                <a:latin typeface="Times New Roman" panose="02020603050405020304" pitchFamily="18" charset="0"/>
                <a:ea typeface="等线" panose="02010600030101010101" charset="-122"/>
                <a:cs typeface="Times New Roman" panose="02020603050405020304" pitchFamily="18" charset="0"/>
              </a:rPr>
              <a:t>Prompt-to-Prompt Image Editing with Cross Attention Control</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ArXiv</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abs/2208.01626, 2022</a:t>
            </a:r>
            <a:endParaRPr lang="en-US" sz="1800" kern="100" dirty="0">
              <a:effectLst/>
              <a:latin typeface="等线" panose="02010600030101010101" charset="-122"/>
              <a:ea typeface="等线" panose="02010600030101010101" charset="-122"/>
              <a:cs typeface="Times New Roman" panose="02020603050405020304" pitchFamily="18" charset="0"/>
            </a:endParaRPr>
          </a:p>
          <a:p>
            <a:pPr marL="0" marR="0" algn="just">
              <a:lnSpc>
                <a:spcPct val="150000"/>
              </a:lnSpc>
              <a:spcBef>
                <a:spcPts val="0"/>
              </a:spcBef>
              <a:spcAft>
                <a:spcPts val="0"/>
              </a:spcAft>
            </a:pPr>
            <a:r>
              <a:rPr lang="en-US" sz="1800" kern="100" dirty="0">
                <a:effectLst/>
                <a:latin typeface="Times New Roman" panose="02020603050405020304" pitchFamily="18" charset="0"/>
                <a:ea typeface="等线" panose="02010600030101010101" charset="-122"/>
                <a:cs typeface="Times New Roman" panose="02020603050405020304" pitchFamily="18" charset="0"/>
              </a:rPr>
              <a:t>[2] Gal, R.,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Alaluf</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Y., Atzmon, Y.,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Patashnik</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O.,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Bermano</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A.H.,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Chechik</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G., &amp; Cohen-Or, D., </a:t>
            </a:r>
            <a:r>
              <a:rPr lang="en-US" sz="1800" i="1" kern="100" dirty="0">
                <a:effectLst/>
                <a:latin typeface="Times New Roman" panose="02020603050405020304" pitchFamily="18" charset="0"/>
                <a:ea typeface="等线" panose="02010600030101010101" charset="-122"/>
                <a:cs typeface="Times New Roman" panose="02020603050405020304" pitchFamily="18" charset="0"/>
              </a:rPr>
              <a:t>An Image is Worth One Word: Personalizing Text-to-Image Generation using Textual Inversion</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ArXiv</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abs/2208.01618, 2022</a:t>
            </a:r>
            <a:endParaRPr lang="en-US" sz="1800" kern="100" dirty="0">
              <a:effectLst/>
              <a:latin typeface="等线" panose="02010600030101010101" charset="-122"/>
              <a:ea typeface="等线" panose="02010600030101010101" charset="-122"/>
              <a:cs typeface="Times New Roman" panose="02020603050405020304" pitchFamily="18" charset="0"/>
            </a:endParaRPr>
          </a:p>
          <a:p>
            <a:pPr marL="0" marR="0" algn="just">
              <a:lnSpc>
                <a:spcPct val="150000"/>
              </a:lnSpc>
              <a:spcBef>
                <a:spcPts val="0"/>
              </a:spcBef>
              <a:spcAft>
                <a:spcPts val="0"/>
              </a:spcAft>
            </a:pPr>
            <a:r>
              <a:rPr lang="en-US" sz="1800" kern="100" dirty="0">
                <a:effectLst/>
                <a:latin typeface="Times New Roman" panose="02020603050405020304" pitchFamily="18" charset="0"/>
                <a:ea typeface="等线" panose="02010600030101010101" charset="-122"/>
                <a:cs typeface="Times New Roman" panose="02020603050405020304" pitchFamily="18" charset="0"/>
              </a:rPr>
              <a:t>[3]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Mokady</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R., Hertz, A.,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Aberman</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K., </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Pritch</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Y., and Cohen-Or, D., </a:t>
            </a:r>
            <a:r>
              <a:rPr lang="en-US" sz="1800" i="1" kern="100" dirty="0">
                <a:effectLst/>
                <a:latin typeface="Times New Roman" panose="02020603050405020304" pitchFamily="18" charset="0"/>
                <a:ea typeface="等线" panose="02010600030101010101" charset="-122"/>
                <a:cs typeface="Times New Roman" panose="02020603050405020304" pitchFamily="18" charset="0"/>
              </a:rPr>
              <a:t>Null-text Inversion for Editing Real Images using Guided Diffusion Models</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&lt;</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i</a:t>
            </a:r>
            <a:r>
              <a:rPr lang="en-US" sz="1800" kern="100" dirty="0">
                <a:effectLst/>
                <a:latin typeface="Times New Roman" panose="02020603050405020304" pitchFamily="18" charset="0"/>
                <a:ea typeface="等线" panose="02010600030101010101" charset="-122"/>
                <a:cs typeface="Times New Roman" panose="02020603050405020304" pitchFamily="18" charset="0"/>
              </a:rPr>
              <a:t>&gt;</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arXiv</a:t>
            </a:r>
            <a:r>
              <a:rPr lang="en-US" sz="1800" kern="100" dirty="0">
                <a:effectLst/>
                <a:latin typeface="Times New Roman" panose="02020603050405020304" pitchFamily="18" charset="0"/>
                <a:ea typeface="等线" panose="02010600030101010101" charset="-122"/>
                <a:cs typeface="Times New Roman" panose="02020603050405020304" pitchFamily="18" charset="0"/>
              </a:rPr>
              <a:t> e-prints&lt;/</a:t>
            </a:r>
            <a:r>
              <a:rPr lang="en-US" sz="1800" kern="100" dirty="0" err="1">
                <a:effectLst/>
                <a:latin typeface="Times New Roman" panose="02020603050405020304" pitchFamily="18" charset="0"/>
                <a:ea typeface="等线" panose="02010600030101010101" charset="-122"/>
                <a:cs typeface="Times New Roman" panose="02020603050405020304" pitchFamily="18" charset="0"/>
              </a:rPr>
              <a:t>i</a:t>
            </a:r>
            <a:r>
              <a:rPr lang="en-US" sz="1800" kern="100" dirty="0">
                <a:effectLst/>
                <a:latin typeface="Times New Roman" panose="02020603050405020304" pitchFamily="18" charset="0"/>
                <a:ea typeface="等线" panose="02010600030101010101" charset="-122"/>
                <a:cs typeface="Times New Roman" panose="02020603050405020304" pitchFamily="18" charset="0"/>
              </a:rPr>
              <a:t>&gt;,  doi:10.48550/arXiv.2211.09794., 2022</a:t>
            </a:r>
            <a:endParaRPr lang="en-US" sz="1800" kern="100" dirty="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p:nvPr/>
        </p:nvPicPr>
        <p:blipFill>
          <a:blip r:embed="rId1" cstate="email"/>
          <a:stretch>
            <a:fillRect/>
          </a:stretch>
        </p:blipFill>
        <p:spPr>
          <a:xfrm>
            <a:off x="3089459" y="86414"/>
            <a:ext cx="2951997"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图片 9"/>
          <p:cNvPicPr/>
          <p:nvPr/>
        </p:nvPicPr>
        <p:blipFill rotWithShape="1">
          <a:blip r:embed="rId2" cstate="print">
            <a:extLst>
              <a:ext uri="{28A0092B-C50C-407E-A947-70E740481C1C}">
                <a14:useLocalDpi xmlns:a14="http://schemas.microsoft.com/office/drawing/2010/main" val="0"/>
              </a:ext>
            </a:extLst>
          </a:blip>
          <a:srcRect t="23121"/>
          <a:stretch>
            <a:fillRect/>
          </a:stretch>
        </p:blipFill>
        <p:spPr>
          <a:xfrm>
            <a:off x="76564" y="86414"/>
            <a:ext cx="2953592"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图片 10"/>
          <p:cNvPicPr/>
          <p:nvPr/>
        </p:nvPicPr>
        <p:blipFill rotWithShape="1">
          <a:blip r:embed="rId3" cstate="print">
            <a:extLst>
              <a:ext uri="{28A0092B-C50C-407E-A947-70E740481C1C}">
                <a14:useLocalDpi xmlns:a14="http://schemas.microsoft.com/office/drawing/2010/main" val="0"/>
              </a:ext>
            </a:extLst>
          </a:blip>
          <a:srcRect t="25149" b="7601"/>
          <a:stretch>
            <a:fillRect/>
          </a:stretch>
        </p:blipFill>
        <p:spPr>
          <a:xfrm>
            <a:off x="6121833" y="86414"/>
            <a:ext cx="2951994"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Picture 4"/>
          <p:cNvPicPr>
            <a:picLocks noChangeArrowheads="1"/>
          </p:cNvPicPr>
          <p:nvPr/>
        </p:nvPicPr>
        <p:blipFill rotWithShape="1">
          <a:blip r:embed="rId4" cstate="print">
            <a:extLst>
              <a:ext uri="{28A0092B-C50C-407E-A947-70E740481C1C}">
                <a14:useLocalDpi xmlns:a14="http://schemas.microsoft.com/office/drawing/2010/main" val="0"/>
              </a:ext>
            </a:extLst>
          </a:blip>
          <a:srcRect l="26550" t="26490" r="24100" b="33434"/>
          <a:stretch>
            <a:fillRect/>
          </a:stretch>
        </p:blipFill>
        <p:spPr bwMode="auto">
          <a:xfrm>
            <a:off x="9168759" y="86414"/>
            <a:ext cx="2952000"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4" name="矩形 13"/>
          <p:cNvSpPr/>
          <p:nvPr/>
        </p:nvSpPr>
        <p:spPr>
          <a:xfrm>
            <a:off x="1122459" y="4784737"/>
            <a:ext cx="9931394" cy="45719"/>
          </a:xfrm>
          <a:prstGeom prst="rect">
            <a:avLst/>
          </a:prstGeom>
          <a:solidFill>
            <a:srgbClr val="183884"/>
          </a:solidFill>
          <a:ln w="0">
            <a:solidFill>
              <a:srgbClr val="18388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dirty="0">
              <a:solidFill>
                <a:srgbClr val="183884"/>
              </a:solidFill>
              <a:ea typeface="微软雅黑" panose="020B0503020204020204" pitchFamily="34" charset="-122"/>
            </a:endParaRPr>
          </a:p>
        </p:txBody>
      </p:sp>
      <p:sp>
        <p:nvSpPr>
          <p:cNvPr id="17" name="矩形 16"/>
          <p:cNvSpPr/>
          <p:nvPr/>
        </p:nvSpPr>
        <p:spPr>
          <a:xfrm>
            <a:off x="1122459" y="4674393"/>
            <a:ext cx="9931394" cy="45719"/>
          </a:xfrm>
          <a:prstGeom prst="rect">
            <a:avLst/>
          </a:prstGeom>
          <a:solidFill>
            <a:srgbClr val="C00000"/>
          </a:solidFill>
          <a:ln w="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dirty="0">
              <a:solidFill>
                <a:srgbClr val="183884"/>
              </a:solidFill>
              <a:ea typeface="微软雅黑" panose="020B0503020204020204" pitchFamily="34" charset="-122"/>
            </a:endParaRPr>
          </a:p>
        </p:txBody>
      </p:sp>
      <p:pic>
        <p:nvPicPr>
          <p:cNvPr id="5" name="图片 4"/>
          <p:cNvPicPr/>
          <p:nvPr/>
        </p:nvPicPr>
        <p:blipFill>
          <a:blip r:embed="rId1" cstate="email"/>
          <a:stretch>
            <a:fillRect/>
          </a:stretch>
        </p:blipFill>
        <p:spPr>
          <a:xfrm>
            <a:off x="3089459" y="87049"/>
            <a:ext cx="2951997"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图片 5"/>
          <p:cNvPicPr/>
          <p:nvPr/>
        </p:nvPicPr>
        <p:blipFill rotWithShape="1">
          <a:blip r:embed="rId2" cstate="print">
            <a:extLst>
              <a:ext uri="{28A0092B-C50C-407E-A947-70E740481C1C}">
                <a14:useLocalDpi xmlns:a14="http://schemas.microsoft.com/office/drawing/2010/main" val="0"/>
              </a:ext>
            </a:extLst>
          </a:blip>
          <a:srcRect t="23121"/>
          <a:stretch>
            <a:fillRect/>
          </a:stretch>
        </p:blipFill>
        <p:spPr>
          <a:xfrm>
            <a:off x="76564" y="87049"/>
            <a:ext cx="2953592"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图片 6"/>
          <p:cNvPicPr/>
          <p:nvPr/>
        </p:nvPicPr>
        <p:blipFill rotWithShape="1">
          <a:blip r:embed="rId3" cstate="print">
            <a:extLst>
              <a:ext uri="{28A0092B-C50C-407E-A947-70E740481C1C}">
                <a14:useLocalDpi xmlns:a14="http://schemas.microsoft.com/office/drawing/2010/main" val="0"/>
              </a:ext>
            </a:extLst>
          </a:blip>
          <a:srcRect t="25149" b="7601"/>
          <a:stretch>
            <a:fillRect/>
          </a:stretch>
        </p:blipFill>
        <p:spPr>
          <a:xfrm>
            <a:off x="6121833" y="87049"/>
            <a:ext cx="2951994" cy="1440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矩形 2"/>
          <p:cNvSpPr/>
          <p:nvPr/>
        </p:nvSpPr>
        <p:spPr>
          <a:xfrm>
            <a:off x="2930936" y="3223341"/>
            <a:ext cx="6314440" cy="988347"/>
          </a:xfrm>
          <a:prstGeom prst="rect">
            <a:avLst/>
          </a:prstGeom>
          <a:noFill/>
          <a:ln w="9525">
            <a:noFill/>
          </a:ln>
        </p:spPr>
        <p:txBody>
          <a:bodyPr wrap="square" anchor="t">
            <a:spAutoFit/>
          </a:bodyPr>
          <a:lstStyle/>
          <a:p>
            <a:pPr algn="ctr">
              <a:lnSpc>
                <a:spcPct val="150000"/>
              </a:lnSpc>
            </a:pPr>
            <a:r>
              <a:rPr lang="zh-CN" altLang="en-US" sz="4400" b="1" dirty="0">
                <a:latin typeface="微软雅黑" panose="020B0503020204020204" pitchFamily="34" charset="-122"/>
                <a:ea typeface="微软雅黑" panose="020B0503020204020204" pitchFamily="34" charset="-122"/>
              </a:rPr>
              <a:t>谢谢</a:t>
            </a:r>
            <a:r>
              <a:rPr lang="zh-CN" altLang="en-US" sz="4400" b="1" dirty="0">
                <a:solidFill>
                  <a:schemeClr val="tx1"/>
                </a:solidFill>
                <a:latin typeface="微软雅黑" panose="020B0503020204020204" pitchFamily="34" charset="-122"/>
                <a:ea typeface="微软雅黑" panose="020B0503020204020204" pitchFamily="34" charset="-122"/>
              </a:rPr>
              <a:t>各位老师批评</a:t>
            </a:r>
            <a:r>
              <a:rPr lang="zh-CN" altLang="en-US" sz="4400" b="1" dirty="0">
                <a:latin typeface="微软雅黑" panose="020B0503020204020204" pitchFamily="34" charset="-122"/>
                <a:ea typeface="微软雅黑" panose="020B0503020204020204" pitchFamily="34" charset="-122"/>
              </a:rPr>
              <a:t>指导</a:t>
            </a:r>
            <a:endParaRPr lang="zh-CN" altLang="en-US" sz="4400"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p:fade/>
  </p:transition>
</p:sld>
</file>

<file path=ppt/tags/tag1.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2.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3.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6.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7.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8.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9.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0.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1.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2.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3.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4.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5.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6.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17.xml><?xml version="1.0" encoding="utf-8"?>
<p:tagLst xmlns:p="http://schemas.openxmlformats.org/presentationml/2006/main">
  <p:tag name="TABLE_ENDDRAG_ORIGIN_RECT" val="602*57"/>
  <p:tag name="TABLE_ENDDRAG_RECT" val="330*477*602*57"/>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MH" val="20160508113210"/>
  <p:tag name="MH_LIBRARY" val="GRAPHIC"/>
  <p:tag name="MH_TYPE" val="Other"/>
  <p:tag name="MH_ORDER" val="1"/>
</p:tagLst>
</file>

<file path=ppt/tags/tag20.xml><?xml version="1.0" encoding="utf-8"?>
<p:tagLst xmlns:p="http://schemas.openxmlformats.org/presentationml/2006/main">
  <p:tag name="MH" val="20160508113210"/>
  <p:tag name="MH_LIBRARY" val="GRAPHIC"/>
  <p:tag name="MH_TYPE" val="Other"/>
  <p:tag name="MH_ORDER" val="2"/>
</p:tagLst>
</file>

<file path=ppt/tags/tag21.xml><?xml version="1.0" encoding="utf-8"?>
<p:tagLst xmlns:p="http://schemas.openxmlformats.org/presentationml/2006/main">
  <p:tag name="MH" val="20160508113210"/>
  <p:tag name="MH_LIBRARY" val="GRAPHIC"/>
  <p:tag name="MH_TYPE" val="Other"/>
  <p:tag name="MH_ORDER" val="5"/>
</p:tagLst>
</file>

<file path=ppt/tags/tag22.xml><?xml version="1.0" encoding="utf-8"?>
<p:tagLst xmlns:p="http://schemas.openxmlformats.org/presentationml/2006/main">
  <p:tag name="MH" val="20160508113210"/>
  <p:tag name="MH_LIBRARY" val="GRAPHIC"/>
  <p:tag name="MH_TYPE" val="Other"/>
  <p:tag name="MH_ORDER" val="3"/>
</p:tagLst>
</file>

<file path=ppt/tags/tag23.xml><?xml version="1.0" encoding="utf-8"?>
<p:tagLst xmlns:p="http://schemas.openxmlformats.org/presentationml/2006/main">
  <p:tag name="MH" val="20160508113210"/>
  <p:tag name="MH_LIBRARY" val="GRAPHIC"/>
  <p:tag name="MH_TYPE" val="Other"/>
  <p:tag name="MH_ORDER" val="4"/>
</p:tagLst>
</file>

<file path=ppt/tags/tag24.xml><?xml version="1.0" encoding="utf-8"?>
<p:tagLst xmlns:p="http://schemas.openxmlformats.org/presentationml/2006/main">
  <p:tag name="MH" val="20160508113210"/>
  <p:tag name="MH_LIBRARY" val="GRAPHIC"/>
  <p:tag name="MH_TYPE" val="Other"/>
  <p:tag name="MH_ORDER" val="6"/>
</p:tagLst>
</file>

<file path=ppt/tags/tag25.xml><?xml version="1.0" encoding="utf-8"?>
<p:tagLst xmlns:p="http://schemas.openxmlformats.org/presentationml/2006/main">
  <p:tag name="KSO_WM_DIAGRAM_VIRTUALLY_FRAME" val="{&quot;height&quot;:398.30543307086606,&quot;left&quot;:145.05,&quot;top&quot;:129.61133858267718,&quot;width&quot;:809.1}"/>
</p:tagLst>
</file>

<file path=ppt/tags/tag26.xml><?xml version="1.0" encoding="utf-8"?>
<p:tagLst xmlns:p="http://schemas.openxmlformats.org/presentationml/2006/main">
  <p:tag name="KSO_WM_DIAGRAM_VIRTUALLY_FRAME" val="{&quot;height&quot;:398.30543307086606,&quot;left&quot;:145.05,&quot;top&quot;:129.61133858267718,&quot;width&quot;:809.1}"/>
</p:tagLst>
</file>

<file path=ppt/tags/tag27.xml><?xml version="1.0" encoding="utf-8"?>
<p:tagLst xmlns:p="http://schemas.openxmlformats.org/presentationml/2006/main">
  <p:tag name="KSO_WM_DIAGRAM_VIRTUALLY_FRAME" val="{&quot;height&quot;:398.30543307086606,&quot;left&quot;:145.05,&quot;top&quot;:129.61133858267718,&quot;width&quot;:809.1}"/>
</p:tagLst>
</file>

<file path=ppt/tags/tag28.xml><?xml version="1.0" encoding="utf-8"?>
<p:tagLst xmlns:p="http://schemas.openxmlformats.org/presentationml/2006/main">
  <p:tag name="KSO_WM_DIAGRAM_VIRTUALLY_FRAME" val="{&quot;height&quot;:398.30543307086606,&quot;left&quot;:145.05,&quot;top&quot;:129.61133858267718,&quot;width&quot;:809.1}"/>
</p:tagLst>
</file>

<file path=ppt/tags/tag29.xml><?xml version="1.0" encoding="utf-8"?>
<p:tagLst xmlns:p="http://schemas.openxmlformats.org/presentationml/2006/main">
  <p:tag name="MH" val="20160508113210"/>
  <p:tag name="MH_LIBRARY" val="GRAPHIC"/>
  <p:tag name="MH_TYPE" val="Other"/>
  <p:tag name="MH_ORDER" val="1"/>
</p:tagLst>
</file>

<file path=ppt/tags/tag30.xml><?xml version="1.0" encoding="utf-8"?>
<p:tagLst xmlns:p="http://schemas.openxmlformats.org/presentationml/2006/main">
  <p:tag name="MH" val="20160508113210"/>
  <p:tag name="MH_LIBRARY" val="GRAPHIC"/>
  <p:tag name="MH_TYPE" val="Other"/>
  <p:tag name="MH_ORDER" val="2"/>
</p:tagLst>
</file>

<file path=ppt/tags/tag31.xml><?xml version="1.0" encoding="utf-8"?>
<p:tagLst xmlns:p="http://schemas.openxmlformats.org/presentationml/2006/main">
  <p:tag name="MH" val="20160508113210"/>
  <p:tag name="MH_LIBRARY" val="GRAPHIC"/>
  <p:tag name="MH_TYPE" val="Other"/>
  <p:tag name="MH_ORDER" val="5"/>
</p:tagLst>
</file>

<file path=ppt/tags/tag32.xml><?xml version="1.0" encoding="utf-8"?>
<p:tagLst xmlns:p="http://schemas.openxmlformats.org/presentationml/2006/main">
  <p:tag name="KSO_WM_DIAGRAM_VIRTUALLY_FRAME" val="{&quot;height&quot;:398.30543307086606,&quot;left&quot;:145.05,&quot;top&quot;:129.61133858267718,&quot;width&quot;:809.1}"/>
</p:tagLst>
</file>

<file path=ppt/tags/tag33.xml><?xml version="1.0" encoding="utf-8"?>
<p:tagLst xmlns:p="http://schemas.openxmlformats.org/presentationml/2006/main">
  <p:tag name="KSO_WM_DIAGRAM_VIRTUALLY_FRAME" val="{&quot;height&quot;:398.30543307086606,&quot;left&quot;:145.05,&quot;top&quot;:129.61133858267718,&quot;width&quot;:809.1}"/>
</p:tagLst>
</file>

<file path=ppt/tags/tag34.xml><?xml version="1.0" encoding="utf-8"?>
<p:tagLst xmlns:p="http://schemas.openxmlformats.org/presentationml/2006/main">
  <p:tag name="MH" val="20160508152803"/>
  <p:tag name="MH_LIBRARY" val="GRAPHIC"/>
  <p:tag name="MH_TYPE" val="SubTitle"/>
  <p:tag name="MH_ORDER" val="1"/>
</p:tagLst>
</file>

<file path=ppt/tags/tag35.xml><?xml version="1.0" encoding="utf-8"?>
<p:tagLst xmlns:p="http://schemas.openxmlformats.org/presentationml/2006/main">
  <p:tag name="MH" val="20160508152803"/>
  <p:tag name="MH_LIBRARY" val="GRAPHIC"/>
  <p:tag name="MH_TYPE" val="SubTitle"/>
  <p:tag name="MH_ORDER" val="1"/>
</p:tagLst>
</file>

<file path=ppt/tags/tag36.xml><?xml version="1.0" encoding="utf-8"?>
<p:tagLst xmlns:p="http://schemas.openxmlformats.org/presentationml/2006/main">
  <p:tag name="MH" val="20160508152803"/>
  <p:tag name="MH_LIBRARY" val="GRAPHIC"/>
  <p:tag name="MH_TYPE" val="SubTitle"/>
  <p:tag name="MH_ORDER" val="1"/>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0.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1.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2.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3.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4.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5.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6.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7.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8.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49.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0.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1.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2.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3.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4.xml><?xml version="1.0" encoding="utf-8"?>
<p:tagLst xmlns:p="http://schemas.openxmlformats.org/presentationml/2006/main">
  <p:tag name="KSO_WM_DIAGRAM_VIRTUALLY_FRAME" val="{&quot;height&quot;:234.341811023622,&quot;left&quot;:114.09322834645668,&quot;top&quot;:146.56165354330707,&quot;width&quot;:767.252283464567}"/>
</p:tagLst>
</file>

<file path=ppt/tags/tag55.xml><?xml version="1.0" encoding="utf-8"?>
<p:tagLst xmlns:p="http://schemas.openxmlformats.org/presentationml/2006/main">
  <p:tag name="MH" val="20160508125741"/>
  <p:tag name="MH_LIBRARY" val="GRAPHIC"/>
  <p:tag name="MH_TYPE" val="Other"/>
  <p:tag name="MH_ORDER" val="5"/>
</p:tagLst>
</file>

<file path=ppt/tags/tag56.xml><?xml version="1.0" encoding="utf-8"?>
<p:tagLst xmlns:p="http://schemas.openxmlformats.org/presentationml/2006/main">
  <p:tag name="MH" val="20160508125741"/>
  <p:tag name="MH_LIBRARY" val="GRAPHIC"/>
  <p:tag name="MH_TYPE" val="Other"/>
  <p:tag name="MH_ORDER" val="5"/>
</p:tagLst>
</file>

<file path=ppt/tags/tag57.xml><?xml version="1.0" encoding="utf-8"?>
<p:tagLst xmlns:p="http://schemas.openxmlformats.org/presentationml/2006/main">
  <p:tag name="COMMONDATA" val="eyJoZGlkIjoiYTZjMzNjZmYzMGU0N2E5YmE0ZDFmZWY4MDBiNDYxNDEifQ=="/>
  <p:tag name="KSO_WPP_MARK_KEY" val="47f70e4a-b999-4f70-bd7d-09e110243e99"/>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4290</Words>
  <Application>WPS 演示</Application>
  <PresentationFormat>Widescreen</PresentationFormat>
  <Paragraphs>335</Paragraphs>
  <Slides>26</Slides>
  <Notes>14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26</vt:i4>
      </vt:variant>
    </vt:vector>
  </HeadingPairs>
  <TitlesOfParts>
    <vt:vector size="41" baseType="lpstr">
      <vt:lpstr>Arial</vt:lpstr>
      <vt:lpstr>宋体</vt:lpstr>
      <vt:lpstr>Wingdings</vt:lpstr>
      <vt:lpstr>Times New Roman</vt:lpstr>
      <vt:lpstr>微软雅黑</vt:lpstr>
      <vt:lpstr>Calibri Light</vt:lpstr>
      <vt:lpstr>Arial</vt:lpstr>
      <vt:lpstr>黑体</vt:lpstr>
      <vt:lpstr>Wingdings 2</vt:lpstr>
      <vt:lpstr>华文细黑</vt:lpstr>
      <vt:lpstr>Calibri</vt:lpstr>
      <vt:lpstr>Arial Unicode MS</vt:lpstr>
      <vt:lpstr>等线</vt:lpstr>
      <vt:lpstr>Cambria Math</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李时宇</dc:creator>
  <cp:lastModifiedBy>钟煜奇</cp:lastModifiedBy>
  <cp:revision>3399</cp:revision>
  <cp:lastPrinted>2016-12-13T06:00:00Z</cp:lastPrinted>
  <dcterms:created xsi:type="dcterms:W3CDTF">2016-11-17T04:12:00Z</dcterms:created>
  <dcterms:modified xsi:type="dcterms:W3CDTF">2025-05-10T05:35:54Z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2052-12.1.0.19302</vt:lpwstr>
  </property>
  <property fmtid="{D5CDD505-2E9C-101B-9397-08002B2CF9AE}" pid="3" name="ICV">
    <vt:lpwstr>53F152756DDF42A3ABD191A148780335</vt:lpwstr>
  </property>
</Properties>
</file>